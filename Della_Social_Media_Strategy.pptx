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one-line promise: I will make every township story visible, credible and easy to enquire about. This is a portfolio of how I would plan, create, run and measure Della's social media. Della Townships is the focus. The plan also uses Della Resorts and the adventure park in Lonavala as the living proof that Della already runs great places. Say one real result from your past roles in your own words; do not read the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me in one slide: six-plus years in social operations, ORM, analytics and customer engagement. The gold strip is my own track record: a 22 percent engagement uplift and a reporting workflow cut from three or four hours to thirty or forty minutes. Be ready to explain how each was measured. The right side is concrete: what I can hand Della in the first month, not just what I know. Photography and video are part of the toolset, not outsourced by default.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jobs I can take off the team's plate, from strategy to reporting. Each has a real output Della can see, so this is a list of deliverables, not a list of adjectives. The point to land: one person who can plan it, make it, publish it, look after the community and report on it, while coordinating creators, sales and leadership.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Della is a premium, design-led brand, so the quality of the image and the edit matters. I shoot, edit and brief creators myself, which keeps cost and turnaround under control. Each capability connects to a business job: photography builds trust, video earns reach, planning keeps the feed consistent, briefs align people and execution turns ideas into delivery. If asked for samples, share work you have permission to show; none is embedded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Kept short on purpose, because Della knows its own business. This is from public pages: 13 townships being launched across 11 cities and 9 more upcoming, the asset-light model, and Lonavala with 168 rooms and villas and an adventure park of 50 plus activities. I cannot see follower counts or engagement from outside, so the observations are hypotheses, not findings. Week one is an audit to confirm or change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channel has one job tied to a business goal. Instagram creates desire and awareness. Facebook reaches city communities and turns questions into enquiries. LinkedIn serves landowner partners, investors and corporates. YouTube builds depth and trust with walk-throughs and explainers. Underneath sits one five-stage funnel: Attract, Engage, Enquire, Visit and Decide. A township is a considered purchase, so Visit matters: a site or sales gallery visit for buyers, a Lonavala visit for partners and a stay or ticket for guests. Full plan: Townships, for home buyers, investors and nris: Attract: Get the township themes noticed in the right cities. Engage: Answer what buyers ask before they call. Enquire: Make the first step easy and trackable. Visit: Turn interest into a site or sales gallery visit. Decide: Support sales to close, and let owners speak. Landowner partners, for landowners and developers: Attract: Reach landowners and developers who could partner. Engage: Show how the asset-light model works. Enquire: Make a partner conversation easy to start. Visit: Let partners see a working Della place. Decide: Help the business team move to a signed partnership. Resorts and Adventure, for weekend guests, families, corporates: Attract: Keep Della Lonavala top of mind in Mumbai and Pune. Engage: Help people plan the weekend. Enquire: Make booking a short step. Visit: Fill the stay and the park. Decide: Bring guests back and win referrals.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concepts, each tied to a business objective and a measure. Live the Racecourse on Instagram Reel. Objective: Awareness to qualified site visits. Idea: A film series on polo-lifestyle living at Darumbre, from the lawn to the home, ending in a clear private-visit invitation. Sample caption: Imagine a weekend that starts on a polo lawn. Della Racecourse, Pune. Book a private site visit, link in bio. Measured by: 3-second hold, saves, enquiry clicks. Your city, your township on Facebook and Instagram. Objective: Qualified enquiries from each launch city. Idea: A city-by-city launch series: theme film, design preview and a Q&amp;A with the sales team, run in local Facebook communities and Instagram with a one-tap WhatsApp enquiry. Sample caption: Something new is coming to your city. See the theme, the design and the first look, then ask us anything. Measured by: Qualified enquiries per city, response time, questions answered. Stay the Della way on Instagram carousel and Facebook. Objective: Bookings, tickets and township visits, plus reputation. Idea: Weekend plans from Lonavala, with an invitation to see how Della runs a place before it builds one. Sample caption: One weekend, one place: 168 rooms and villas and 50+ adventure activities in Lonavala. Plan yours. Measured by: Link clicks, bookings from social, guest content, review sentiment. Captions are samples. Nothing here claims a past result.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Community is where a premium brand is won or lost. The workflow is Listen, Triage, Reply, Escalate, Learn. Level 1 is answered from a playbook, Level 2 such as price or availability moves to WhatsApp or a call and goes to sales with context, and Level 3 such as complaints, safety, legal or media goes straight to leadership. Listening themes feed content and service fixes: price and payment, location and connectivity, delivery timelines, amenities, trust and approvals, and the stay experience. Response-time targets are proposed and set from the performance audit.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six metrics are what I would put in front of leadership every month, each answering one question they care about. Targets are set from the week-one performance audit, once I can see how each channel performs today. Three levels of KPI: visibility, consideration, and demand and trust. Each business has a north-star number: completed site visits for Townships, qualified partner enquiries for landowner partners, and bookings and tickets from social for Resorts and Adventure. Optimisation loop: Measure weekly, Learn why, Test one change at a time, then Scale the winners. Weekly pulse, Every Monday: Top content, audience response, enquiries, new questions and issues to fix. Monthly insights, First week: Funnel by business and channel, pillar and format winners, sentiment and three actions. Quarterly reset, Every quarter: What to do more, less and next, against targets set from the performance audit.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Thirty days, week by week: audit of platform performance, set the system, launch the rhythm, then the first report. The deliverables are things Della can open and review. Days 31 to 90: launch the three campaigns, test hooks, formats and cities, then scale what works. Close with the last line: ORM, social listening, analytics and execution in one person means Della Townships can grow reach and see what that reach earns. Then point to the interactive portfolio link.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rgbClr val="11120F"/>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11120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731520"/>
          </a:xfrm>
          <a:prstGeom prst="rect">
            <a:avLst/>
          </a:prstGeom>
          <a:noFill/>
          <a:ln/>
        </p:spPr>
        <p:txBody>
          <a:bodyPr wrap="square" rtlCol="0"/>
          <a:lstStyle>
            <a:lvl1pPr algn="l" indent="0" marL="0">
              <a:buNone/>
              <a:defRPr lang="en-US" sz="3600" b="1" dirty="0">
                <a:solidFill>
                  <a:schemeClr val="bg1"/>
                </a:solidFill>
              </a:defRPr>
            </a:lvl1pPr>
          </a:lstStyle>
          <a:p>
            <a:pPr algn="l" indent="0" marL="0">
              <a:buNone/>
            </a:pPr>
            <a:endParaRPr lang="en-US" sz="36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l"/>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hyperlink" Target="https://bharatbassi.github.io/dellagroupSM/" TargetMode="External"/><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Glow large"/>
          <p:cNvSpPr/>
          <p:nvPr/>
        </p:nvSpPr>
        <p:spPr>
          <a:xfrm>
            <a:off x="7680960" y="-1280160"/>
            <a:ext cx="6035040" cy="6035040"/>
          </a:xfrm>
          <a:prstGeom prst="ellipse">
            <a:avLst/>
          </a:prstGeom>
          <a:solidFill>
            <a:schemeClr val="accent1">
              <a:alpha val="10000"/>
            </a:schemeClr>
          </a:solidFill>
          <a:ln w="12700">
            <a:solidFill>
              <a:schemeClr val="accent1">
                <a:alpha val="0"/>
              </a:schemeClr>
            </a:solidFill>
            <a:prstDash val="solid"/>
          </a:ln>
        </p:spPr>
      </p:sp>
      <p:sp>
        <p:nvSpPr>
          <p:cNvPr id="3" name="Glow small"/>
          <p:cNvSpPr/>
          <p:nvPr/>
        </p:nvSpPr>
        <p:spPr>
          <a:xfrm>
            <a:off x="9326880" y="3474720"/>
            <a:ext cx="4023360" cy="4023360"/>
          </a:xfrm>
          <a:prstGeom prst="ellipse">
            <a:avLst/>
          </a:prstGeom>
          <a:solidFill>
            <a:schemeClr val="accent2">
              <a:alpha val="8000"/>
            </a:schemeClr>
          </a:solidFill>
          <a:ln w="12700">
            <a:solidFill>
              <a:schemeClr val="accent2">
                <a:alpha val="0"/>
              </a:schemeClr>
            </a:solidFill>
            <a:prstDash val="solid"/>
          </a:ln>
        </p:spPr>
      </p:sp>
      <p:sp>
        <p:nvSpPr>
          <p:cNvPr id="4" name="Text 2"/>
          <p:cNvSpPr txBox="1"/>
          <p:nvPr/>
        </p:nvSpPr>
        <p:spPr>
          <a:xfrm>
            <a:off x="731520" y="822960"/>
            <a:ext cx="10058400" cy="365760"/>
          </a:xfrm>
          <a:prstGeom prst="rect">
            <a:avLst/>
          </a:prstGeom>
          <a:noFill/>
          <a:ln/>
        </p:spPr>
        <p:txBody>
          <a:bodyPr wrap="square" lIns="0" tIns="0" rIns="0" bIns="0" rtlCol="0" anchor="t"/>
          <a:lstStyle/>
          <a:p>
            <a:pPr indent="0" marL="0">
              <a:buNone/>
            </a:pPr>
            <a:r>
              <a:rPr lang="en-US" sz="1400" b="1" spc="300" kern="0" dirty="0">
                <a:solidFill>
                  <a:schemeClr val="accent1"/>
                </a:solidFill>
              </a:rPr>
              <a:t>SOCIAL MEDIA MANAGER  |  STRATEGIC ASSIGNMENT FOR DELLA TOWNSHIPS</a:t>
            </a:r>
            <a:endParaRPr lang="en-US" sz="1400" dirty="0"/>
          </a:p>
        </p:txBody>
      </p:sp>
      <p:sp>
        <p:nvSpPr>
          <p:cNvPr id="5" name="Text 3"/>
          <p:cNvSpPr txBox="1"/>
          <p:nvPr/>
        </p:nvSpPr>
        <p:spPr>
          <a:xfrm>
            <a:off x="731520" y="1371600"/>
            <a:ext cx="8412480" cy="2468880"/>
          </a:xfrm>
          <a:prstGeom prst="rect">
            <a:avLst/>
          </a:prstGeom>
          <a:noFill/>
          <a:ln/>
        </p:spPr>
        <p:txBody>
          <a:bodyPr wrap="square" lIns="0" tIns="0" rIns="0" bIns="0" rtlCol="0" anchor="t"/>
          <a:lstStyle/>
          <a:p>
            <a:pPr indent="0" marL="0">
              <a:buNone/>
            </a:pPr>
            <a:r>
              <a:rPr lang="en-US" sz="7200" dirty="0">
                <a:solidFill>
                  <a:schemeClr val="bg1"/>
                </a:solidFill>
                <a:latin typeface="Cambria" pitchFamily="34" charset="0"/>
                <a:ea typeface="Cambria" pitchFamily="34" charset="-122"/>
                <a:cs typeface="Cambria" pitchFamily="34" charset="-120"/>
              </a:rPr>
              <a:t>Future,</a:t>
            </a:r>
            <a:endParaRPr lang="en-US" sz="7200" dirty="0"/>
          </a:p>
          <a:p>
            <a:pPr indent="0" marL="0">
              <a:buNone/>
            </a:pPr>
            <a:r>
              <a:rPr lang="en-US" sz="7200" i="1" dirty="0">
                <a:solidFill>
                  <a:schemeClr val="accent1"/>
                </a:solidFill>
                <a:latin typeface="Cambria" pitchFamily="34" charset="0"/>
                <a:ea typeface="Cambria" pitchFamily="34" charset="-122"/>
                <a:cs typeface="Cambria" pitchFamily="34" charset="-120"/>
              </a:rPr>
              <a:t>by Design.</a:t>
            </a:r>
            <a:endParaRPr lang="en-US" sz="7200" dirty="0"/>
          </a:p>
        </p:txBody>
      </p:sp>
      <p:sp>
        <p:nvSpPr>
          <p:cNvPr id="6" name="Text 4"/>
          <p:cNvSpPr txBox="1"/>
          <p:nvPr/>
        </p:nvSpPr>
        <p:spPr>
          <a:xfrm>
            <a:off x="731520" y="4114800"/>
            <a:ext cx="7680960" cy="822960"/>
          </a:xfrm>
          <a:prstGeom prst="rect">
            <a:avLst/>
          </a:prstGeom>
          <a:noFill/>
          <a:ln/>
        </p:spPr>
        <p:txBody>
          <a:bodyPr wrap="square" lIns="0" tIns="0" rIns="0" bIns="0" rtlCol="0" anchor="t"/>
          <a:lstStyle/>
          <a:p>
            <a:pPr indent="0" marL="0">
              <a:buNone/>
            </a:pPr>
            <a:r>
              <a:rPr lang="en-US" sz="2000" dirty="0">
                <a:solidFill>
                  <a:schemeClr val="accent3"/>
                </a:solidFill>
              </a:rPr>
              <a:t>Social Media Strategy and Execution Portfolio for Della Townships and Della Resorts.</a:t>
            </a:r>
            <a:endParaRPr lang="en-US" sz="2000" dirty="0"/>
          </a:p>
        </p:txBody>
      </p:sp>
      <p:sp>
        <p:nvSpPr>
          <p:cNvPr id="7" name="Text 5"/>
          <p:cNvSpPr txBox="1"/>
          <p:nvPr/>
        </p:nvSpPr>
        <p:spPr>
          <a:xfrm>
            <a:off x="731520" y="5669280"/>
            <a:ext cx="5486400" cy="457200"/>
          </a:xfrm>
          <a:prstGeom prst="rect">
            <a:avLst/>
          </a:prstGeom>
          <a:noFill/>
          <a:ln/>
        </p:spPr>
        <p:txBody>
          <a:bodyPr wrap="square" lIns="0" tIns="0" rIns="0" bIns="0" rtlCol="0" anchor="t"/>
          <a:lstStyle/>
          <a:p>
            <a:pPr indent="0" marL="0">
              <a:buNone/>
            </a:pPr>
            <a:r>
              <a:rPr lang="en-US" sz="2200" b="1" dirty="0">
                <a:solidFill>
                  <a:schemeClr val="bg1"/>
                </a:solidFill>
                <a:latin typeface="Cambria" pitchFamily="34" charset="0"/>
                <a:ea typeface="Cambria" pitchFamily="34" charset="-122"/>
                <a:cs typeface="Cambria" pitchFamily="34" charset="-120"/>
              </a:rPr>
              <a:t>Bharat Bassi</a:t>
            </a:r>
            <a:endParaRPr lang="en-US" sz="2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731520"/>
          </a:xfrm>
          <a:prstGeom prst="rect">
            <a:avLst/>
          </a:prstGeom>
          <a:noFill/>
          <a:ln/>
        </p:spPr>
        <p:txBody>
          <a:bodyPr wrap="square" lIns="0" tIns="0" rIns="0" bIns="0" rtlCol="0" anchor="ctr"/>
          <a:lstStyle/>
          <a:p>
            <a:pPr algn="l" indent="0" marL="0">
              <a:buNone/>
            </a:pPr>
            <a:r>
              <a:rPr lang="en-US" sz="3600" b="1" dirty="0">
                <a:solidFill>
                  <a:schemeClr val="bg1"/>
                </a:solidFill>
              </a:rPr>
              <a:t>Who I am and what I bring</a:t>
            </a:r>
            <a:endParaRPr lang="en-US" sz="3600" dirty="0"/>
          </a:p>
        </p:txBody>
      </p:sp>
      <p:sp>
        <p:nvSpPr>
          <p:cNvPr id="3" name="Profile card"/>
          <p:cNvSpPr/>
          <p:nvPr/>
        </p:nvSpPr>
        <p:spPr>
          <a:xfrm>
            <a:off x="548640" y="1325880"/>
            <a:ext cx="5212080" cy="3520440"/>
          </a:xfrm>
          <a:prstGeom prst="roundRect">
            <a:avLst>
              <a:gd name="adj" fmla="val 2078"/>
            </a:avLst>
          </a:prstGeom>
          <a:solidFill>
            <a:schemeClr val="tx2"/>
          </a:solidFill>
          <a:ln w="9525">
            <a:solidFill>
              <a:schemeClr val="bg2"/>
            </a:solidFill>
            <a:prstDash val="solid"/>
          </a:ln>
        </p:spPr>
      </p:sp>
      <p:sp>
        <p:nvSpPr>
          <p:cNvPr id="4" name="Text 2"/>
          <p:cNvSpPr txBox="1"/>
          <p:nvPr/>
        </p:nvSpPr>
        <p:spPr>
          <a:xfrm>
            <a:off x="822960" y="1481328"/>
            <a:ext cx="4663440" cy="457200"/>
          </a:xfrm>
          <a:prstGeom prst="rect">
            <a:avLst/>
          </a:prstGeom>
          <a:noFill/>
          <a:ln/>
        </p:spPr>
        <p:txBody>
          <a:bodyPr wrap="square" lIns="0" tIns="0" rIns="0" bIns="0" rtlCol="0" anchor="t"/>
          <a:lstStyle/>
          <a:p>
            <a:pPr indent="0" marL="0">
              <a:buNone/>
            </a:pPr>
            <a:r>
              <a:rPr lang="en-US" sz="2800" b="1" dirty="0">
                <a:solidFill>
                  <a:schemeClr val="bg1"/>
                </a:solidFill>
                <a:latin typeface="Cambria" pitchFamily="34" charset="0"/>
                <a:ea typeface="Cambria" pitchFamily="34" charset="-122"/>
                <a:cs typeface="Cambria" pitchFamily="34" charset="-120"/>
              </a:rPr>
              <a:t>Bharat Bassi</a:t>
            </a:r>
            <a:endParaRPr lang="en-US" sz="2800" dirty="0"/>
          </a:p>
        </p:txBody>
      </p:sp>
      <p:sp>
        <p:nvSpPr>
          <p:cNvPr id="5" name="Text 3"/>
          <p:cNvSpPr txBox="1"/>
          <p:nvPr/>
        </p:nvSpPr>
        <p:spPr>
          <a:xfrm>
            <a:off x="822960" y="1965960"/>
            <a:ext cx="4663440" cy="274320"/>
          </a:xfrm>
          <a:prstGeom prst="rect">
            <a:avLst/>
          </a:prstGeom>
          <a:noFill/>
          <a:ln/>
        </p:spPr>
        <p:txBody>
          <a:bodyPr wrap="square" lIns="0" tIns="0" rIns="0" bIns="0" rtlCol="0" anchor="t"/>
          <a:lstStyle/>
          <a:p>
            <a:pPr indent="0" marL="0">
              <a:buNone/>
            </a:pPr>
            <a:r>
              <a:rPr lang="en-US" sz="1400" b="1" dirty="0">
                <a:solidFill>
                  <a:schemeClr val="accent1"/>
                </a:solidFill>
              </a:rPr>
              <a:t>Social Media Manager</a:t>
            </a:r>
            <a:endParaRPr lang="en-US" sz="1400" dirty="0"/>
          </a:p>
        </p:txBody>
      </p:sp>
      <p:sp>
        <p:nvSpPr>
          <p:cNvPr id="6" name="Text 4"/>
          <p:cNvSpPr txBox="1"/>
          <p:nvPr/>
        </p:nvSpPr>
        <p:spPr>
          <a:xfrm>
            <a:off x="822960" y="2331720"/>
            <a:ext cx="4663440" cy="548640"/>
          </a:xfrm>
          <a:prstGeom prst="rect">
            <a:avLst/>
          </a:prstGeom>
          <a:noFill/>
          <a:ln/>
        </p:spPr>
        <p:txBody>
          <a:bodyPr wrap="square" lIns="0" tIns="0" rIns="0" bIns="0" rtlCol="0" anchor="t"/>
          <a:lstStyle/>
          <a:p>
            <a:pPr indent="0" marL="0">
              <a:buNone/>
            </a:pPr>
            <a:r>
              <a:rPr lang="en-US" sz="1400" dirty="0">
                <a:solidFill>
                  <a:schemeClr val="accent3"/>
                </a:solidFill>
              </a:rPr>
              <a:t>Six-plus years in social operations, ORM, analytics and customer engagement.</a:t>
            </a:r>
            <a:endParaRPr lang="en-US" sz="1400" dirty="0"/>
          </a:p>
        </p:txBody>
      </p:sp>
      <p:sp>
        <p:nvSpPr>
          <p:cNvPr id="7" name="Text 5"/>
          <p:cNvSpPr txBox="1"/>
          <p:nvPr/>
        </p:nvSpPr>
        <p:spPr>
          <a:xfrm>
            <a:off x="822960" y="2880360"/>
            <a:ext cx="4663440" cy="1920240"/>
          </a:xfrm>
          <a:prstGeom prst="rect">
            <a:avLst/>
          </a:prstGeom>
          <a:noFill/>
          <a:ln/>
        </p:spPr>
        <p:txBody>
          <a:bodyPr wrap="square" lIns="0" tIns="0" rIns="0" bIns="0" rtlCol="0" anchor="t"/>
          <a:lstStyle/>
          <a:p>
            <a:pPr marL="342900" indent="-342900">
              <a:spcAft>
                <a:spcPts val="200"/>
              </a:spcAft>
              <a:buSzPct val="100000"/>
              <a:buChar char="•"/>
            </a:pPr>
            <a:r>
              <a:rPr lang="en-US" sz="1400" dirty="0">
                <a:solidFill>
                  <a:schemeClr val="bg1"/>
                </a:solidFill>
              </a:rPr>
              <a:t>Social operations: planning, publishing and daily community handling</a:t>
            </a:r>
            <a:endParaRPr lang="en-US" sz="1400" dirty="0"/>
          </a:p>
          <a:p>
            <a:pPr marL="342900" indent="-342900">
              <a:spcAft>
                <a:spcPts val="200"/>
              </a:spcAft>
              <a:buSzPct val="100000"/>
              <a:buChar char="•"/>
            </a:pPr>
            <a:r>
              <a:rPr lang="en-US" sz="1400" dirty="0">
                <a:solidFill>
                  <a:schemeClr val="bg1"/>
                </a:solidFill>
              </a:rPr>
              <a:t>ORM and social listening: reading what customers say and closing the loop</a:t>
            </a:r>
            <a:endParaRPr lang="en-US" sz="1400" dirty="0"/>
          </a:p>
          <a:p>
            <a:pPr marL="342900" indent="-342900">
              <a:spcAft>
                <a:spcPts val="200"/>
              </a:spcAft>
              <a:buSzPct val="100000"/>
              <a:buChar char="•"/>
            </a:pPr>
            <a:r>
              <a:rPr lang="en-US" sz="1400" dirty="0">
                <a:solidFill>
                  <a:schemeClr val="bg1"/>
                </a:solidFill>
              </a:rPr>
              <a:t>Analytics and reporting: one scorecard leadership can read in two minutes</a:t>
            </a:r>
            <a:endParaRPr lang="en-US" sz="1400" dirty="0"/>
          </a:p>
          <a:p>
            <a:pPr marL="342900" indent="-342900">
              <a:spcAft>
                <a:spcPts val="200"/>
              </a:spcAft>
              <a:buSzPct val="100000"/>
              <a:buChar char="•"/>
            </a:pPr>
            <a:r>
              <a:rPr lang="en-US" sz="1400" dirty="0">
                <a:solidFill>
                  <a:schemeClr val="bg1"/>
                </a:solidFill>
              </a:rPr>
              <a:t>Customer engagement: fast, on-brand replies that move people to the next step</a:t>
            </a:r>
            <a:endParaRPr lang="en-US" sz="1400" dirty="0"/>
          </a:p>
        </p:txBody>
      </p:sp>
      <p:sp>
        <p:nvSpPr>
          <p:cNvPr id="8" name="Produce card"/>
          <p:cNvSpPr/>
          <p:nvPr/>
        </p:nvSpPr>
        <p:spPr>
          <a:xfrm>
            <a:off x="5989320" y="1325880"/>
            <a:ext cx="5650992" cy="3520440"/>
          </a:xfrm>
          <a:prstGeom prst="roundRect">
            <a:avLst>
              <a:gd name="adj" fmla="val 2078"/>
            </a:avLst>
          </a:prstGeom>
          <a:solidFill>
            <a:schemeClr val="bg2"/>
          </a:solidFill>
          <a:ln w="9525">
            <a:solidFill>
              <a:schemeClr val="bg2"/>
            </a:solidFill>
            <a:prstDash val="solid"/>
          </a:ln>
        </p:spPr>
      </p:sp>
      <p:sp>
        <p:nvSpPr>
          <p:cNvPr id="9" name="Text 7"/>
          <p:cNvSpPr txBox="1"/>
          <p:nvPr/>
        </p:nvSpPr>
        <p:spPr>
          <a:xfrm>
            <a:off x="6263640" y="1481328"/>
            <a:ext cx="5120640" cy="365760"/>
          </a:xfrm>
          <a:prstGeom prst="rect">
            <a:avLst/>
          </a:prstGeom>
          <a:noFill/>
          <a:ln/>
        </p:spPr>
        <p:txBody>
          <a:bodyPr wrap="square" lIns="0" tIns="0" rIns="0" bIns="0" rtlCol="0" anchor="t"/>
          <a:lstStyle/>
          <a:p>
            <a:pPr indent="0" marL="0">
              <a:buNone/>
            </a:pPr>
            <a:r>
              <a:rPr lang="en-US" sz="1800" b="1" dirty="0">
                <a:solidFill>
                  <a:schemeClr val="accent1"/>
                </a:solidFill>
                <a:latin typeface="Cambria" pitchFamily="34" charset="0"/>
                <a:ea typeface="Cambria" pitchFamily="34" charset="-122"/>
                <a:cs typeface="Cambria" pitchFamily="34" charset="-120"/>
              </a:rPr>
              <a:t>What I can produce for Della</a:t>
            </a:r>
            <a:endParaRPr lang="en-US" sz="1800" dirty="0"/>
          </a:p>
        </p:txBody>
      </p:sp>
      <p:sp>
        <p:nvSpPr>
          <p:cNvPr id="10" name="Text 8"/>
          <p:cNvSpPr txBox="1"/>
          <p:nvPr/>
        </p:nvSpPr>
        <p:spPr>
          <a:xfrm>
            <a:off x="6263640" y="2011680"/>
            <a:ext cx="5120640" cy="2560320"/>
          </a:xfrm>
          <a:prstGeom prst="rect">
            <a:avLst/>
          </a:prstGeom>
          <a:noFill/>
          <a:ln/>
        </p:spPr>
        <p:txBody>
          <a:bodyPr wrap="square" lIns="0" tIns="0" rIns="0" bIns="0" rtlCol="0" anchor="t"/>
          <a:lstStyle/>
          <a:p>
            <a:pPr marL="342900" indent="-342900">
              <a:spcAft>
                <a:spcPts val="500"/>
              </a:spcAft>
              <a:buSzPct val="100000"/>
              <a:buChar char="•"/>
            </a:pPr>
            <a:r>
              <a:rPr lang="en-US" sz="1600" dirty="0">
                <a:solidFill>
                  <a:schemeClr val="bg1"/>
                </a:solidFill>
              </a:rPr>
              <a:t>A monthly content calendar by pillar, channel and funnel stage</a:t>
            </a:r>
            <a:endParaRPr lang="en-US" sz="1600" dirty="0"/>
          </a:p>
          <a:p>
            <a:pPr marL="342900" indent="-342900">
              <a:spcAft>
                <a:spcPts val="500"/>
              </a:spcAft>
              <a:buSzPct val="100000"/>
              <a:buChar char="•"/>
            </a:pPr>
            <a:r>
              <a:rPr lang="en-US" sz="1600" dirty="0">
                <a:solidFill>
                  <a:schemeClr val="bg1"/>
                </a:solidFill>
              </a:rPr>
              <a:t>Photo sets and Reels, Shorts and film edits, ready to publish</a:t>
            </a:r>
            <a:endParaRPr lang="en-US" sz="1600" dirty="0"/>
          </a:p>
          <a:p>
            <a:pPr marL="342900" indent="-342900">
              <a:spcAft>
                <a:spcPts val="500"/>
              </a:spcAft>
              <a:buSzPct val="100000"/>
              <a:buChar char="•"/>
            </a:pPr>
            <a:r>
              <a:rPr lang="en-US" sz="1600" dirty="0">
                <a:solidFill>
                  <a:schemeClr val="bg1"/>
                </a:solidFill>
              </a:rPr>
              <a:t>One-page creative briefs for every shoot and campaign</a:t>
            </a:r>
            <a:endParaRPr lang="en-US" sz="1600" dirty="0"/>
          </a:p>
          <a:p>
            <a:pPr marL="342900" indent="-342900">
              <a:spcAft>
                <a:spcPts val="500"/>
              </a:spcAft>
              <a:buSzPct val="100000"/>
              <a:buChar char="•"/>
            </a:pPr>
            <a:r>
              <a:rPr lang="en-US" sz="1600" dirty="0">
                <a:solidFill>
                  <a:schemeClr val="bg1"/>
                </a:solidFill>
              </a:rPr>
              <a:t>A weekly pulse and a monthly insights report with three actions</a:t>
            </a:r>
            <a:endParaRPr lang="en-US" sz="1600" dirty="0"/>
          </a:p>
        </p:txBody>
      </p:sp>
      <p:sp>
        <p:nvSpPr>
          <p:cNvPr id="11" name="Proof strip"/>
          <p:cNvSpPr/>
          <p:nvPr/>
        </p:nvSpPr>
        <p:spPr>
          <a:xfrm>
            <a:off x="548640" y="5029200"/>
            <a:ext cx="11091672" cy="777240"/>
          </a:xfrm>
          <a:prstGeom prst="roundRect">
            <a:avLst>
              <a:gd name="adj" fmla="val 9412"/>
            </a:avLst>
          </a:prstGeom>
          <a:solidFill>
            <a:schemeClr val="accent1"/>
          </a:solidFill>
          <a:ln w="9525">
            <a:solidFill>
              <a:schemeClr val="bg2"/>
            </a:solidFill>
            <a:prstDash val="solid"/>
          </a:ln>
        </p:spPr>
      </p:sp>
      <p:sp>
        <p:nvSpPr>
          <p:cNvPr id="12" name="Text 10"/>
          <p:cNvSpPr txBox="1"/>
          <p:nvPr/>
        </p:nvSpPr>
        <p:spPr>
          <a:xfrm>
            <a:off x="822960" y="5029200"/>
            <a:ext cx="1188720" cy="777240"/>
          </a:xfrm>
          <a:prstGeom prst="rect">
            <a:avLst/>
          </a:prstGeom>
          <a:noFill/>
          <a:ln/>
        </p:spPr>
        <p:txBody>
          <a:bodyPr wrap="square" lIns="0" tIns="0" rIns="0" bIns="0" rtlCol="0" anchor="ctr"/>
          <a:lstStyle/>
          <a:p>
            <a:pPr indent="0" marL="0">
              <a:buNone/>
            </a:pPr>
            <a:r>
              <a:rPr lang="en-US" sz="2400" b="1" dirty="0">
                <a:solidFill>
                  <a:schemeClr val="tx1"/>
                </a:solidFill>
                <a:latin typeface="Cambria" pitchFamily="34" charset="0"/>
                <a:ea typeface="Cambria" pitchFamily="34" charset="-122"/>
                <a:cs typeface="Cambria" pitchFamily="34" charset="-120"/>
              </a:rPr>
              <a:t>6+</a:t>
            </a:r>
            <a:endParaRPr lang="en-US" sz="2400" dirty="0"/>
          </a:p>
        </p:txBody>
      </p:sp>
      <p:sp>
        <p:nvSpPr>
          <p:cNvPr id="13" name="Text 11"/>
          <p:cNvSpPr txBox="1"/>
          <p:nvPr/>
        </p:nvSpPr>
        <p:spPr>
          <a:xfrm>
            <a:off x="1737360" y="5029200"/>
            <a:ext cx="2103120" cy="777240"/>
          </a:xfrm>
          <a:prstGeom prst="rect">
            <a:avLst/>
          </a:prstGeom>
          <a:noFill/>
          <a:ln/>
        </p:spPr>
        <p:txBody>
          <a:bodyPr wrap="square" lIns="0" tIns="0" rIns="0" bIns="0" rtlCol="0" anchor="ctr"/>
          <a:lstStyle/>
          <a:p>
            <a:pPr indent="0" marL="0">
              <a:buNone/>
            </a:pPr>
            <a:r>
              <a:rPr lang="en-US" sz="1200" dirty="0">
                <a:solidFill>
                  <a:schemeClr val="tx1"/>
                </a:solidFill>
              </a:rPr>
              <a:t>years in social media and ORM</a:t>
            </a:r>
            <a:endParaRPr lang="en-US" sz="1200" dirty="0"/>
          </a:p>
        </p:txBody>
      </p:sp>
      <p:sp>
        <p:nvSpPr>
          <p:cNvPr id="14" name="Text 12"/>
          <p:cNvSpPr txBox="1"/>
          <p:nvPr/>
        </p:nvSpPr>
        <p:spPr>
          <a:xfrm>
            <a:off x="4114800" y="5029200"/>
            <a:ext cx="1280160" cy="777240"/>
          </a:xfrm>
          <a:prstGeom prst="rect">
            <a:avLst/>
          </a:prstGeom>
          <a:noFill/>
          <a:ln/>
        </p:spPr>
        <p:txBody>
          <a:bodyPr wrap="square" lIns="0" tIns="0" rIns="0" bIns="0" rtlCol="0" anchor="ctr"/>
          <a:lstStyle/>
          <a:p>
            <a:pPr indent="0" marL="0">
              <a:buNone/>
            </a:pPr>
            <a:r>
              <a:rPr lang="en-US" sz="2400" b="1" dirty="0">
                <a:solidFill>
                  <a:schemeClr val="tx1"/>
                </a:solidFill>
                <a:latin typeface="Cambria" pitchFamily="34" charset="0"/>
                <a:ea typeface="Cambria" pitchFamily="34" charset="-122"/>
                <a:cs typeface="Cambria" pitchFamily="34" charset="-120"/>
              </a:rPr>
              <a:t>22%</a:t>
            </a:r>
            <a:endParaRPr lang="en-US" sz="2400" dirty="0"/>
          </a:p>
        </p:txBody>
      </p:sp>
      <p:sp>
        <p:nvSpPr>
          <p:cNvPr id="15" name="Text 13"/>
          <p:cNvSpPr txBox="1"/>
          <p:nvPr/>
        </p:nvSpPr>
        <p:spPr>
          <a:xfrm>
            <a:off x="5120640" y="5029200"/>
            <a:ext cx="2103120" cy="777240"/>
          </a:xfrm>
          <a:prstGeom prst="rect">
            <a:avLst/>
          </a:prstGeom>
          <a:noFill/>
          <a:ln/>
        </p:spPr>
        <p:txBody>
          <a:bodyPr wrap="square" lIns="0" tIns="0" rIns="0" bIns="0" rtlCol="0" anchor="ctr"/>
          <a:lstStyle/>
          <a:p>
            <a:pPr indent="0" marL="0">
              <a:buNone/>
            </a:pPr>
            <a:r>
              <a:rPr lang="en-US" sz="1200" dirty="0">
                <a:solidFill>
                  <a:schemeClr val="tx1"/>
                </a:solidFill>
              </a:rPr>
              <a:t>engagement uplift</a:t>
            </a:r>
            <a:endParaRPr lang="en-US" sz="1200" dirty="0"/>
          </a:p>
        </p:txBody>
      </p:sp>
      <p:sp>
        <p:nvSpPr>
          <p:cNvPr id="16" name="Text 14"/>
          <p:cNvSpPr txBox="1"/>
          <p:nvPr/>
        </p:nvSpPr>
        <p:spPr>
          <a:xfrm>
            <a:off x="7589520" y="5029200"/>
            <a:ext cx="2834640" cy="777240"/>
          </a:xfrm>
          <a:prstGeom prst="rect">
            <a:avLst/>
          </a:prstGeom>
          <a:noFill/>
          <a:ln/>
        </p:spPr>
        <p:txBody>
          <a:bodyPr wrap="square" lIns="0" tIns="0" rIns="0" bIns="0" rtlCol="0" anchor="ctr"/>
          <a:lstStyle/>
          <a:p>
            <a:pPr indent="0" marL="0">
              <a:buNone/>
            </a:pPr>
            <a:r>
              <a:rPr lang="en-US" sz="2400" b="1" dirty="0">
                <a:solidFill>
                  <a:schemeClr val="tx1"/>
                </a:solidFill>
                <a:latin typeface="Cambria" pitchFamily="34" charset="0"/>
                <a:ea typeface="Cambria" pitchFamily="34" charset="-122"/>
                <a:cs typeface="Cambria" pitchFamily="34" charset="-120"/>
              </a:rPr>
              <a:t>3-4h to 30-40m</a:t>
            </a:r>
            <a:endParaRPr lang="en-US" sz="2400" dirty="0"/>
          </a:p>
        </p:txBody>
      </p:sp>
      <p:sp>
        <p:nvSpPr>
          <p:cNvPr id="17" name="Text 15"/>
          <p:cNvSpPr txBox="1"/>
          <p:nvPr/>
        </p:nvSpPr>
        <p:spPr>
          <a:xfrm>
            <a:off x="10104120" y="5029200"/>
            <a:ext cx="1463040" cy="777240"/>
          </a:xfrm>
          <a:prstGeom prst="rect">
            <a:avLst/>
          </a:prstGeom>
          <a:noFill/>
          <a:ln/>
        </p:spPr>
        <p:txBody>
          <a:bodyPr wrap="square" lIns="0" tIns="0" rIns="0" bIns="0" rtlCol="0" anchor="ctr"/>
          <a:lstStyle/>
          <a:p>
            <a:pPr indent="0" marL="0">
              <a:buNone/>
            </a:pPr>
            <a:r>
              <a:rPr lang="en-US" sz="1200" dirty="0">
                <a:solidFill>
                  <a:schemeClr val="tx1"/>
                </a:solidFill>
              </a:rPr>
              <a:t>reporting workflow</a:t>
            </a:r>
            <a:endParaRPr lang="en-US" sz="1200" dirty="0"/>
          </a:p>
        </p:txBody>
      </p:sp>
      <p:sp>
        <p:nvSpPr>
          <p:cNvPr id="18" name="Text 16"/>
          <p:cNvSpPr txBox="1"/>
          <p:nvPr/>
        </p:nvSpPr>
        <p:spPr>
          <a:xfrm>
            <a:off x="548640" y="5943600"/>
            <a:ext cx="11091672" cy="365760"/>
          </a:xfrm>
          <a:prstGeom prst="rect">
            <a:avLst/>
          </a:prstGeom>
          <a:noFill/>
          <a:ln/>
        </p:spPr>
        <p:txBody>
          <a:bodyPr wrap="square" lIns="0" tIns="0" rIns="0" bIns="0" rtlCol="0" anchor="ctr"/>
          <a:lstStyle/>
          <a:p>
            <a:pPr indent="0" marL="0">
              <a:buNone/>
            </a:pPr>
            <a:r>
              <a:rPr lang="en-US" sz="1400" b="1" dirty="0">
                <a:solidFill>
                  <a:schemeClr val="accent1"/>
                </a:solidFill>
              </a:rPr>
              <a:t>Toolset: </a:t>
            </a:r>
            <a:pPr indent="0" marL="0">
              <a:buNone/>
            </a:pPr>
            <a:r>
              <a:rPr lang="en-US" sz="1400" dirty="0">
                <a:solidFill>
                  <a:schemeClr val="bg1"/>
                </a:solidFill>
              </a:rPr>
              <a:t>Scheduling and publishing, analytics dashboards, social listening, photo and video editing</a:t>
            </a:r>
            <a:endParaRPr lang="en-US" sz="14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731520"/>
          </a:xfrm>
          <a:prstGeom prst="rect">
            <a:avLst/>
          </a:prstGeom>
          <a:noFill/>
          <a:ln/>
        </p:spPr>
        <p:txBody>
          <a:bodyPr wrap="square" lIns="0" tIns="0" rIns="0" bIns="0" rtlCol="0" anchor="ctr"/>
          <a:lstStyle/>
          <a:p>
            <a:pPr algn="l" indent="0" marL="0">
              <a:buNone/>
            </a:pPr>
            <a:r>
              <a:rPr lang="en-US" sz="3600" b="1" dirty="0">
                <a:solidFill>
                  <a:schemeClr val="bg1"/>
                </a:solidFill>
              </a:rPr>
              <a:t>What I can own, end to end</a:t>
            </a:r>
            <a:endParaRPr lang="en-US" sz="3600" dirty="0"/>
          </a:p>
        </p:txBody>
      </p:sp>
      <p:sp>
        <p:nvSpPr>
          <p:cNvPr id="3" name="Own Strategy"/>
          <p:cNvSpPr/>
          <p:nvPr/>
        </p:nvSpPr>
        <p:spPr>
          <a:xfrm>
            <a:off x="548640" y="1325880"/>
            <a:ext cx="3511296" cy="2286000"/>
          </a:xfrm>
          <a:prstGeom prst="roundRect">
            <a:avLst>
              <a:gd name="adj" fmla="val 3200"/>
            </a:avLst>
          </a:prstGeom>
          <a:solidFill>
            <a:schemeClr val="tx2"/>
          </a:solidFill>
          <a:ln w="9525">
            <a:solidFill>
              <a:schemeClr val="bg2"/>
            </a:solidFill>
            <a:prstDash val="solid"/>
          </a:ln>
        </p:spPr>
      </p:sp>
      <p:sp>
        <p:nvSpPr>
          <p:cNvPr id="4" name="Text 2"/>
          <p:cNvSpPr txBox="1"/>
          <p:nvPr/>
        </p:nvSpPr>
        <p:spPr>
          <a:xfrm>
            <a:off x="777240" y="1490472"/>
            <a:ext cx="914400" cy="228600"/>
          </a:xfrm>
          <a:prstGeom prst="rect">
            <a:avLst/>
          </a:prstGeom>
          <a:noFill/>
          <a:ln/>
        </p:spPr>
        <p:txBody>
          <a:bodyPr wrap="square" lIns="0" tIns="0" rIns="0" bIns="0" rtlCol="0" anchor="t"/>
          <a:lstStyle/>
          <a:p>
            <a:pPr indent="0" marL="0">
              <a:buNone/>
            </a:pPr>
            <a:r>
              <a:rPr lang="en-US" sz="1200" b="1" spc="200" kern="0" dirty="0">
                <a:solidFill>
                  <a:schemeClr val="accent1"/>
                </a:solidFill>
              </a:rPr>
              <a:t>01</a:t>
            </a:r>
            <a:endParaRPr lang="en-US" sz="1200" dirty="0"/>
          </a:p>
        </p:txBody>
      </p:sp>
      <p:sp>
        <p:nvSpPr>
          <p:cNvPr id="5" name="Text 3"/>
          <p:cNvSpPr txBox="1"/>
          <p:nvPr/>
        </p:nvSpPr>
        <p:spPr>
          <a:xfrm>
            <a:off x="777240" y="1764792"/>
            <a:ext cx="3054096" cy="365760"/>
          </a:xfrm>
          <a:prstGeom prst="rect">
            <a:avLst/>
          </a:prstGeom>
          <a:noFill/>
          <a:ln/>
        </p:spPr>
        <p:txBody>
          <a:bodyPr wrap="square" lIns="0" tIns="0" rIns="0" bIns="0" rtlCol="0" anchor="t"/>
          <a:lstStyle/>
          <a:p>
            <a:pPr indent="0" marL="0">
              <a:buNone/>
            </a:pPr>
            <a:r>
              <a:rPr lang="en-US" sz="2000" b="1" dirty="0">
                <a:solidFill>
                  <a:schemeClr val="bg1"/>
                </a:solidFill>
                <a:latin typeface="Cambria" pitchFamily="34" charset="0"/>
                <a:ea typeface="Cambria" pitchFamily="34" charset="-122"/>
                <a:cs typeface="Cambria" pitchFamily="34" charset="-120"/>
              </a:rPr>
              <a:t>Strategy</a:t>
            </a:r>
            <a:endParaRPr lang="en-US" sz="2000" dirty="0"/>
          </a:p>
        </p:txBody>
      </p:sp>
      <p:sp>
        <p:nvSpPr>
          <p:cNvPr id="6" name="Text 4"/>
          <p:cNvSpPr txBox="1"/>
          <p:nvPr/>
        </p:nvSpPr>
        <p:spPr>
          <a:xfrm>
            <a:off x="777240" y="2194560"/>
            <a:ext cx="3054096" cy="868680"/>
          </a:xfrm>
          <a:prstGeom prst="rect">
            <a:avLst/>
          </a:prstGeom>
          <a:noFill/>
          <a:ln/>
        </p:spPr>
        <p:txBody>
          <a:bodyPr wrap="square" lIns="0" tIns="0" rIns="0" bIns="0" rtlCol="0" anchor="t"/>
          <a:lstStyle/>
          <a:p>
            <a:pPr indent="0" marL="0">
              <a:buNone/>
            </a:pPr>
            <a:r>
              <a:rPr lang="en-US" sz="1400" dirty="0">
                <a:solidFill>
                  <a:schemeClr val="accent3"/>
                </a:solidFill>
              </a:rPr>
              <a:t>Channel roles, audience plans and quarterly priorities tied to enquiries and visits.</a:t>
            </a:r>
            <a:endParaRPr lang="en-US" sz="1400" dirty="0"/>
          </a:p>
        </p:txBody>
      </p:sp>
      <p:sp>
        <p:nvSpPr>
          <p:cNvPr id="7" name="Text 5"/>
          <p:cNvSpPr txBox="1"/>
          <p:nvPr/>
        </p:nvSpPr>
        <p:spPr>
          <a:xfrm>
            <a:off x="777240" y="3063240"/>
            <a:ext cx="3054096" cy="457200"/>
          </a:xfrm>
          <a:prstGeom prst="rect">
            <a:avLst/>
          </a:prstGeom>
          <a:noFill/>
          <a:ln/>
        </p:spPr>
        <p:txBody>
          <a:bodyPr wrap="square" lIns="0" tIns="0" rIns="0" bIns="0" rtlCol="0" anchor="t"/>
          <a:lstStyle/>
          <a:p>
            <a:pPr indent="0" marL="0">
              <a:buNone/>
            </a:pPr>
            <a:r>
              <a:rPr lang="en-US" sz="1200" b="1" dirty="0">
                <a:solidFill>
                  <a:schemeClr val="accent1"/>
                </a:solidFill>
              </a:rPr>
              <a:t>Output: </a:t>
            </a:r>
            <a:pPr indent="0" marL="0">
              <a:buNone/>
            </a:pPr>
            <a:r>
              <a:rPr lang="en-US" sz="1200" dirty="0">
                <a:solidFill>
                  <a:schemeClr val="bg1"/>
                </a:solidFill>
              </a:rPr>
              <a:t>Channel plan and funnel for each business</a:t>
            </a:r>
            <a:endParaRPr lang="en-US" sz="1200" dirty="0"/>
          </a:p>
        </p:txBody>
      </p:sp>
      <p:sp>
        <p:nvSpPr>
          <p:cNvPr id="8" name="Own Planning"/>
          <p:cNvSpPr/>
          <p:nvPr/>
        </p:nvSpPr>
        <p:spPr>
          <a:xfrm>
            <a:off x="4338828" y="1325880"/>
            <a:ext cx="3511296" cy="2286000"/>
          </a:xfrm>
          <a:prstGeom prst="roundRect">
            <a:avLst>
              <a:gd name="adj" fmla="val 3200"/>
            </a:avLst>
          </a:prstGeom>
          <a:solidFill>
            <a:schemeClr val="tx2"/>
          </a:solidFill>
          <a:ln w="9525">
            <a:solidFill>
              <a:schemeClr val="bg2"/>
            </a:solidFill>
            <a:prstDash val="solid"/>
          </a:ln>
        </p:spPr>
      </p:sp>
      <p:sp>
        <p:nvSpPr>
          <p:cNvPr id="9" name="Text 7"/>
          <p:cNvSpPr txBox="1"/>
          <p:nvPr/>
        </p:nvSpPr>
        <p:spPr>
          <a:xfrm>
            <a:off x="4567428" y="1490472"/>
            <a:ext cx="914400" cy="228600"/>
          </a:xfrm>
          <a:prstGeom prst="rect">
            <a:avLst/>
          </a:prstGeom>
          <a:noFill/>
          <a:ln/>
        </p:spPr>
        <p:txBody>
          <a:bodyPr wrap="square" lIns="0" tIns="0" rIns="0" bIns="0" rtlCol="0" anchor="t"/>
          <a:lstStyle/>
          <a:p>
            <a:pPr indent="0" marL="0">
              <a:buNone/>
            </a:pPr>
            <a:r>
              <a:rPr lang="en-US" sz="1200" b="1" spc="200" kern="0" dirty="0">
                <a:solidFill>
                  <a:schemeClr val="accent1"/>
                </a:solidFill>
              </a:rPr>
              <a:t>02</a:t>
            </a:r>
            <a:endParaRPr lang="en-US" sz="1200" dirty="0"/>
          </a:p>
        </p:txBody>
      </p:sp>
      <p:sp>
        <p:nvSpPr>
          <p:cNvPr id="10" name="Text 8"/>
          <p:cNvSpPr txBox="1"/>
          <p:nvPr/>
        </p:nvSpPr>
        <p:spPr>
          <a:xfrm>
            <a:off x="4567428" y="1764792"/>
            <a:ext cx="3054096" cy="365760"/>
          </a:xfrm>
          <a:prstGeom prst="rect">
            <a:avLst/>
          </a:prstGeom>
          <a:noFill/>
          <a:ln/>
        </p:spPr>
        <p:txBody>
          <a:bodyPr wrap="square" lIns="0" tIns="0" rIns="0" bIns="0" rtlCol="0" anchor="t"/>
          <a:lstStyle/>
          <a:p>
            <a:pPr indent="0" marL="0">
              <a:buNone/>
            </a:pPr>
            <a:r>
              <a:rPr lang="en-US" sz="2000" b="1" dirty="0">
                <a:solidFill>
                  <a:schemeClr val="bg1"/>
                </a:solidFill>
                <a:latin typeface="Cambria" pitchFamily="34" charset="0"/>
                <a:ea typeface="Cambria" pitchFamily="34" charset="-122"/>
                <a:cs typeface="Cambria" pitchFamily="34" charset="-120"/>
              </a:rPr>
              <a:t>Planning</a:t>
            </a:r>
            <a:endParaRPr lang="en-US" sz="2000" dirty="0"/>
          </a:p>
        </p:txBody>
      </p:sp>
      <p:sp>
        <p:nvSpPr>
          <p:cNvPr id="11" name="Text 9"/>
          <p:cNvSpPr txBox="1"/>
          <p:nvPr/>
        </p:nvSpPr>
        <p:spPr>
          <a:xfrm>
            <a:off x="4567428" y="2194560"/>
            <a:ext cx="3054096" cy="868680"/>
          </a:xfrm>
          <a:prstGeom prst="rect">
            <a:avLst/>
          </a:prstGeom>
          <a:noFill/>
          <a:ln/>
        </p:spPr>
        <p:txBody>
          <a:bodyPr wrap="square" lIns="0" tIns="0" rIns="0" bIns="0" rtlCol="0" anchor="t"/>
          <a:lstStyle/>
          <a:p>
            <a:pPr indent="0" marL="0">
              <a:buNone/>
            </a:pPr>
            <a:r>
              <a:rPr lang="en-US" sz="1400" dirty="0">
                <a:solidFill>
                  <a:schemeClr val="accent3"/>
                </a:solidFill>
              </a:rPr>
              <a:t>Content pillars, monthly calendars and campaign timelines with owners and deadlines.</a:t>
            </a:r>
            <a:endParaRPr lang="en-US" sz="1400" dirty="0"/>
          </a:p>
        </p:txBody>
      </p:sp>
      <p:sp>
        <p:nvSpPr>
          <p:cNvPr id="12" name="Text 10"/>
          <p:cNvSpPr txBox="1"/>
          <p:nvPr/>
        </p:nvSpPr>
        <p:spPr>
          <a:xfrm>
            <a:off x="4567428" y="3063240"/>
            <a:ext cx="3054096" cy="457200"/>
          </a:xfrm>
          <a:prstGeom prst="rect">
            <a:avLst/>
          </a:prstGeom>
          <a:noFill/>
          <a:ln/>
        </p:spPr>
        <p:txBody>
          <a:bodyPr wrap="square" lIns="0" tIns="0" rIns="0" bIns="0" rtlCol="0" anchor="t"/>
          <a:lstStyle/>
          <a:p>
            <a:pPr indent="0" marL="0">
              <a:buNone/>
            </a:pPr>
            <a:r>
              <a:rPr lang="en-US" sz="1200" b="1" dirty="0">
                <a:solidFill>
                  <a:schemeClr val="accent1"/>
                </a:solidFill>
              </a:rPr>
              <a:t>Output: </a:t>
            </a:r>
            <a:pPr indent="0" marL="0">
              <a:buNone/>
            </a:pPr>
            <a:r>
              <a:rPr lang="en-US" sz="1200" dirty="0">
                <a:solidFill>
                  <a:schemeClr val="bg1"/>
                </a:solidFill>
              </a:rPr>
              <a:t>30-day calendar and brief templates</a:t>
            </a:r>
            <a:endParaRPr lang="en-US" sz="1200" dirty="0"/>
          </a:p>
        </p:txBody>
      </p:sp>
      <p:sp>
        <p:nvSpPr>
          <p:cNvPr id="13" name="Own Production"/>
          <p:cNvSpPr/>
          <p:nvPr/>
        </p:nvSpPr>
        <p:spPr>
          <a:xfrm>
            <a:off x="8129016" y="1325880"/>
            <a:ext cx="3511296" cy="2286000"/>
          </a:xfrm>
          <a:prstGeom prst="roundRect">
            <a:avLst>
              <a:gd name="adj" fmla="val 3200"/>
            </a:avLst>
          </a:prstGeom>
          <a:solidFill>
            <a:schemeClr val="tx2"/>
          </a:solidFill>
          <a:ln w="9525">
            <a:solidFill>
              <a:schemeClr val="bg2"/>
            </a:solidFill>
            <a:prstDash val="solid"/>
          </a:ln>
        </p:spPr>
      </p:sp>
      <p:sp>
        <p:nvSpPr>
          <p:cNvPr id="14" name="Text 12"/>
          <p:cNvSpPr txBox="1"/>
          <p:nvPr/>
        </p:nvSpPr>
        <p:spPr>
          <a:xfrm>
            <a:off x="8357616" y="1490472"/>
            <a:ext cx="914400" cy="228600"/>
          </a:xfrm>
          <a:prstGeom prst="rect">
            <a:avLst/>
          </a:prstGeom>
          <a:noFill/>
          <a:ln/>
        </p:spPr>
        <p:txBody>
          <a:bodyPr wrap="square" lIns="0" tIns="0" rIns="0" bIns="0" rtlCol="0" anchor="t"/>
          <a:lstStyle/>
          <a:p>
            <a:pPr indent="0" marL="0">
              <a:buNone/>
            </a:pPr>
            <a:r>
              <a:rPr lang="en-US" sz="1200" b="1" spc="200" kern="0" dirty="0">
                <a:solidFill>
                  <a:schemeClr val="accent1"/>
                </a:solidFill>
              </a:rPr>
              <a:t>03</a:t>
            </a:r>
            <a:endParaRPr lang="en-US" sz="1200" dirty="0"/>
          </a:p>
        </p:txBody>
      </p:sp>
      <p:sp>
        <p:nvSpPr>
          <p:cNvPr id="15" name="Text 13"/>
          <p:cNvSpPr txBox="1"/>
          <p:nvPr/>
        </p:nvSpPr>
        <p:spPr>
          <a:xfrm>
            <a:off x="8357616" y="1764792"/>
            <a:ext cx="3054096" cy="365760"/>
          </a:xfrm>
          <a:prstGeom prst="rect">
            <a:avLst/>
          </a:prstGeom>
          <a:noFill/>
          <a:ln/>
        </p:spPr>
        <p:txBody>
          <a:bodyPr wrap="square" lIns="0" tIns="0" rIns="0" bIns="0" rtlCol="0" anchor="t"/>
          <a:lstStyle/>
          <a:p>
            <a:pPr indent="0" marL="0">
              <a:buNone/>
            </a:pPr>
            <a:r>
              <a:rPr lang="en-US" sz="2000" b="1" dirty="0">
                <a:solidFill>
                  <a:schemeClr val="bg1"/>
                </a:solidFill>
                <a:latin typeface="Cambria" pitchFamily="34" charset="0"/>
                <a:ea typeface="Cambria" pitchFamily="34" charset="-122"/>
                <a:cs typeface="Cambria" pitchFamily="34" charset="-120"/>
              </a:rPr>
              <a:t>Production</a:t>
            </a:r>
            <a:endParaRPr lang="en-US" sz="2000" dirty="0"/>
          </a:p>
        </p:txBody>
      </p:sp>
      <p:sp>
        <p:nvSpPr>
          <p:cNvPr id="16" name="Text 14"/>
          <p:cNvSpPr txBox="1"/>
          <p:nvPr/>
        </p:nvSpPr>
        <p:spPr>
          <a:xfrm>
            <a:off x="8357616" y="2194560"/>
            <a:ext cx="3054096" cy="868680"/>
          </a:xfrm>
          <a:prstGeom prst="rect">
            <a:avLst/>
          </a:prstGeom>
          <a:noFill/>
          <a:ln/>
        </p:spPr>
        <p:txBody>
          <a:bodyPr wrap="square" lIns="0" tIns="0" rIns="0" bIns="0" rtlCol="0" anchor="t"/>
          <a:lstStyle/>
          <a:p>
            <a:pPr indent="0" marL="0">
              <a:buNone/>
            </a:pPr>
            <a:r>
              <a:rPr lang="en-US" sz="1400" dirty="0">
                <a:solidFill>
                  <a:schemeClr val="accent3"/>
                </a:solidFill>
              </a:rPr>
              <a:t>Shooting, editing and briefing creators so every post looks like one brand.</a:t>
            </a:r>
            <a:endParaRPr lang="en-US" sz="1400" dirty="0"/>
          </a:p>
        </p:txBody>
      </p:sp>
      <p:sp>
        <p:nvSpPr>
          <p:cNvPr id="17" name="Text 15"/>
          <p:cNvSpPr txBox="1"/>
          <p:nvPr/>
        </p:nvSpPr>
        <p:spPr>
          <a:xfrm>
            <a:off x="8357616" y="3063240"/>
            <a:ext cx="3054096" cy="457200"/>
          </a:xfrm>
          <a:prstGeom prst="rect">
            <a:avLst/>
          </a:prstGeom>
          <a:noFill/>
          <a:ln/>
        </p:spPr>
        <p:txBody>
          <a:bodyPr wrap="square" lIns="0" tIns="0" rIns="0" bIns="0" rtlCol="0" anchor="t"/>
          <a:lstStyle/>
          <a:p>
            <a:pPr indent="0" marL="0">
              <a:buNone/>
            </a:pPr>
            <a:r>
              <a:rPr lang="en-US" sz="1200" b="1" dirty="0">
                <a:solidFill>
                  <a:schemeClr val="accent1"/>
                </a:solidFill>
              </a:rPr>
              <a:t>Output: </a:t>
            </a:r>
            <a:pPr indent="0" marL="0">
              <a:buNone/>
            </a:pPr>
            <a:r>
              <a:rPr lang="en-US" sz="1200" dirty="0">
                <a:solidFill>
                  <a:schemeClr val="bg1"/>
                </a:solidFill>
              </a:rPr>
              <a:t>Reels, Shorts, photo sets, carousels</a:t>
            </a:r>
            <a:endParaRPr lang="en-US" sz="1200" dirty="0"/>
          </a:p>
        </p:txBody>
      </p:sp>
      <p:sp>
        <p:nvSpPr>
          <p:cNvPr id="18" name="Own Publishing"/>
          <p:cNvSpPr/>
          <p:nvPr/>
        </p:nvSpPr>
        <p:spPr>
          <a:xfrm>
            <a:off x="548640" y="3794760"/>
            <a:ext cx="3511296" cy="2286000"/>
          </a:xfrm>
          <a:prstGeom prst="roundRect">
            <a:avLst>
              <a:gd name="adj" fmla="val 3200"/>
            </a:avLst>
          </a:prstGeom>
          <a:solidFill>
            <a:schemeClr val="tx2"/>
          </a:solidFill>
          <a:ln w="9525">
            <a:solidFill>
              <a:schemeClr val="bg2"/>
            </a:solidFill>
            <a:prstDash val="solid"/>
          </a:ln>
        </p:spPr>
      </p:sp>
      <p:sp>
        <p:nvSpPr>
          <p:cNvPr id="19" name="Text 17"/>
          <p:cNvSpPr txBox="1"/>
          <p:nvPr/>
        </p:nvSpPr>
        <p:spPr>
          <a:xfrm>
            <a:off x="777240" y="3959352"/>
            <a:ext cx="914400" cy="228600"/>
          </a:xfrm>
          <a:prstGeom prst="rect">
            <a:avLst/>
          </a:prstGeom>
          <a:noFill/>
          <a:ln/>
        </p:spPr>
        <p:txBody>
          <a:bodyPr wrap="square" lIns="0" tIns="0" rIns="0" bIns="0" rtlCol="0" anchor="t"/>
          <a:lstStyle/>
          <a:p>
            <a:pPr indent="0" marL="0">
              <a:buNone/>
            </a:pPr>
            <a:r>
              <a:rPr lang="en-US" sz="1200" b="1" spc="200" kern="0" dirty="0">
                <a:solidFill>
                  <a:schemeClr val="accent1"/>
                </a:solidFill>
              </a:rPr>
              <a:t>04</a:t>
            </a:r>
            <a:endParaRPr lang="en-US" sz="1200" dirty="0"/>
          </a:p>
        </p:txBody>
      </p:sp>
      <p:sp>
        <p:nvSpPr>
          <p:cNvPr id="20" name="Text 18"/>
          <p:cNvSpPr txBox="1"/>
          <p:nvPr/>
        </p:nvSpPr>
        <p:spPr>
          <a:xfrm>
            <a:off x="777240" y="4233672"/>
            <a:ext cx="3054096" cy="365760"/>
          </a:xfrm>
          <a:prstGeom prst="rect">
            <a:avLst/>
          </a:prstGeom>
          <a:noFill/>
          <a:ln/>
        </p:spPr>
        <p:txBody>
          <a:bodyPr wrap="square" lIns="0" tIns="0" rIns="0" bIns="0" rtlCol="0" anchor="t"/>
          <a:lstStyle/>
          <a:p>
            <a:pPr indent="0" marL="0">
              <a:buNone/>
            </a:pPr>
            <a:r>
              <a:rPr lang="en-US" sz="2000" b="1" dirty="0">
                <a:solidFill>
                  <a:schemeClr val="bg1"/>
                </a:solidFill>
                <a:latin typeface="Cambria" pitchFamily="34" charset="0"/>
                <a:ea typeface="Cambria" pitchFamily="34" charset="-122"/>
                <a:cs typeface="Cambria" pitchFamily="34" charset="-120"/>
              </a:rPr>
              <a:t>Publishing</a:t>
            </a:r>
            <a:endParaRPr lang="en-US" sz="2000" dirty="0"/>
          </a:p>
        </p:txBody>
      </p:sp>
      <p:sp>
        <p:nvSpPr>
          <p:cNvPr id="21" name="Text 19"/>
          <p:cNvSpPr txBox="1"/>
          <p:nvPr/>
        </p:nvSpPr>
        <p:spPr>
          <a:xfrm>
            <a:off x="777240" y="4663440"/>
            <a:ext cx="3054096" cy="868680"/>
          </a:xfrm>
          <a:prstGeom prst="rect">
            <a:avLst/>
          </a:prstGeom>
          <a:noFill/>
          <a:ln/>
        </p:spPr>
        <p:txBody>
          <a:bodyPr wrap="square" lIns="0" tIns="0" rIns="0" bIns="0" rtlCol="0" anchor="t"/>
          <a:lstStyle/>
          <a:p>
            <a:pPr indent="0" marL="0">
              <a:buNone/>
            </a:pPr>
            <a:r>
              <a:rPr lang="en-US" sz="1400" dirty="0">
                <a:solidFill>
                  <a:schemeClr val="accent3"/>
                </a:solidFill>
              </a:rPr>
              <a:t>Scheduling, captions, tags, tracked links and approvals across four channels.</a:t>
            </a:r>
            <a:endParaRPr lang="en-US" sz="1400" dirty="0"/>
          </a:p>
        </p:txBody>
      </p:sp>
      <p:sp>
        <p:nvSpPr>
          <p:cNvPr id="22" name="Text 20"/>
          <p:cNvSpPr txBox="1"/>
          <p:nvPr/>
        </p:nvSpPr>
        <p:spPr>
          <a:xfrm>
            <a:off x="777240" y="5532120"/>
            <a:ext cx="3054096" cy="457200"/>
          </a:xfrm>
          <a:prstGeom prst="rect">
            <a:avLst/>
          </a:prstGeom>
          <a:noFill/>
          <a:ln/>
        </p:spPr>
        <p:txBody>
          <a:bodyPr wrap="square" lIns="0" tIns="0" rIns="0" bIns="0" rtlCol="0" anchor="t"/>
          <a:lstStyle/>
          <a:p>
            <a:pPr indent="0" marL="0">
              <a:buNone/>
            </a:pPr>
            <a:r>
              <a:rPr lang="en-US" sz="1200" b="1" dirty="0">
                <a:solidFill>
                  <a:schemeClr val="accent1"/>
                </a:solidFill>
              </a:rPr>
              <a:t>Output: </a:t>
            </a:r>
            <a:pPr indent="0" marL="0">
              <a:buNone/>
            </a:pPr>
            <a:r>
              <a:rPr lang="en-US" sz="1200" dirty="0">
                <a:solidFill>
                  <a:schemeClr val="bg1"/>
                </a:solidFill>
              </a:rPr>
              <a:t>On-time posts, one naming rule for links</a:t>
            </a:r>
            <a:endParaRPr lang="en-US" sz="1200" dirty="0"/>
          </a:p>
        </p:txBody>
      </p:sp>
      <p:sp>
        <p:nvSpPr>
          <p:cNvPr id="23" name="Own Community management"/>
          <p:cNvSpPr/>
          <p:nvPr/>
        </p:nvSpPr>
        <p:spPr>
          <a:xfrm>
            <a:off x="4338828" y="3794760"/>
            <a:ext cx="3511296" cy="2286000"/>
          </a:xfrm>
          <a:prstGeom prst="roundRect">
            <a:avLst>
              <a:gd name="adj" fmla="val 3200"/>
            </a:avLst>
          </a:prstGeom>
          <a:solidFill>
            <a:schemeClr val="tx2"/>
          </a:solidFill>
          <a:ln w="9525">
            <a:solidFill>
              <a:schemeClr val="bg2"/>
            </a:solidFill>
            <a:prstDash val="solid"/>
          </a:ln>
        </p:spPr>
      </p:sp>
      <p:sp>
        <p:nvSpPr>
          <p:cNvPr id="24" name="Text 22"/>
          <p:cNvSpPr txBox="1"/>
          <p:nvPr/>
        </p:nvSpPr>
        <p:spPr>
          <a:xfrm>
            <a:off x="4567428" y="3959352"/>
            <a:ext cx="914400" cy="228600"/>
          </a:xfrm>
          <a:prstGeom prst="rect">
            <a:avLst/>
          </a:prstGeom>
          <a:noFill/>
          <a:ln/>
        </p:spPr>
        <p:txBody>
          <a:bodyPr wrap="square" lIns="0" tIns="0" rIns="0" bIns="0" rtlCol="0" anchor="t"/>
          <a:lstStyle/>
          <a:p>
            <a:pPr indent="0" marL="0">
              <a:buNone/>
            </a:pPr>
            <a:r>
              <a:rPr lang="en-US" sz="1200" b="1" spc="200" kern="0" dirty="0">
                <a:solidFill>
                  <a:schemeClr val="accent1"/>
                </a:solidFill>
              </a:rPr>
              <a:t>05</a:t>
            </a:r>
            <a:endParaRPr lang="en-US" sz="1200" dirty="0"/>
          </a:p>
        </p:txBody>
      </p:sp>
      <p:sp>
        <p:nvSpPr>
          <p:cNvPr id="25" name="Text 23"/>
          <p:cNvSpPr txBox="1"/>
          <p:nvPr/>
        </p:nvSpPr>
        <p:spPr>
          <a:xfrm>
            <a:off x="4567428" y="4233672"/>
            <a:ext cx="3054096" cy="365760"/>
          </a:xfrm>
          <a:prstGeom prst="rect">
            <a:avLst/>
          </a:prstGeom>
          <a:noFill/>
          <a:ln/>
        </p:spPr>
        <p:txBody>
          <a:bodyPr wrap="square" lIns="0" tIns="0" rIns="0" bIns="0" rtlCol="0" anchor="t"/>
          <a:lstStyle/>
          <a:p>
            <a:pPr indent="0" marL="0">
              <a:buNone/>
            </a:pPr>
            <a:r>
              <a:rPr lang="en-US" sz="2000" b="1" dirty="0">
                <a:solidFill>
                  <a:schemeClr val="bg1"/>
                </a:solidFill>
                <a:latin typeface="Cambria" pitchFamily="34" charset="0"/>
                <a:ea typeface="Cambria" pitchFamily="34" charset="-122"/>
                <a:cs typeface="Cambria" pitchFamily="34" charset="-120"/>
              </a:rPr>
              <a:t>Community management</a:t>
            </a:r>
            <a:endParaRPr lang="en-US" sz="2000" dirty="0"/>
          </a:p>
        </p:txBody>
      </p:sp>
      <p:sp>
        <p:nvSpPr>
          <p:cNvPr id="26" name="Text 24"/>
          <p:cNvSpPr txBox="1"/>
          <p:nvPr/>
        </p:nvSpPr>
        <p:spPr>
          <a:xfrm>
            <a:off x="4567428" y="4663440"/>
            <a:ext cx="3054096" cy="868680"/>
          </a:xfrm>
          <a:prstGeom prst="rect">
            <a:avLst/>
          </a:prstGeom>
          <a:noFill/>
          <a:ln/>
        </p:spPr>
        <p:txBody>
          <a:bodyPr wrap="square" lIns="0" tIns="0" rIns="0" bIns="0" rtlCol="0" anchor="t"/>
          <a:lstStyle/>
          <a:p>
            <a:pPr indent="0" marL="0">
              <a:buNone/>
            </a:pPr>
            <a:r>
              <a:rPr lang="en-US" sz="1400" dirty="0">
                <a:solidFill>
                  <a:schemeClr val="accent3"/>
                </a:solidFill>
              </a:rPr>
              <a:t>Replies to comments and DMs, escalation rules and review responses.</a:t>
            </a:r>
            <a:endParaRPr lang="en-US" sz="1400" dirty="0"/>
          </a:p>
        </p:txBody>
      </p:sp>
      <p:sp>
        <p:nvSpPr>
          <p:cNvPr id="27" name="Text 25"/>
          <p:cNvSpPr txBox="1"/>
          <p:nvPr/>
        </p:nvSpPr>
        <p:spPr>
          <a:xfrm>
            <a:off x="4567428" y="5532120"/>
            <a:ext cx="3054096" cy="457200"/>
          </a:xfrm>
          <a:prstGeom prst="rect">
            <a:avLst/>
          </a:prstGeom>
          <a:noFill/>
          <a:ln/>
        </p:spPr>
        <p:txBody>
          <a:bodyPr wrap="square" lIns="0" tIns="0" rIns="0" bIns="0" rtlCol="0" anchor="t"/>
          <a:lstStyle/>
          <a:p>
            <a:pPr indent="0" marL="0">
              <a:buNone/>
            </a:pPr>
            <a:r>
              <a:rPr lang="en-US" sz="1200" b="1" dirty="0">
                <a:solidFill>
                  <a:schemeClr val="accent1"/>
                </a:solidFill>
              </a:rPr>
              <a:t>Output: </a:t>
            </a:r>
            <a:pPr indent="0" marL="0">
              <a:buNone/>
            </a:pPr>
            <a:r>
              <a:rPr lang="en-US" sz="1200" dirty="0">
                <a:solidFill>
                  <a:schemeClr val="bg1"/>
                </a:solidFill>
              </a:rPr>
              <a:t>Response playbook and escalation matrix</a:t>
            </a:r>
            <a:endParaRPr lang="en-US" sz="1200" dirty="0"/>
          </a:p>
        </p:txBody>
      </p:sp>
      <p:sp>
        <p:nvSpPr>
          <p:cNvPr id="28" name="Own Analytics and reporting"/>
          <p:cNvSpPr/>
          <p:nvPr/>
        </p:nvSpPr>
        <p:spPr>
          <a:xfrm>
            <a:off x="8129016" y="3794760"/>
            <a:ext cx="3511296" cy="2286000"/>
          </a:xfrm>
          <a:prstGeom prst="roundRect">
            <a:avLst>
              <a:gd name="adj" fmla="val 3200"/>
            </a:avLst>
          </a:prstGeom>
          <a:solidFill>
            <a:schemeClr val="tx2"/>
          </a:solidFill>
          <a:ln w="9525">
            <a:solidFill>
              <a:schemeClr val="bg2"/>
            </a:solidFill>
            <a:prstDash val="solid"/>
          </a:ln>
        </p:spPr>
      </p:sp>
      <p:sp>
        <p:nvSpPr>
          <p:cNvPr id="29" name="Text 27"/>
          <p:cNvSpPr txBox="1"/>
          <p:nvPr/>
        </p:nvSpPr>
        <p:spPr>
          <a:xfrm>
            <a:off x="8357616" y="3959352"/>
            <a:ext cx="914400" cy="228600"/>
          </a:xfrm>
          <a:prstGeom prst="rect">
            <a:avLst/>
          </a:prstGeom>
          <a:noFill/>
          <a:ln/>
        </p:spPr>
        <p:txBody>
          <a:bodyPr wrap="square" lIns="0" tIns="0" rIns="0" bIns="0" rtlCol="0" anchor="t"/>
          <a:lstStyle/>
          <a:p>
            <a:pPr indent="0" marL="0">
              <a:buNone/>
            </a:pPr>
            <a:r>
              <a:rPr lang="en-US" sz="1200" b="1" spc="200" kern="0" dirty="0">
                <a:solidFill>
                  <a:schemeClr val="accent1"/>
                </a:solidFill>
              </a:rPr>
              <a:t>06</a:t>
            </a:r>
            <a:endParaRPr lang="en-US" sz="1200" dirty="0"/>
          </a:p>
        </p:txBody>
      </p:sp>
      <p:sp>
        <p:nvSpPr>
          <p:cNvPr id="30" name="Text 28"/>
          <p:cNvSpPr txBox="1"/>
          <p:nvPr/>
        </p:nvSpPr>
        <p:spPr>
          <a:xfrm>
            <a:off x="8357616" y="4233672"/>
            <a:ext cx="3054096" cy="365760"/>
          </a:xfrm>
          <a:prstGeom prst="rect">
            <a:avLst/>
          </a:prstGeom>
          <a:noFill/>
          <a:ln/>
        </p:spPr>
        <p:txBody>
          <a:bodyPr wrap="square" lIns="0" tIns="0" rIns="0" bIns="0" rtlCol="0" anchor="t"/>
          <a:lstStyle/>
          <a:p>
            <a:pPr indent="0" marL="0">
              <a:buNone/>
            </a:pPr>
            <a:r>
              <a:rPr lang="en-US" sz="2000" b="1" dirty="0">
                <a:solidFill>
                  <a:schemeClr val="bg1"/>
                </a:solidFill>
                <a:latin typeface="Cambria" pitchFamily="34" charset="0"/>
                <a:ea typeface="Cambria" pitchFamily="34" charset="-122"/>
                <a:cs typeface="Cambria" pitchFamily="34" charset="-120"/>
              </a:rPr>
              <a:t>Analytics and reporting</a:t>
            </a:r>
            <a:endParaRPr lang="en-US" sz="2000" dirty="0"/>
          </a:p>
        </p:txBody>
      </p:sp>
      <p:sp>
        <p:nvSpPr>
          <p:cNvPr id="31" name="Text 29"/>
          <p:cNvSpPr txBox="1"/>
          <p:nvPr/>
        </p:nvSpPr>
        <p:spPr>
          <a:xfrm>
            <a:off x="8357616" y="4663440"/>
            <a:ext cx="3054096" cy="868680"/>
          </a:xfrm>
          <a:prstGeom prst="rect">
            <a:avLst/>
          </a:prstGeom>
          <a:noFill/>
          <a:ln/>
        </p:spPr>
        <p:txBody>
          <a:bodyPr wrap="square" lIns="0" tIns="0" rIns="0" bIns="0" rtlCol="0" anchor="t"/>
          <a:lstStyle/>
          <a:p>
            <a:pPr indent="0" marL="0">
              <a:buNone/>
            </a:pPr>
            <a:r>
              <a:rPr lang="en-US" sz="1400" dirty="0">
                <a:solidFill>
                  <a:schemeClr val="accent3"/>
                </a:solidFill>
              </a:rPr>
              <a:t>One scorecard per business, a weekly pulse and a monthly report with actions.</a:t>
            </a:r>
            <a:endParaRPr lang="en-US" sz="1400" dirty="0"/>
          </a:p>
        </p:txBody>
      </p:sp>
      <p:sp>
        <p:nvSpPr>
          <p:cNvPr id="32" name="Text 30"/>
          <p:cNvSpPr txBox="1"/>
          <p:nvPr/>
        </p:nvSpPr>
        <p:spPr>
          <a:xfrm>
            <a:off x="8357616" y="5532120"/>
            <a:ext cx="3054096" cy="457200"/>
          </a:xfrm>
          <a:prstGeom prst="rect">
            <a:avLst/>
          </a:prstGeom>
          <a:noFill/>
          <a:ln/>
        </p:spPr>
        <p:txBody>
          <a:bodyPr wrap="square" lIns="0" tIns="0" rIns="0" bIns="0" rtlCol="0" anchor="t"/>
          <a:lstStyle/>
          <a:p>
            <a:pPr indent="0" marL="0">
              <a:buNone/>
            </a:pPr>
            <a:r>
              <a:rPr lang="en-US" sz="1200" b="1" dirty="0">
                <a:solidFill>
                  <a:schemeClr val="accent1"/>
                </a:solidFill>
              </a:rPr>
              <a:t>Output: </a:t>
            </a:r>
            <a:pPr indent="0" marL="0">
              <a:buNone/>
            </a:pPr>
            <a:r>
              <a:rPr lang="en-US" sz="1200" dirty="0">
                <a:solidFill>
                  <a:schemeClr val="bg1"/>
                </a:solidFill>
              </a:rPr>
              <a:t>Dashboard and monthly insights report</a:t>
            </a:r>
            <a:endParaRPr lang="en-US" sz="12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731520"/>
          </a:xfrm>
          <a:prstGeom prst="rect">
            <a:avLst/>
          </a:prstGeom>
          <a:noFill/>
          <a:ln/>
        </p:spPr>
        <p:txBody>
          <a:bodyPr wrap="square" lIns="0" tIns="0" rIns="0" bIns="0" rtlCol="0" anchor="ctr"/>
          <a:lstStyle/>
          <a:p>
            <a:pPr algn="l" indent="0" marL="0">
              <a:buNone/>
            </a:pPr>
            <a:r>
              <a:rPr lang="en-US" sz="3600" b="1" dirty="0">
                <a:solidFill>
                  <a:schemeClr val="bg1"/>
                </a:solidFill>
              </a:rPr>
              <a:t>My creative capabilities</a:t>
            </a:r>
            <a:endParaRPr lang="en-US" sz="3600" dirty="0"/>
          </a:p>
        </p:txBody>
      </p:sp>
      <p:sp>
        <p:nvSpPr>
          <p:cNvPr id="3" name="Creative Photography"/>
          <p:cNvSpPr/>
          <p:nvPr/>
        </p:nvSpPr>
        <p:spPr>
          <a:xfrm>
            <a:off x="548640" y="1325880"/>
            <a:ext cx="2108606" cy="4114800"/>
          </a:xfrm>
          <a:prstGeom prst="roundRect">
            <a:avLst>
              <a:gd name="adj" fmla="val 3469"/>
            </a:avLst>
          </a:prstGeom>
          <a:solidFill>
            <a:schemeClr val="tx2"/>
          </a:solidFill>
          <a:ln w="9525">
            <a:solidFill>
              <a:schemeClr val="bg2"/>
            </a:solidFill>
            <a:prstDash val="solid"/>
          </a:ln>
        </p:spPr>
      </p:sp>
      <p:sp>
        <p:nvSpPr>
          <p:cNvPr id="4" name="Text 2"/>
          <p:cNvSpPr txBox="1"/>
          <p:nvPr/>
        </p:nvSpPr>
        <p:spPr>
          <a:xfrm>
            <a:off x="731520" y="1508760"/>
            <a:ext cx="1742846" cy="594360"/>
          </a:xfrm>
          <a:prstGeom prst="rect">
            <a:avLst/>
          </a:prstGeom>
          <a:noFill/>
          <a:ln/>
        </p:spPr>
        <p:txBody>
          <a:bodyPr wrap="square" lIns="0" tIns="0" rIns="0" bIns="0" rtlCol="0" anchor="t"/>
          <a:lstStyle/>
          <a:p>
            <a:pPr indent="0" marL="0">
              <a:buNone/>
            </a:pPr>
            <a:r>
              <a:rPr lang="en-US" sz="1800" b="1" dirty="0">
                <a:solidFill>
                  <a:schemeClr val="accent1"/>
                </a:solidFill>
                <a:latin typeface="Cambria" pitchFamily="34" charset="0"/>
                <a:ea typeface="Cambria" pitchFamily="34" charset="-122"/>
                <a:cs typeface="Cambria" pitchFamily="34" charset="-120"/>
              </a:rPr>
              <a:t>Photography</a:t>
            </a:r>
            <a:endParaRPr lang="en-US" sz="1800" dirty="0"/>
          </a:p>
        </p:txBody>
      </p:sp>
      <p:sp>
        <p:nvSpPr>
          <p:cNvPr id="5" name="Text 3"/>
          <p:cNvSpPr txBox="1"/>
          <p:nvPr/>
        </p:nvSpPr>
        <p:spPr>
          <a:xfrm>
            <a:off x="731520" y="2194560"/>
            <a:ext cx="1742846" cy="228600"/>
          </a:xfrm>
          <a:prstGeom prst="rect">
            <a:avLst/>
          </a:prstGeom>
          <a:noFill/>
          <a:ln/>
        </p:spPr>
        <p:txBody>
          <a:bodyPr wrap="square" lIns="0" tIns="0" rIns="0" bIns="0" rtlCol="0" anchor="t"/>
          <a:lstStyle/>
          <a:p>
            <a:pPr indent="0" marL="0">
              <a:buNone/>
            </a:pPr>
            <a:r>
              <a:rPr lang="en-US" sz="1200" b="1" spc="100" kern="0" dirty="0">
                <a:solidFill>
                  <a:schemeClr val="accent2"/>
                </a:solidFill>
              </a:rPr>
              <a:t>WHAT I PRODUCE</a:t>
            </a:r>
            <a:endParaRPr lang="en-US" sz="1200" dirty="0"/>
          </a:p>
        </p:txBody>
      </p:sp>
      <p:sp>
        <p:nvSpPr>
          <p:cNvPr id="6" name="Text 4"/>
          <p:cNvSpPr txBox="1"/>
          <p:nvPr/>
        </p:nvSpPr>
        <p:spPr>
          <a:xfrm>
            <a:off x="731520" y="2468880"/>
            <a:ext cx="1742846" cy="1737360"/>
          </a:xfrm>
          <a:prstGeom prst="rect">
            <a:avLst/>
          </a:prstGeom>
          <a:noFill/>
          <a:ln/>
        </p:spPr>
        <p:txBody>
          <a:bodyPr wrap="square" lIns="0" tIns="0" rIns="0" bIns="0" rtlCol="0" anchor="t"/>
          <a:lstStyle/>
          <a:p>
            <a:pPr indent="0" marL="0">
              <a:buNone/>
            </a:pPr>
            <a:r>
              <a:rPr lang="en-US" sz="1400" dirty="0">
                <a:solidFill>
                  <a:schemeClr val="bg1"/>
                </a:solidFill>
              </a:rPr>
              <a:t>Township and resort photo sets: golden-hour lawns, amenity details, guest moments, site progress.</a:t>
            </a:r>
            <a:endParaRPr lang="en-US" sz="1400" dirty="0"/>
          </a:p>
        </p:txBody>
      </p:sp>
      <p:sp>
        <p:nvSpPr>
          <p:cNvPr id="7" name="Text 5"/>
          <p:cNvSpPr txBox="1"/>
          <p:nvPr/>
        </p:nvSpPr>
        <p:spPr>
          <a:xfrm>
            <a:off x="731520" y="4297680"/>
            <a:ext cx="1742846" cy="1051560"/>
          </a:xfrm>
          <a:prstGeom prst="rect">
            <a:avLst/>
          </a:prstGeom>
          <a:noFill/>
          <a:ln/>
        </p:spPr>
        <p:txBody>
          <a:bodyPr wrap="square" lIns="0" tIns="0" rIns="0" bIns="0" rtlCol="0" anchor="t"/>
          <a:lstStyle/>
          <a:p>
            <a:pPr indent="0" marL="0">
              <a:buNone/>
            </a:pPr>
            <a:r>
              <a:rPr lang="en-US" sz="1200" i="1" dirty="0">
                <a:solidFill>
                  <a:schemeClr val="accent3"/>
                </a:solidFill>
              </a:rPr>
              <a:t>Builds trust and desire at the consideration stage.</a:t>
            </a:r>
            <a:endParaRPr lang="en-US" sz="1200" dirty="0"/>
          </a:p>
        </p:txBody>
      </p:sp>
      <p:sp>
        <p:nvSpPr>
          <p:cNvPr id="8" name="Creative Video editing"/>
          <p:cNvSpPr/>
          <p:nvPr/>
        </p:nvSpPr>
        <p:spPr>
          <a:xfrm>
            <a:off x="2794406" y="1325880"/>
            <a:ext cx="2108606" cy="4114800"/>
          </a:xfrm>
          <a:prstGeom prst="roundRect">
            <a:avLst>
              <a:gd name="adj" fmla="val 3469"/>
            </a:avLst>
          </a:prstGeom>
          <a:solidFill>
            <a:schemeClr val="tx2"/>
          </a:solidFill>
          <a:ln w="9525">
            <a:solidFill>
              <a:schemeClr val="bg2"/>
            </a:solidFill>
            <a:prstDash val="solid"/>
          </a:ln>
        </p:spPr>
      </p:sp>
      <p:sp>
        <p:nvSpPr>
          <p:cNvPr id="9" name="Text 7"/>
          <p:cNvSpPr txBox="1"/>
          <p:nvPr/>
        </p:nvSpPr>
        <p:spPr>
          <a:xfrm>
            <a:off x="2977286" y="1508760"/>
            <a:ext cx="1742846" cy="594360"/>
          </a:xfrm>
          <a:prstGeom prst="rect">
            <a:avLst/>
          </a:prstGeom>
          <a:noFill/>
          <a:ln/>
        </p:spPr>
        <p:txBody>
          <a:bodyPr wrap="square" lIns="0" tIns="0" rIns="0" bIns="0" rtlCol="0" anchor="t"/>
          <a:lstStyle/>
          <a:p>
            <a:pPr indent="0" marL="0">
              <a:buNone/>
            </a:pPr>
            <a:r>
              <a:rPr lang="en-US" sz="1800" b="1" dirty="0">
                <a:solidFill>
                  <a:schemeClr val="accent1"/>
                </a:solidFill>
                <a:latin typeface="Cambria" pitchFamily="34" charset="0"/>
                <a:ea typeface="Cambria" pitchFamily="34" charset="-122"/>
                <a:cs typeface="Cambria" pitchFamily="34" charset="-120"/>
              </a:rPr>
              <a:t>Video editing</a:t>
            </a:r>
            <a:endParaRPr lang="en-US" sz="1800" dirty="0"/>
          </a:p>
        </p:txBody>
      </p:sp>
      <p:sp>
        <p:nvSpPr>
          <p:cNvPr id="10" name="Text 8"/>
          <p:cNvSpPr txBox="1"/>
          <p:nvPr/>
        </p:nvSpPr>
        <p:spPr>
          <a:xfrm>
            <a:off x="2977286" y="2194560"/>
            <a:ext cx="1742846" cy="228600"/>
          </a:xfrm>
          <a:prstGeom prst="rect">
            <a:avLst/>
          </a:prstGeom>
          <a:noFill/>
          <a:ln/>
        </p:spPr>
        <p:txBody>
          <a:bodyPr wrap="square" lIns="0" tIns="0" rIns="0" bIns="0" rtlCol="0" anchor="t"/>
          <a:lstStyle/>
          <a:p>
            <a:pPr indent="0" marL="0">
              <a:buNone/>
            </a:pPr>
            <a:r>
              <a:rPr lang="en-US" sz="1200" b="1" spc="100" kern="0" dirty="0">
                <a:solidFill>
                  <a:schemeClr val="accent2"/>
                </a:solidFill>
              </a:rPr>
              <a:t>WHAT I PRODUCE</a:t>
            </a:r>
            <a:endParaRPr lang="en-US" sz="1200" dirty="0"/>
          </a:p>
        </p:txBody>
      </p:sp>
      <p:sp>
        <p:nvSpPr>
          <p:cNvPr id="11" name="Text 9"/>
          <p:cNvSpPr txBox="1"/>
          <p:nvPr/>
        </p:nvSpPr>
        <p:spPr>
          <a:xfrm>
            <a:off x="2977286" y="2468880"/>
            <a:ext cx="1742846" cy="1737360"/>
          </a:xfrm>
          <a:prstGeom prst="rect">
            <a:avLst/>
          </a:prstGeom>
          <a:noFill/>
          <a:ln/>
        </p:spPr>
        <p:txBody>
          <a:bodyPr wrap="square" lIns="0" tIns="0" rIns="0" bIns="0" rtlCol="0" anchor="t"/>
          <a:lstStyle/>
          <a:p>
            <a:pPr indent="0" marL="0">
              <a:buNone/>
            </a:pPr>
            <a:r>
              <a:rPr lang="en-US" sz="1400" dirty="0">
                <a:solidFill>
                  <a:schemeClr val="bg1"/>
                </a:solidFill>
              </a:rPr>
              <a:t>Reels, Shorts and walk-through cuts with captions, a strong first two seconds and a clear end card.</a:t>
            </a:r>
            <a:endParaRPr lang="en-US" sz="1400" dirty="0"/>
          </a:p>
        </p:txBody>
      </p:sp>
      <p:sp>
        <p:nvSpPr>
          <p:cNvPr id="12" name="Text 10"/>
          <p:cNvSpPr txBox="1"/>
          <p:nvPr/>
        </p:nvSpPr>
        <p:spPr>
          <a:xfrm>
            <a:off x="2977286" y="4297680"/>
            <a:ext cx="1742846" cy="1051560"/>
          </a:xfrm>
          <a:prstGeom prst="rect">
            <a:avLst/>
          </a:prstGeom>
          <a:noFill/>
          <a:ln/>
        </p:spPr>
        <p:txBody>
          <a:bodyPr wrap="square" lIns="0" tIns="0" rIns="0" bIns="0" rtlCol="0" anchor="t"/>
          <a:lstStyle/>
          <a:p>
            <a:pPr indent="0" marL="0">
              <a:buNone/>
            </a:pPr>
            <a:r>
              <a:rPr lang="en-US" sz="1200" i="1" dirty="0">
                <a:solidFill>
                  <a:schemeClr val="accent3"/>
                </a:solidFill>
              </a:rPr>
              <a:t>Earns attention and reach in target cities.</a:t>
            </a:r>
            <a:endParaRPr lang="en-US" sz="1200" dirty="0"/>
          </a:p>
        </p:txBody>
      </p:sp>
      <p:sp>
        <p:nvSpPr>
          <p:cNvPr id="13" name="Creative Content planning"/>
          <p:cNvSpPr/>
          <p:nvPr/>
        </p:nvSpPr>
        <p:spPr>
          <a:xfrm>
            <a:off x="5040173" y="1325880"/>
            <a:ext cx="2108606" cy="4114800"/>
          </a:xfrm>
          <a:prstGeom prst="roundRect">
            <a:avLst>
              <a:gd name="adj" fmla="val 3469"/>
            </a:avLst>
          </a:prstGeom>
          <a:solidFill>
            <a:schemeClr val="tx2"/>
          </a:solidFill>
          <a:ln w="9525">
            <a:solidFill>
              <a:schemeClr val="bg2"/>
            </a:solidFill>
            <a:prstDash val="solid"/>
          </a:ln>
        </p:spPr>
      </p:sp>
      <p:sp>
        <p:nvSpPr>
          <p:cNvPr id="14" name="Text 12"/>
          <p:cNvSpPr txBox="1"/>
          <p:nvPr/>
        </p:nvSpPr>
        <p:spPr>
          <a:xfrm>
            <a:off x="5223053" y="1508760"/>
            <a:ext cx="1742846" cy="594360"/>
          </a:xfrm>
          <a:prstGeom prst="rect">
            <a:avLst/>
          </a:prstGeom>
          <a:noFill/>
          <a:ln/>
        </p:spPr>
        <p:txBody>
          <a:bodyPr wrap="square" lIns="0" tIns="0" rIns="0" bIns="0" rtlCol="0" anchor="t"/>
          <a:lstStyle/>
          <a:p>
            <a:pPr indent="0" marL="0">
              <a:buNone/>
            </a:pPr>
            <a:r>
              <a:rPr lang="en-US" sz="1800" b="1" dirty="0">
                <a:solidFill>
                  <a:schemeClr val="accent1"/>
                </a:solidFill>
                <a:latin typeface="Cambria" pitchFamily="34" charset="0"/>
                <a:ea typeface="Cambria" pitchFamily="34" charset="-122"/>
                <a:cs typeface="Cambria" pitchFamily="34" charset="-120"/>
              </a:rPr>
              <a:t>Content planning</a:t>
            </a:r>
            <a:endParaRPr lang="en-US" sz="1800" dirty="0"/>
          </a:p>
        </p:txBody>
      </p:sp>
      <p:sp>
        <p:nvSpPr>
          <p:cNvPr id="15" name="Text 13"/>
          <p:cNvSpPr txBox="1"/>
          <p:nvPr/>
        </p:nvSpPr>
        <p:spPr>
          <a:xfrm>
            <a:off x="5223053" y="2194560"/>
            <a:ext cx="1742846" cy="228600"/>
          </a:xfrm>
          <a:prstGeom prst="rect">
            <a:avLst/>
          </a:prstGeom>
          <a:noFill/>
          <a:ln/>
        </p:spPr>
        <p:txBody>
          <a:bodyPr wrap="square" lIns="0" tIns="0" rIns="0" bIns="0" rtlCol="0" anchor="t"/>
          <a:lstStyle/>
          <a:p>
            <a:pPr indent="0" marL="0">
              <a:buNone/>
            </a:pPr>
            <a:r>
              <a:rPr lang="en-US" sz="1200" b="1" spc="100" kern="0" dirty="0">
                <a:solidFill>
                  <a:schemeClr val="accent2"/>
                </a:solidFill>
              </a:rPr>
              <a:t>WHAT I PRODUCE</a:t>
            </a:r>
            <a:endParaRPr lang="en-US" sz="1200" dirty="0"/>
          </a:p>
        </p:txBody>
      </p:sp>
      <p:sp>
        <p:nvSpPr>
          <p:cNvPr id="16" name="Text 14"/>
          <p:cNvSpPr txBox="1"/>
          <p:nvPr/>
        </p:nvSpPr>
        <p:spPr>
          <a:xfrm>
            <a:off x="5223053" y="2468880"/>
            <a:ext cx="1742846" cy="1737360"/>
          </a:xfrm>
          <a:prstGeom prst="rect">
            <a:avLst/>
          </a:prstGeom>
          <a:noFill/>
          <a:ln/>
        </p:spPr>
        <p:txBody>
          <a:bodyPr wrap="square" lIns="0" tIns="0" rIns="0" bIns="0" rtlCol="0" anchor="t"/>
          <a:lstStyle/>
          <a:p>
            <a:pPr indent="0" marL="0">
              <a:buNone/>
            </a:pPr>
            <a:r>
              <a:rPr lang="en-US" sz="1400" dirty="0">
                <a:solidFill>
                  <a:schemeClr val="bg1"/>
                </a:solidFill>
              </a:rPr>
              <a:t>A monthly calendar by pillar, channel and funnel stage, adjusted by what the data shows.</a:t>
            </a:r>
            <a:endParaRPr lang="en-US" sz="1400" dirty="0"/>
          </a:p>
        </p:txBody>
      </p:sp>
      <p:sp>
        <p:nvSpPr>
          <p:cNvPr id="17" name="Text 15"/>
          <p:cNvSpPr txBox="1"/>
          <p:nvPr/>
        </p:nvSpPr>
        <p:spPr>
          <a:xfrm>
            <a:off x="5223053" y="4297680"/>
            <a:ext cx="1742846" cy="1051560"/>
          </a:xfrm>
          <a:prstGeom prst="rect">
            <a:avLst/>
          </a:prstGeom>
          <a:noFill/>
          <a:ln/>
        </p:spPr>
        <p:txBody>
          <a:bodyPr wrap="square" lIns="0" tIns="0" rIns="0" bIns="0" rtlCol="0" anchor="t"/>
          <a:lstStyle/>
          <a:p>
            <a:pPr indent="0" marL="0">
              <a:buNone/>
            </a:pPr>
            <a:r>
              <a:rPr lang="en-US" sz="1200" i="1" dirty="0">
                <a:solidFill>
                  <a:schemeClr val="accent3"/>
                </a:solidFill>
              </a:rPr>
              <a:t>Keeps the feed consistent and every post purposeful.</a:t>
            </a:r>
            <a:endParaRPr lang="en-US" sz="1200" dirty="0"/>
          </a:p>
        </p:txBody>
      </p:sp>
      <p:sp>
        <p:nvSpPr>
          <p:cNvPr id="18" name="Creative Creative briefs"/>
          <p:cNvSpPr/>
          <p:nvPr/>
        </p:nvSpPr>
        <p:spPr>
          <a:xfrm>
            <a:off x="7285939" y="1325880"/>
            <a:ext cx="2108606" cy="4114800"/>
          </a:xfrm>
          <a:prstGeom prst="roundRect">
            <a:avLst>
              <a:gd name="adj" fmla="val 3469"/>
            </a:avLst>
          </a:prstGeom>
          <a:solidFill>
            <a:schemeClr val="tx2"/>
          </a:solidFill>
          <a:ln w="9525">
            <a:solidFill>
              <a:schemeClr val="bg2"/>
            </a:solidFill>
            <a:prstDash val="solid"/>
          </a:ln>
        </p:spPr>
      </p:sp>
      <p:sp>
        <p:nvSpPr>
          <p:cNvPr id="19" name="Text 17"/>
          <p:cNvSpPr txBox="1"/>
          <p:nvPr/>
        </p:nvSpPr>
        <p:spPr>
          <a:xfrm>
            <a:off x="7468819" y="1508760"/>
            <a:ext cx="1742846" cy="594360"/>
          </a:xfrm>
          <a:prstGeom prst="rect">
            <a:avLst/>
          </a:prstGeom>
          <a:noFill/>
          <a:ln/>
        </p:spPr>
        <p:txBody>
          <a:bodyPr wrap="square" lIns="0" tIns="0" rIns="0" bIns="0" rtlCol="0" anchor="t"/>
          <a:lstStyle/>
          <a:p>
            <a:pPr indent="0" marL="0">
              <a:buNone/>
            </a:pPr>
            <a:r>
              <a:rPr lang="en-US" sz="1800" b="1" dirty="0">
                <a:solidFill>
                  <a:schemeClr val="accent1"/>
                </a:solidFill>
                <a:latin typeface="Cambria" pitchFamily="34" charset="0"/>
                <a:ea typeface="Cambria" pitchFamily="34" charset="-122"/>
                <a:cs typeface="Cambria" pitchFamily="34" charset="-120"/>
              </a:rPr>
              <a:t>Creative briefs</a:t>
            </a:r>
            <a:endParaRPr lang="en-US" sz="1800" dirty="0"/>
          </a:p>
        </p:txBody>
      </p:sp>
      <p:sp>
        <p:nvSpPr>
          <p:cNvPr id="20" name="Text 18"/>
          <p:cNvSpPr txBox="1"/>
          <p:nvPr/>
        </p:nvSpPr>
        <p:spPr>
          <a:xfrm>
            <a:off x="7468819" y="2194560"/>
            <a:ext cx="1742846" cy="228600"/>
          </a:xfrm>
          <a:prstGeom prst="rect">
            <a:avLst/>
          </a:prstGeom>
          <a:noFill/>
          <a:ln/>
        </p:spPr>
        <p:txBody>
          <a:bodyPr wrap="square" lIns="0" tIns="0" rIns="0" bIns="0" rtlCol="0" anchor="t"/>
          <a:lstStyle/>
          <a:p>
            <a:pPr indent="0" marL="0">
              <a:buNone/>
            </a:pPr>
            <a:r>
              <a:rPr lang="en-US" sz="1200" b="1" spc="100" kern="0" dirty="0">
                <a:solidFill>
                  <a:schemeClr val="accent2"/>
                </a:solidFill>
              </a:rPr>
              <a:t>WHAT I PRODUCE</a:t>
            </a:r>
            <a:endParaRPr lang="en-US" sz="1200" dirty="0"/>
          </a:p>
        </p:txBody>
      </p:sp>
      <p:sp>
        <p:nvSpPr>
          <p:cNvPr id="21" name="Text 19"/>
          <p:cNvSpPr txBox="1"/>
          <p:nvPr/>
        </p:nvSpPr>
        <p:spPr>
          <a:xfrm>
            <a:off x="7468819" y="2468880"/>
            <a:ext cx="1742846" cy="1737360"/>
          </a:xfrm>
          <a:prstGeom prst="rect">
            <a:avLst/>
          </a:prstGeom>
          <a:noFill/>
          <a:ln/>
        </p:spPr>
        <p:txBody>
          <a:bodyPr wrap="square" lIns="0" tIns="0" rIns="0" bIns="0" rtlCol="0" anchor="t"/>
          <a:lstStyle/>
          <a:p>
            <a:pPr indent="0" marL="0">
              <a:buNone/>
            </a:pPr>
            <a:r>
              <a:rPr lang="en-US" sz="1400" dirty="0">
                <a:solidFill>
                  <a:schemeClr val="bg1"/>
                </a:solidFill>
              </a:rPr>
              <a:t>A one-page brief per shoot or campaign: objective, audience, shot list, message and call to action.</a:t>
            </a:r>
            <a:endParaRPr lang="en-US" sz="1400" dirty="0"/>
          </a:p>
        </p:txBody>
      </p:sp>
      <p:sp>
        <p:nvSpPr>
          <p:cNvPr id="22" name="Text 20"/>
          <p:cNvSpPr txBox="1"/>
          <p:nvPr/>
        </p:nvSpPr>
        <p:spPr>
          <a:xfrm>
            <a:off x="7468819" y="4297680"/>
            <a:ext cx="1742846" cy="1051560"/>
          </a:xfrm>
          <a:prstGeom prst="rect">
            <a:avLst/>
          </a:prstGeom>
          <a:noFill/>
          <a:ln/>
        </p:spPr>
        <p:txBody>
          <a:bodyPr wrap="square" lIns="0" tIns="0" rIns="0" bIns="0" rtlCol="0" anchor="t"/>
          <a:lstStyle/>
          <a:p>
            <a:pPr indent="0" marL="0">
              <a:buNone/>
            </a:pPr>
            <a:r>
              <a:rPr lang="en-US" sz="1200" i="1" dirty="0">
                <a:solidFill>
                  <a:schemeClr val="accent3"/>
                </a:solidFill>
              </a:rPr>
              <a:t>Aligns creators, sales and leadership before work starts.</a:t>
            </a:r>
            <a:endParaRPr lang="en-US" sz="1200" dirty="0"/>
          </a:p>
        </p:txBody>
      </p:sp>
      <p:sp>
        <p:nvSpPr>
          <p:cNvPr id="23" name="Creative Execution"/>
          <p:cNvSpPr/>
          <p:nvPr/>
        </p:nvSpPr>
        <p:spPr>
          <a:xfrm>
            <a:off x="9531706" y="1325880"/>
            <a:ext cx="2108606" cy="4114800"/>
          </a:xfrm>
          <a:prstGeom prst="roundRect">
            <a:avLst>
              <a:gd name="adj" fmla="val 3469"/>
            </a:avLst>
          </a:prstGeom>
          <a:solidFill>
            <a:schemeClr val="tx2"/>
          </a:solidFill>
          <a:ln w="9525">
            <a:solidFill>
              <a:schemeClr val="bg2"/>
            </a:solidFill>
            <a:prstDash val="solid"/>
          </a:ln>
        </p:spPr>
      </p:sp>
      <p:sp>
        <p:nvSpPr>
          <p:cNvPr id="24" name="Text 22"/>
          <p:cNvSpPr txBox="1"/>
          <p:nvPr/>
        </p:nvSpPr>
        <p:spPr>
          <a:xfrm>
            <a:off x="9714586" y="1508760"/>
            <a:ext cx="1742846" cy="594360"/>
          </a:xfrm>
          <a:prstGeom prst="rect">
            <a:avLst/>
          </a:prstGeom>
          <a:noFill/>
          <a:ln/>
        </p:spPr>
        <p:txBody>
          <a:bodyPr wrap="square" lIns="0" tIns="0" rIns="0" bIns="0" rtlCol="0" anchor="t"/>
          <a:lstStyle/>
          <a:p>
            <a:pPr indent="0" marL="0">
              <a:buNone/>
            </a:pPr>
            <a:r>
              <a:rPr lang="en-US" sz="1800" b="1" dirty="0">
                <a:solidFill>
                  <a:schemeClr val="accent1"/>
                </a:solidFill>
                <a:latin typeface="Cambria" pitchFamily="34" charset="0"/>
                <a:ea typeface="Cambria" pitchFamily="34" charset="-122"/>
                <a:cs typeface="Cambria" pitchFamily="34" charset="-120"/>
              </a:rPr>
              <a:t>Execution</a:t>
            </a:r>
            <a:endParaRPr lang="en-US" sz="1800" dirty="0"/>
          </a:p>
        </p:txBody>
      </p:sp>
      <p:sp>
        <p:nvSpPr>
          <p:cNvPr id="25" name="Text 23"/>
          <p:cNvSpPr txBox="1"/>
          <p:nvPr/>
        </p:nvSpPr>
        <p:spPr>
          <a:xfrm>
            <a:off x="9714586" y="2194560"/>
            <a:ext cx="1742846" cy="228600"/>
          </a:xfrm>
          <a:prstGeom prst="rect">
            <a:avLst/>
          </a:prstGeom>
          <a:noFill/>
          <a:ln/>
        </p:spPr>
        <p:txBody>
          <a:bodyPr wrap="square" lIns="0" tIns="0" rIns="0" bIns="0" rtlCol="0" anchor="t"/>
          <a:lstStyle/>
          <a:p>
            <a:pPr indent="0" marL="0">
              <a:buNone/>
            </a:pPr>
            <a:r>
              <a:rPr lang="en-US" sz="1200" b="1" spc="100" kern="0" dirty="0">
                <a:solidFill>
                  <a:schemeClr val="accent2"/>
                </a:solidFill>
              </a:rPr>
              <a:t>WHAT I PRODUCE</a:t>
            </a:r>
            <a:endParaRPr lang="en-US" sz="1200" dirty="0"/>
          </a:p>
        </p:txBody>
      </p:sp>
      <p:sp>
        <p:nvSpPr>
          <p:cNvPr id="26" name="Text 24"/>
          <p:cNvSpPr txBox="1"/>
          <p:nvPr/>
        </p:nvSpPr>
        <p:spPr>
          <a:xfrm>
            <a:off x="9714586" y="2468880"/>
            <a:ext cx="1742846" cy="1737360"/>
          </a:xfrm>
          <a:prstGeom prst="rect">
            <a:avLst/>
          </a:prstGeom>
          <a:noFill/>
          <a:ln/>
        </p:spPr>
        <p:txBody>
          <a:bodyPr wrap="square" lIns="0" tIns="0" rIns="0" bIns="0" rtlCol="0" anchor="t"/>
          <a:lstStyle/>
          <a:p>
            <a:pPr indent="0" marL="0">
              <a:buNone/>
            </a:pPr>
            <a:r>
              <a:rPr lang="en-US" sz="1400" dirty="0">
                <a:solidFill>
                  <a:schemeClr val="bg1"/>
                </a:solidFill>
              </a:rPr>
              <a:t>A shoot-to-publish workflow with owners, approvals and deadlines, so delivery is steady.</a:t>
            </a:r>
            <a:endParaRPr lang="en-US" sz="1400" dirty="0"/>
          </a:p>
        </p:txBody>
      </p:sp>
      <p:sp>
        <p:nvSpPr>
          <p:cNvPr id="27" name="Text 25"/>
          <p:cNvSpPr txBox="1"/>
          <p:nvPr/>
        </p:nvSpPr>
        <p:spPr>
          <a:xfrm>
            <a:off x="9714586" y="4297680"/>
            <a:ext cx="1742846" cy="1051560"/>
          </a:xfrm>
          <a:prstGeom prst="rect">
            <a:avLst/>
          </a:prstGeom>
          <a:noFill/>
          <a:ln/>
        </p:spPr>
        <p:txBody>
          <a:bodyPr wrap="square" lIns="0" tIns="0" rIns="0" bIns="0" rtlCol="0" anchor="t"/>
          <a:lstStyle/>
          <a:p>
            <a:pPr indent="0" marL="0">
              <a:buNone/>
            </a:pPr>
            <a:r>
              <a:rPr lang="en-US" sz="1200" i="1" dirty="0">
                <a:solidFill>
                  <a:schemeClr val="accent3"/>
                </a:solidFill>
              </a:rPr>
              <a:t>Turns ideas into measurable results, week after week.</a:t>
            </a:r>
            <a:endParaRPr lang="en-US" sz="1200" dirty="0"/>
          </a:p>
        </p:txBody>
      </p:sp>
      <p:sp>
        <p:nvSpPr>
          <p:cNvPr id="28" name="Objective strip"/>
          <p:cNvSpPr/>
          <p:nvPr/>
        </p:nvSpPr>
        <p:spPr>
          <a:xfrm>
            <a:off x="548640" y="5623560"/>
            <a:ext cx="11091672" cy="685800"/>
          </a:xfrm>
          <a:prstGeom prst="roundRect">
            <a:avLst>
              <a:gd name="adj" fmla="val 10667"/>
            </a:avLst>
          </a:prstGeom>
          <a:solidFill>
            <a:schemeClr val="accent1"/>
          </a:solidFill>
          <a:ln w="9525">
            <a:solidFill>
              <a:schemeClr val="bg2"/>
            </a:solidFill>
            <a:prstDash val="solid"/>
          </a:ln>
        </p:spPr>
      </p:sp>
      <p:sp>
        <p:nvSpPr>
          <p:cNvPr id="29" name="Text 27"/>
          <p:cNvSpPr txBox="1"/>
          <p:nvPr/>
        </p:nvSpPr>
        <p:spPr>
          <a:xfrm>
            <a:off x="822960" y="5623560"/>
            <a:ext cx="10515600" cy="685800"/>
          </a:xfrm>
          <a:prstGeom prst="rect">
            <a:avLst/>
          </a:prstGeom>
          <a:noFill/>
          <a:ln/>
        </p:spPr>
        <p:txBody>
          <a:bodyPr wrap="square" lIns="0" tIns="0" rIns="0" bIns="0" rtlCol="0" anchor="ctr"/>
          <a:lstStyle/>
          <a:p>
            <a:pPr indent="0" marL="0">
              <a:buNone/>
            </a:pPr>
            <a:r>
              <a:rPr lang="en-US" sz="1600" dirty="0">
                <a:solidFill>
                  <a:schemeClr val="tx1"/>
                </a:solidFill>
                <a:latin typeface="Cambria" pitchFamily="34" charset="0"/>
                <a:ea typeface="Cambria" pitchFamily="34" charset="-122"/>
                <a:cs typeface="Cambria" pitchFamily="34" charset="-120"/>
              </a:rPr>
              <a:t>Every piece is planned against a business goal: awareness, consideration, qualified enquiries and reputation, not likes alone.</a:t>
            </a:r>
            <a:endParaRPr lang="en-US" sz="16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731520"/>
          </a:xfrm>
          <a:prstGeom prst="rect">
            <a:avLst/>
          </a:prstGeom>
          <a:noFill/>
          <a:ln/>
        </p:spPr>
        <p:txBody>
          <a:bodyPr wrap="square" lIns="0" tIns="0" rIns="0" bIns="0" rtlCol="0" anchor="ctr"/>
          <a:lstStyle/>
          <a:p>
            <a:pPr algn="l" indent="0" marL="0">
              <a:buNone/>
            </a:pPr>
            <a:r>
              <a:rPr lang="en-US" sz="3600" b="1" dirty="0">
                <a:solidFill>
                  <a:schemeClr val="bg1"/>
                </a:solidFill>
              </a:rPr>
              <a:t>Understanding Della</a:t>
            </a:r>
            <a:endParaRPr lang="en-US" sz="3600" dirty="0"/>
          </a:p>
        </p:txBody>
      </p:sp>
      <p:sp>
        <p:nvSpPr>
          <p:cNvPr id="3" name="Vertical Della Townships"/>
          <p:cNvSpPr/>
          <p:nvPr/>
        </p:nvSpPr>
        <p:spPr>
          <a:xfrm>
            <a:off x="548640" y="1325880"/>
            <a:ext cx="5486400" cy="2148840"/>
          </a:xfrm>
          <a:prstGeom prst="roundRect">
            <a:avLst>
              <a:gd name="adj" fmla="val 3404"/>
            </a:avLst>
          </a:prstGeom>
          <a:solidFill>
            <a:schemeClr val="tx2"/>
          </a:solidFill>
          <a:ln w="9525">
            <a:solidFill>
              <a:schemeClr val="bg2"/>
            </a:solidFill>
            <a:prstDash val="solid"/>
          </a:ln>
        </p:spPr>
      </p:sp>
      <p:sp>
        <p:nvSpPr>
          <p:cNvPr id="4" name="Text 2"/>
          <p:cNvSpPr txBox="1"/>
          <p:nvPr/>
        </p:nvSpPr>
        <p:spPr>
          <a:xfrm>
            <a:off x="777240" y="1463040"/>
            <a:ext cx="5029200" cy="365760"/>
          </a:xfrm>
          <a:prstGeom prst="rect">
            <a:avLst/>
          </a:prstGeom>
          <a:noFill/>
          <a:ln/>
        </p:spPr>
        <p:txBody>
          <a:bodyPr wrap="square" lIns="0" tIns="0" rIns="0" bIns="0" rtlCol="0" anchor="t"/>
          <a:lstStyle/>
          <a:p>
            <a:pPr indent="0" marL="0">
              <a:buNone/>
            </a:pPr>
            <a:r>
              <a:rPr lang="en-US" sz="2000" b="1" dirty="0">
                <a:solidFill>
                  <a:schemeClr val="accent1"/>
                </a:solidFill>
                <a:latin typeface="Cambria" pitchFamily="34" charset="0"/>
                <a:ea typeface="Cambria" pitchFamily="34" charset="-122"/>
                <a:cs typeface="Cambria" pitchFamily="34" charset="-120"/>
              </a:rPr>
              <a:t>Della Townships</a:t>
            </a:r>
            <a:endParaRPr lang="en-US" sz="2000" dirty="0"/>
          </a:p>
        </p:txBody>
      </p:sp>
      <p:sp>
        <p:nvSpPr>
          <p:cNvPr id="5" name="Text 3"/>
          <p:cNvSpPr txBox="1"/>
          <p:nvPr/>
        </p:nvSpPr>
        <p:spPr>
          <a:xfrm>
            <a:off x="777240" y="1920240"/>
            <a:ext cx="5029200" cy="1463040"/>
          </a:xfrm>
          <a:prstGeom prst="rect">
            <a:avLst/>
          </a:prstGeom>
          <a:noFill/>
          <a:ln/>
        </p:spPr>
        <p:txBody>
          <a:bodyPr wrap="square" lIns="0" tIns="0" rIns="0" bIns="0" rtlCol="0" anchor="t"/>
          <a:lstStyle/>
          <a:p>
            <a:pPr indent="0" marL="0">
              <a:buNone/>
            </a:pPr>
            <a:r>
              <a:rPr lang="en-US" sz="1400" dirty="0">
                <a:solidFill>
                  <a:schemeClr val="bg1"/>
                </a:solidFill>
              </a:rPr>
              <a:t>13 townships being launched across 11 cities, with 9 more upcoming. Themes include Racecourse, International City, Lake Como, European Wellness and Wine City. An asset-light model: landowner partners bring land, Della brings design, marketing and operations.</a:t>
            </a:r>
            <a:endParaRPr lang="en-US" sz="1400" dirty="0"/>
          </a:p>
        </p:txBody>
      </p:sp>
      <p:sp>
        <p:nvSpPr>
          <p:cNvPr id="6" name="Vertical Della Resorts and Adventure"/>
          <p:cNvSpPr/>
          <p:nvPr/>
        </p:nvSpPr>
        <p:spPr>
          <a:xfrm>
            <a:off x="548640" y="3611880"/>
            <a:ext cx="5486400" cy="2148840"/>
          </a:xfrm>
          <a:prstGeom prst="roundRect">
            <a:avLst>
              <a:gd name="adj" fmla="val 3404"/>
            </a:avLst>
          </a:prstGeom>
          <a:solidFill>
            <a:schemeClr val="tx2"/>
          </a:solidFill>
          <a:ln w="9525">
            <a:solidFill>
              <a:schemeClr val="bg2"/>
            </a:solidFill>
            <a:prstDash val="solid"/>
          </a:ln>
        </p:spPr>
      </p:sp>
      <p:sp>
        <p:nvSpPr>
          <p:cNvPr id="7" name="Text 5"/>
          <p:cNvSpPr txBox="1"/>
          <p:nvPr/>
        </p:nvSpPr>
        <p:spPr>
          <a:xfrm>
            <a:off x="777240" y="3749040"/>
            <a:ext cx="5029200" cy="365760"/>
          </a:xfrm>
          <a:prstGeom prst="rect">
            <a:avLst/>
          </a:prstGeom>
          <a:noFill/>
          <a:ln/>
        </p:spPr>
        <p:txBody>
          <a:bodyPr wrap="square" lIns="0" tIns="0" rIns="0" bIns="0" rtlCol="0" anchor="t"/>
          <a:lstStyle/>
          <a:p>
            <a:pPr indent="0" marL="0">
              <a:buNone/>
            </a:pPr>
            <a:r>
              <a:rPr lang="en-US" sz="2000" b="1" dirty="0">
                <a:solidFill>
                  <a:schemeClr val="accent1"/>
                </a:solidFill>
                <a:latin typeface="Cambria" pitchFamily="34" charset="0"/>
                <a:ea typeface="Cambria" pitchFamily="34" charset="-122"/>
                <a:cs typeface="Cambria" pitchFamily="34" charset="-120"/>
              </a:rPr>
              <a:t>Della Resorts and Adventure</a:t>
            </a:r>
            <a:endParaRPr lang="en-US" sz="2000" dirty="0"/>
          </a:p>
        </p:txBody>
      </p:sp>
      <p:sp>
        <p:nvSpPr>
          <p:cNvPr id="8" name="Text 6"/>
          <p:cNvSpPr txBox="1"/>
          <p:nvPr/>
        </p:nvSpPr>
        <p:spPr>
          <a:xfrm>
            <a:off x="777240" y="4206240"/>
            <a:ext cx="5029200" cy="1463040"/>
          </a:xfrm>
          <a:prstGeom prst="rect">
            <a:avLst/>
          </a:prstGeom>
          <a:noFill/>
          <a:ln/>
        </p:spPr>
        <p:txBody>
          <a:bodyPr wrap="square" lIns="0" tIns="0" rIns="0" bIns="0" rtlCol="0" anchor="t"/>
          <a:lstStyle/>
          <a:p>
            <a:pPr indent="0" marL="0">
              <a:buNone/>
            </a:pPr>
            <a:r>
              <a:rPr lang="en-US" sz="1400" dirty="0">
                <a:solidFill>
                  <a:schemeClr val="bg1"/>
                </a:solidFill>
              </a:rPr>
              <a:t>Lonavala: 168 rooms and villas and an adventure park with 50+ activities on 36 acres. It shows, in the real world, that Della runs great places.</a:t>
            </a:r>
            <a:endParaRPr lang="en-US" sz="1400" dirty="0"/>
          </a:p>
        </p:txBody>
      </p:sp>
      <p:sp>
        <p:nvSpPr>
          <p:cNvPr id="9" name="Positioning card"/>
          <p:cNvSpPr/>
          <p:nvPr/>
        </p:nvSpPr>
        <p:spPr>
          <a:xfrm>
            <a:off x="6263640" y="1325880"/>
            <a:ext cx="5376672" cy="868680"/>
          </a:xfrm>
          <a:prstGeom prst="roundRect">
            <a:avLst>
              <a:gd name="adj" fmla="val 8421"/>
            </a:avLst>
          </a:prstGeom>
          <a:solidFill>
            <a:schemeClr val="bg2"/>
          </a:solidFill>
          <a:ln w="9525">
            <a:solidFill>
              <a:schemeClr val="bg2"/>
            </a:solidFill>
            <a:prstDash val="solid"/>
          </a:ln>
        </p:spPr>
      </p:sp>
      <p:sp>
        <p:nvSpPr>
          <p:cNvPr id="10" name="Text 8"/>
          <p:cNvSpPr txBox="1"/>
          <p:nvPr/>
        </p:nvSpPr>
        <p:spPr>
          <a:xfrm>
            <a:off x="6492240" y="1325880"/>
            <a:ext cx="4937760" cy="868680"/>
          </a:xfrm>
          <a:prstGeom prst="rect">
            <a:avLst/>
          </a:prstGeom>
          <a:noFill/>
          <a:ln/>
        </p:spPr>
        <p:txBody>
          <a:bodyPr wrap="square" lIns="0" tIns="0" rIns="0" bIns="0" rtlCol="0" anchor="ctr"/>
          <a:lstStyle/>
          <a:p>
            <a:pPr indent="0" marL="0">
              <a:buNone/>
            </a:pPr>
            <a:r>
              <a:rPr lang="en-US" sz="1400" b="1" dirty="0">
                <a:solidFill>
                  <a:schemeClr val="accent1"/>
                </a:solidFill>
              </a:rPr>
              <a:t>Positioning: </a:t>
            </a:r>
            <a:pPr indent="0" marL="0">
              <a:buNone/>
            </a:pPr>
            <a:r>
              <a:rPr lang="en-US" sz="1400" dirty="0">
                <a:solidFill>
                  <a:schemeClr val="bg1"/>
                </a:solidFill>
              </a:rPr>
              <a:t>Design-led, themed destinations from a group that already runs great places.</a:t>
            </a:r>
            <a:endParaRPr lang="en-US" sz="1400" dirty="0"/>
          </a:p>
        </p:txBody>
      </p:sp>
      <p:sp>
        <p:nvSpPr>
          <p:cNvPr id="11" name="Audience card"/>
          <p:cNvSpPr/>
          <p:nvPr/>
        </p:nvSpPr>
        <p:spPr>
          <a:xfrm>
            <a:off x="6263640" y="2331720"/>
            <a:ext cx="5376672" cy="1508760"/>
          </a:xfrm>
          <a:prstGeom prst="roundRect">
            <a:avLst>
              <a:gd name="adj" fmla="val 4848"/>
            </a:avLst>
          </a:prstGeom>
          <a:solidFill>
            <a:schemeClr val="tx2"/>
          </a:solidFill>
          <a:ln w="9525">
            <a:solidFill>
              <a:schemeClr val="bg2"/>
            </a:solidFill>
            <a:prstDash val="solid"/>
          </a:ln>
        </p:spPr>
      </p:sp>
      <p:sp>
        <p:nvSpPr>
          <p:cNvPr id="12" name="Text 10"/>
          <p:cNvSpPr txBox="1"/>
          <p:nvPr/>
        </p:nvSpPr>
        <p:spPr>
          <a:xfrm>
            <a:off x="6492240" y="2423160"/>
            <a:ext cx="4937760" cy="274320"/>
          </a:xfrm>
          <a:prstGeom prst="rect">
            <a:avLst/>
          </a:prstGeom>
          <a:noFill/>
          <a:ln/>
        </p:spPr>
        <p:txBody>
          <a:bodyPr wrap="square" lIns="0" tIns="0" rIns="0" bIns="0" rtlCol="0" anchor="t"/>
          <a:lstStyle/>
          <a:p>
            <a:pPr indent="0" marL="0">
              <a:buNone/>
            </a:pPr>
            <a:r>
              <a:rPr lang="en-US" sz="1400" b="1" dirty="0">
                <a:solidFill>
                  <a:schemeClr val="accent1"/>
                </a:solidFill>
              </a:rPr>
              <a:t>Audience groups</a:t>
            </a:r>
            <a:endParaRPr lang="en-US" sz="1400" dirty="0"/>
          </a:p>
        </p:txBody>
      </p:sp>
      <p:sp>
        <p:nvSpPr>
          <p:cNvPr id="13" name="Text 11"/>
          <p:cNvSpPr txBox="1"/>
          <p:nvPr/>
        </p:nvSpPr>
        <p:spPr>
          <a:xfrm>
            <a:off x="6492240" y="2743200"/>
            <a:ext cx="4937760" cy="1051560"/>
          </a:xfrm>
          <a:prstGeom prst="rect">
            <a:avLst/>
          </a:prstGeom>
          <a:noFill/>
          <a:ln/>
        </p:spPr>
        <p:txBody>
          <a:bodyPr wrap="square" lIns="0" tIns="0" rIns="0" bIns="0" rtlCol="0" anchor="t"/>
          <a:lstStyle/>
          <a:p>
            <a:pPr marL="342900" indent="-342900">
              <a:buSzPct val="100000"/>
              <a:buChar char="•"/>
            </a:pPr>
            <a:r>
              <a:rPr lang="en-US" sz="1400" dirty="0">
                <a:solidFill>
                  <a:schemeClr val="bg1"/>
                </a:solidFill>
              </a:rPr>
              <a:t>Home and villa buyers</a:t>
            </a:r>
            <a:endParaRPr lang="en-US" sz="1400" dirty="0"/>
          </a:p>
          <a:p>
            <a:pPr marL="342900" indent="-342900">
              <a:buSzPct val="100000"/>
              <a:buChar char="•"/>
            </a:pPr>
            <a:r>
              <a:rPr lang="en-US" sz="1400" dirty="0">
                <a:solidFill>
                  <a:schemeClr val="bg1"/>
                </a:solidFill>
              </a:rPr>
              <a:t>Investors and NRIs</a:t>
            </a:r>
            <a:endParaRPr lang="en-US" sz="1400" dirty="0"/>
          </a:p>
          <a:p>
            <a:pPr marL="342900" indent="-342900">
              <a:buSzPct val="100000"/>
              <a:buChar char="•"/>
            </a:pPr>
            <a:r>
              <a:rPr lang="en-US" sz="1400" dirty="0">
                <a:solidFill>
                  <a:schemeClr val="bg1"/>
                </a:solidFill>
              </a:rPr>
              <a:t>Landowner partners</a:t>
            </a:r>
            <a:endParaRPr lang="en-US" sz="1400" dirty="0"/>
          </a:p>
          <a:p>
            <a:pPr marL="342900" indent="-342900">
              <a:buSzPct val="100000"/>
              <a:buChar char="•"/>
            </a:pPr>
            <a:r>
              <a:rPr lang="en-US" sz="1400" dirty="0">
                <a:solidFill>
                  <a:schemeClr val="bg1"/>
                </a:solidFill>
              </a:rPr>
              <a:t>Corporates and event planners</a:t>
            </a:r>
            <a:endParaRPr lang="en-US" sz="1400" dirty="0"/>
          </a:p>
          <a:p>
            <a:pPr marL="342900" indent="-342900">
              <a:buSzPct val="100000"/>
              <a:buChar char="•"/>
            </a:pPr>
            <a:r>
              <a:rPr lang="en-US" sz="1400" dirty="0">
                <a:solidFill>
                  <a:schemeClr val="bg1"/>
                </a:solidFill>
              </a:rPr>
              <a:t>Resort and adventure guests</a:t>
            </a:r>
            <a:endParaRPr lang="en-US" sz="1400" dirty="0"/>
          </a:p>
        </p:txBody>
      </p:sp>
      <p:sp>
        <p:nvSpPr>
          <p:cNvPr id="14" name="Hypotheses card"/>
          <p:cNvSpPr/>
          <p:nvPr/>
        </p:nvSpPr>
        <p:spPr>
          <a:xfrm>
            <a:off x="6263640" y="3977640"/>
            <a:ext cx="5376672" cy="1828800"/>
          </a:xfrm>
          <a:prstGeom prst="roundRect">
            <a:avLst>
              <a:gd name="adj" fmla="val 4000"/>
            </a:avLst>
          </a:prstGeom>
          <a:solidFill>
            <a:schemeClr val="bg2"/>
          </a:solidFill>
          <a:ln w="9525">
            <a:solidFill>
              <a:schemeClr val="bg2"/>
            </a:solidFill>
            <a:prstDash val="solid"/>
          </a:ln>
        </p:spPr>
      </p:sp>
      <p:sp>
        <p:nvSpPr>
          <p:cNvPr id="15" name="Text 13"/>
          <p:cNvSpPr txBox="1"/>
          <p:nvPr/>
        </p:nvSpPr>
        <p:spPr>
          <a:xfrm>
            <a:off x="6492240" y="4069080"/>
            <a:ext cx="4937760" cy="274320"/>
          </a:xfrm>
          <a:prstGeom prst="rect">
            <a:avLst/>
          </a:prstGeom>
          <a:noFill/>
          <a:ln/>
        </p:spPr>
        <p:txBody>
          <a:bodyPr wrap="square" lIns="0" tIns="0" rIns="0" bIns="0" rtlCol="0" anchor="t"/>
          <a:lstStyle/>
          <a:p>
            <a:pPr indent="0" marL="0">
              <a:buNone/>
            </a:pPr>
            <a:r>
              <a:rPr lang="en-US" sz="1400" b="1" dirty="0">
                <a:solidFill>
                  <a:schemeClr val="accent1"/>
                </a:solidFill>
              </a:rPr>
              <a:t>Social observations to test in week one</a:t>
            </a:r>
            <a:endParaRPr lang="en-US" sz="1400" dirty="0"/>
          </a:p>
        </p:txBody>
      </p:sp>
      <p:sp>
        <p:nvSpPr>
          <p:cNvPr id="16" name="Text 14"/>
          <p:cNvSpPr txBox="1"/>
          <p:nvPr/>
        </p:nvSpPr>
        <p:spPr>
          <a:xfrm>
            <a:off x="6492240" y="4389120"/>
            <a:ext cx="4937760" cy="1371600"/>
          </a:xfrm>
          <a:prstGeom prst="rect">
            <a:avLst/>
          </a:prstGeom>
          <a:noFill/>
          <a:ln/>
        </p:spPr>
        <p:txBody>
          <a:bodyPr wrap="square" lIns="0" tIns="0" rIns="0" bIns="0" rtlCol="0" anchor="t"/>
          <a:lstStyle/>
          <a:p>
            <a:pPr marL="342900" indent="-342900">
              <a:spcAft>
                <a:spcPts val="500"/>
              </a:spcAft>
              <a:buSzPct val="100000"/>
              <a:buChar char="•"/>
            </a:pPr>
            <a:r>
              <a:rPr lang="en-US" sz="1400" dirty="0">
                <a:solidFill>
                  <a:schemeClr val="bg1"/>
                </a:solidFill>
              </a:rPr>
              <a:t>Township stories should feel as vivid as the resort stories</a:t>
            </a:r>
            <a:endParaRPr lang="en-US" sz="1400" dirty="0"/>
          </a:p>
          <a:p>
            <a:pPr marL="342900" indent="-342900">
              <a:spcAft>
                <a:spcPts val="500"/>
              </a:spcAft>
              <a:buSzPct val="100000"/>
              <a:buChar char="•"/>
            </a:pPr>
            <a:r>
              <a:rPr lang="en-US" sz="1400" dirty="0">
                <a:solidFill>
                  <a:schemeClr val="bg1"/>
                </a:solidFill>
              </a:rPr>
              <a:t>Landowner partners need the asset-light model explained in plain words</a:t>
            </a:r>
            <a:endParaRPr lang="en-US" sz="1400" dirty="0"/>
          </a:p>
          <a:p>
            <a:pPr marL="342900" indent="-342900">
              <a:spcAft>
                <a:spcPts val="500"/>
              </a:spcAft>
              <a:buSzPct val="100000"/>
              <a:buChar char="•"/>
            </a:pPr>
            <a:r>
              <a:rPr lang="en-US" sz="1400" dirty="0">
                <a:solidFill>
                  <a:schemeClr val="bg1"/>
                </a:solidFill>
              </a:rPr>
              <a:t>Every post needs a clear next step that can be tracked</a:t>
            </a:r>
            <a:endParaRPr lang="en-US" sz="1400" dirty="0"/>
          </a:p>
        </p:txBody>
      </p:sp>
      <p:sp>
        <p:nvSpPr>
          <p:cNvPr id="17" name="Text 15"/>
          <p:cNvSpPr txBox="1"/>
          <p:nvPr/>
        </p:nvSpPr>
        <p:spPr>
          <a:xfrm>
            <a:off x="548640" y="5943600"/>
            <a:ext cx="11091672" cy="365760"/>
          </a:xfrm>
          <a:prstGeom prst="rect">
            <a:avLst/>
          </a:prstGeom>
          <a:noFill/>
          <a:ln/>
        </p:spPr>
        <p:txBody>
          <a:bodyPr wrap="square" lIns="0" tIns="0" rIns="0" bIns="0" rtlCol="0" anchor="ctr"/>
          <a:lstStyle/>
          <a:p>
            <a:pPr indent="0" marL="0">
              <a:buNone/>
            </a:pPr>
            <a:r>
              <a:rPr lang="en-US" sz="1200" i="1" dirty="0">
                <a:solidFill>
                  <a:schemeClr val="accent3"/>
                </a:solidFill>
              </a:rPr>
              <a:t>Public information only. Follower and engagement data is not visible from outside, so week one starts with an audit.</a:t>
            </a:r>
            <a:endParaRPr lang="en-US" sz="12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731520"/>
          </a:xfrm>
          <a:prstGeom prst="rect">
            <a:avLst/>
          </a:prstGeom>
          <a:noFill/>
          <a:ln/>
        </p:spPr>
        <p:txBody>
          <a:bodyPr wrap="square" lIns="0" tIns="0" rIns="0" bIns="0" rtlCol="0" anchor="ctr"/>
          <a:lstStyle/>
          <a:p>
            <a:pPr algn="l" indent="0" marL="0">
              <a:buNone/>
            </a:pPr>
            <a:r>
              <a:rPr lang="en-US" sz="3600" b="1" dirty="0">
                <a:solidFill>
                  <a:schemeClr val="bg1"/>
                </a:solidFill>
              </a:rPr>
              <a:t>Platform strategy: one job per channel</a:t>
            </a:r>
            <a:endParaRPr lang="en-US" sz="3600" dirty="0"/>
          </a:p>
        </p:txBody>
      </p:sp>
      <p:sp>
        <p:nvSpPr>
          <p:cNvPr id="3" name="Text 1"/>
          <p:cNvSpPr txBox="1"/>
          <p:nvPr/>
        </p:nvSpPr>
        <p:spPr>
          <a:xfrm>
            <a:off x="777240" y="1143000"/>
            <a:ext cx="2560320" cy="228600"/>
          </a:xfrm>
          <a:prstGeom prst="rect">
            <a:avLst/>
          </a:prstGeom>
          <a:noFill/>
          <a:ln/>
        </p:spPr>
        <p:txBody>
          <a:bodyPr wrap="square" lIns="0" tIns="0" rIns="0" bIns="0" rtlCol="0" anchor="t"/>
          <a:lstStyle/>
          <a:p>
            <a:pPr indent="0" marL="0">
              <a:buNone/>
            </a:pPr>
            <a:r>
              <a:rPr lang="en-US" sz="1200" b="1" spc="100" kern="0" dirty="0">
                <a:solidFill>
                  <a:schemeClr val="accent3"/>
                </a:solidFill>
              </a:rPr>
              <a:t>CHANNEL</a:t>
            </a:r>
            <a:endParaRPr lang="en-US" sz="1200" dirty="0"/>
          </a:p>
        </p:txBody>
      </p:sp>
      <p:sp>
        <p:nvSpPr>
          <p:cNvPr id="4" name="Text 2"/>
          <p:cNvSpPr txBox="1"/>
          <p:nvPr/>
        </p:nvSpPr>
        <p:spPr>
          <a:xfrm>
            <a:off x="3200400" y="1143000"/>
            <a:ext cx="2560320" cy="228600"/>
          </a:xfrm>
          <a:prstGeom prst="rect">
            <a:avLst/>
          </a:prstGeom>
          <a:noFill/>
          <a:ln/>
        </p:spPr>
        <p:txBody>
          <a:bodyPr wrap="square" lIns="0" tIns="0" rIns="0" bIns="0" rtlCol="0" anchor="t"/>
          <a:lstStyle/>
          <a:p>
            <a:pPr indent="0" marL="0">
              <a:buNone/>
            </a:pPr>
            <a:r>
              <a:rPr lang="en-US" sz="1200" b="1" spc="100" kern="0" dirty="0">
                <a:solidFill>
                  <a:schemeClr val="accent3"/>
                </a:solidFill>
              </a:rPr>
              <a:t>BUSINESS OBJECTIVE</a:t>
            </a:r>
            <a:endParaRPr lang="en-US" sz="1200" dirty="0"/>
          </a:p>
        </p:txBody>
      </p:sp>
      <p:sp>
        <p:nvSpPr>
          <p:cNvPr id="5" name="Text 3"/>
          <p:cNvSpPr txBox="1"/>
          <p:nvPr/>
        </p:nvSpPr>
        <p:spPr>
          <a:xfrm>
            <a:off x="5943600" y="1143000"/>
            <a:ext cx="2560320" cy="228600"/>
          </a:xfrm>
          <a:prstGeom prst="rect">
            <a:avLst/>
          </a:prstGeom>
          <a:noFill/>
          <a:ln/>
        </p:spPr>
        <p:txBody>
          <a:bodyPr wrap="square" lIns="0" tIns="0" rIns="0" bIns="0" rtlCol="0" anchor="t"/>
          <a:lstStyle/>
          <a:p>
            <a:pPr indent="0" marL="0">
              <a:buNone/>
            </a:pPr>
            <a:r>
              <a:rPr lang="en-US" sz="1200" b="1" spc="100" kern="0" dirty="0">
                <a:solidFill>
                  <a:schemeClr val="accent3"/>
                </a:solidFill>
              </a:rPr>
              <a:t>CONTENT FORMATS</a:t>
            </a:r>
            <a:endParaRPr lang="en-US" sz="1200" dirty="0"/>
          </a:p>
        </p:txBody>
      </p:sp>
      <p:sp>
        <p:nvSpPr>
          <p:cNvPr id="6" name="Text 4"/>
          <p:cNvSpPr txBox="1"/>
          <p:nvPr/>
        </p:nvSpPr>
        <p:spPr>
          <a:xfrm>
            <a:off x="9326880" y="1143000"/>
            <a:ext cx="2560320" cy="228600"/>
          </a:xfrm>
          <a:prstGeom prst="rect">
            <a:avLst/>
          </a:prstGeom>
          <a:noFill/>
          <a:ln/>
        </p:spPr>
        <p:txBody>
          <a:bodyPr wrap="square" lIns="0" tIns="0" rIns="0" bIns="0" rtlCol="0" anchor="t"/>
          <a:lstStyle/>
          <a:p>
            <a:pPr indent="0" marL="0">
              <a:buNone/>
            </a:pPr>
            <a:r>
              <a:rPr lang="en-US" sz="1200" b="1" spc="100" kern="0" dirty="0">
                <a:solidFill>
                  <a:schemeClr val="accent3"/>
                </a:solidFill>
              </a:rPr>
              <a:t>RHYTHM</a:t>
            </a:r>
            <a:endParaRPr lang="en-US" sz="1200" dirty="0"/>
          </a:p>
        </p:txBody>
      </p:sp>
      <p:sp>
        <p:nvSpPr>
          <p:cNvPr id="7" name="Platform Instagram"/>
          <p:cNvSpPr/>
          <p:nvPr/>
        </p:nvSpPr>
        <p:spPr>
          <a:xfrm>
            <a:off x="548640" y="1417320"/>
            <a:ext cx="11091672" cy="777240"/>
          </a:xfrm>
          <a:prstGeom prst="roundRect">
            <a:avLst>
              <a:gd name="adj" fmla="val 9412"/>
            </a:avLst>
          </a:prstGeom>
          <a:solidFill>
            <a:schemeClr val="tx2"/>
          </a:solidFill>
          <a:ln w="9525">
            <a:solidFill>
              <a:schemeClr val="bg2"/>
            </a:solidFill>
            <a:prstDash val="solid"/>
          </a:ln>
        </p:spPr>
      </p:sp>
      <p:sp>
        <p:nvSpPr>
          <p:cNvPr id="8" name="Text 6"/>
          <p:cNvSpPr txBox="1"/>
          <p:nvPr/>
        </p:nvSpPr>
        <p:spPr>
          <a:xfrm>
            <a:off x="777240" y="1508760"/>
            <a:ext cx="2286000" cy="320040"/>
          </a:xfrm>
          <a:prstGeom prst="rect">
            <a:avLst/>
          </a:prstGeom>
          <a:noFill/>
          <a:ln/>
        </p:spPr>
        <p:txBody>
          <a:bodyPr wrap="square" lIns="0" tIns="0" rIns="0" bIns="0" rtlCol="0" anchor="t"/>
          <a:lstStyle/>
          <a:p>
            <a:pPr indent="0" marL="0">
              <a:buNone/>
            </a:pPr>
            <a:r>
              <a:rPr lang="en-US" sz="1800" b="1" dirty="0">
                <a:solidFill>
                  <a:schemeClr val="accent1"/>
                </a:solidFill>
                <a:latin typeface="Cambria" pitchFamily="34" charset="0"/>
                <a:ea typeface="Cambria" pitchFamily="34" charset="-122"/>
                <a:cs typeface="Cambria" pitchFamily="34" charset="-120"/>
              </a:rPr>
              <a:t>Instagram</a:t>
            </a:r>
            <a:endParaRPr lang="en-US" sz="1800" dirty="0"/>
          </a:p>
        </p:txBody>
      </p:sp>
      <p:sp>
        <p:nvSpPr>
          <p:cNvPr id="9" name="Text 7"/>
          <p:cNvSpPr txBox="1"/>
          <p:nvPr/>
        </p:nvSpPr>
        <p:spPr>
          <a:xfrm>
            <a:off x="777240" y="1856232"/>
            <a:ext cx="2377440" cy="274320"/>
          </a:xfrm>
          <a:prstGeom prst="rect">
            <a:avLst/>
          </a:prstGeom>
          <a:noFill/>
          <a:ln/>
        </p:spPr>
        <p:txBody>
          <a:bodyPr wrap="square" lIns="0" tIns="0" rIns="0" bIns="0" rtlCol="0" anchor="t"/>
          <a:lstStyle/>
          <a:p>
            <a:pPr indent="0" marL="0">
              <a:buNone/>
            </a:pPr>
            <a:r>
              <a:rPr lang="en-US" sz="1200" b="1" dirty="0">
                <a:solidFill>
                  <a:schemeClr val="accent2"/>
                </a:solidFill>
              </a:rPr>
              <a:t>Discovery and desire</a:t>
            </a:r>
            <a:endParaRPr lang="en-US" sz="1200" dirty="0"/>
          </a:p>
        </p:txBody>
      </p:sp>
      <p:sp>
        <p:nvSpPr>
          <p:cNvPr id="10" name="Text 8"/>
          <p:cNvSpPr txBox="1"/>
          <p:nvPr/>
        </p:nvSpPr>
        <p:spPr>
          <a:xfrm>
            <a:off x="3200400" y="1417320"/>
            <a:ext cx="2560320" cy="777240"/>
          </a:xfrm>
          <a:prstGeom prst="rect">
            <a:avLst/>
          </a:prstGeom>
          <a:noFill/>
          <a:ln/>
        </p:spPr>
        <p:txBody>
          <a:bodyPr wrap="square" lIns="0" tIns="0" rIns="0" bIns="0" rtlCol="0" anchor="ctr"/>
          <a:lstStyle/>
          <a:p>
            <a:pPr indent="0" marL="0">
              <a:buNone/>
            </a:pPr>
            <a:r>
              <a:rPr lang="en-US" sz="1400" b="1" dirty="0">
                <a:solidFill>
                  <a:schemeClr val="bg1"/>
                </a:solidFill>
              </a:rPr>
              <a:t>Awareness and consideration</a:t>
            </a:r>
            <a:endParaRPr lang="en-US" sz="1400" dirty="0"/>
          </a:p>
        </p:txBody>
      </p:sp>
      <p:sp>
        <p:nvSpPr>
          <p:cNvPr id="11" name="Text 9"/>
          <p:cNvSpPr txBox="1"/>
          <p:nvPr/>
        </p:nvSpPr>
        <p:spPr>
          <a:xfrm>
            <a:off x="5943600" y="1417320"/>
            <a:ext cx="3200400" cy="777240"/>
          </a:xfrm>
          <a:prstGeom prst="rect">
            <a:avLst/>
          </a:prstGeom>
          <a:noFill/>
          <a:ln/>
        </p:spPr>
        <p:txBody>
          <a:bodyPr wrap="square" lIns="0" tIns="0" rIns="0" bIns="0" rtlCol="0" anchor="ctr"/>
          <a:lstStyle/>
          <a:p>
            <a:pPr indent="0" marL="0">
              <a:buNone/>
            </a:pPr>
            <a:r>
              <a:rPr lang="en-US" sz="1200" dirty="0">
                <a:solidFill>
                  <a:schemeClr val="bg1"/>
                </a:solidFill>
              </a:rPr>
              <a:t>Theme Reels, creator walk-throughs, Collab posts, Stories with enquiry links</a:t>
            </a:r>
            <a:endParaRPr lang="en-US" sz="1200" dirty="0"/>
          </a:p>
        </p:txBody>
      </p:sp>
      <p:sp>
        <p:nvSpPr>
          <p:cNvPr id="12" name="Text 10"/>
          <p:cNvSpPr txBox="1"/>
          <p:nvPr/>
        </p:nvSpPr>
        <p:spPr>
          <a:xfrm>
            <a:off x="9326880" y="1417320"/>
            <a:ext cx="2194560" cy="777240"/>
          </a:xfrm>
          <a:prstGeom prst="rect">
            <a:avLst/>
          </a:prstGeom>
          <a:noFill/>
          <a:ln/>
        </p:spPr>
        <p:txBody>
          <a:bodyPr wrap="square" lIns="0" tIns="0" rIns="0" bIns="0" rtlCol="0" anchor="ctr"/>
          <a:lstStyle/>
          <a:p>
            <a:pPr indent="0" marL="0">
              <a:buNone/>
            </a:pPr>
            <a:r>
              <a:rPr lang="en-US" sz="1200" dirty="0">
                <a:solidFill>
                  <a:schemeClr val="accent3"/>
                </a:solidFill>
              </a:rPr>
              <a:t>4 to 5 posts and Reels a week, daily Stories</a:t>
            </a:r>
            <a:endParaRPr lang="en-US" sz="1200" dirty="0"/>
          </a:p>
        </p:txBody>
      </p:sp>
      <p:sp>
        <p:nvSpPr>
          <p:cNvPr id="13" name="Platform Facebook"/>
          <p:cNvSpPr/>
          <p:nvPr/>
        </p:nvSpPr>
        <p:spPr>
          <a:xfrm>
            <a:off x="548640" y="2286000"/>
            <a:ext cx="11091672" cy="777240"/>
          </a:xfrm>
          <a:prstGeom prst="roundRect">
            <a:avLst>
              <a:gd name="adj" fmla="val 9412"/>
            </a:avLst>
          </a:prstGeom>
          <a:solidFill>
            <a:schemeClr val="tx2"/>
          </a:solidFill>
          <a:ln w="9525">
            <a:solidFill>
              <a:schemeClr val="bg2"/>
            </a:solidFill>
            <a:prstDash val="solid"/>
          </a:ln>
        </p:spPr>
      </p:sp>
      <p:sp>
        <p:nvSpPr>
          <p:cNvPr id="14" name="Text 12"/>
          <p:cNvSpPr txBox="1"/>
          <p:nvPr/>
        </p:nvSpPr>
        <p:spPr>
          <a:xfrm>
            <a:off x="777240" y="2377440"/>
            <a:ext cx="2286000" cy="320040"/>
          </a:xfrm>
          <a:prstGeom prst="rect">
            <a:avLst/>
          </a:prstGeom>
          <a:noFill/>
          <a:ln/>
        </p:spPr>
        <p:txBody>
          <a:bodyPr wrap="square" lIns="0" tIns="0" rIns="0" bIns="0" rtlCol="0" anchor="t"/>
          <a:lstStyle/>
          <a:p>
            <a:pPr indent="0" marL="0">
              <a:buNone/>
            </a:pPr>
            <a:r>
              <a:rPr lang="en-US" sz="1800" b="1" dirty="0">
                <a:solidFill>
                  <a:schemeClr val="accent1"/>
                </a:solidFill>
                <a:latin typeface="Cambria" pitchFamily="34" charset="0"/>
                <a:ea typeface="Cambria" pitchFamily="34" charset="-122"/>
                <a:cs typeface="Cambria" pitchFamily="34" charset="-120"/>
              </a:rPr>
              <a:t>Facebook</a:t>
            </a:r>
            <a:endParaRPr lang="en-US" sz="1800" dirty="0"/>
          </a:p>
        </p:txBody>
      </p:sp>
      <p:sp>
        <p:nvSpPr>
          <p:cNvPr id="15" name="Text 13"/>
          <p:cNvSpPr txBox="1"/>
          <p:nvPr/>
        </p:nvSpPr>
        <p:spPr>
          <a:xfrm>
            <a:off x="777240" y="2724912"/>
            <a:ext cx="2377440" cy="274320"/>
          </a:xfrm>
          <a:prstGeom prst="rect">
            <a:avLst/>
          </a:prstGeom>
          <a:noFill/>
          <a:ln/>
        </p:spPr>
        <p:txBody>
          <a:bodyPr wrap="square" lIns="0" tIns="0" rIns="0" bIns="0" rtlCol="0" anchor="t"/>
          <a:lstStyle/>
          <a:p>
            <a:pPr indent="0" marL="0">
              <a:buNone/>
            </a:pPr>
            <a:r>
              <a:rPr lang="en-US" sz="1200" b="1" dirty="0">
                <a:solidFill>
                  <a:schemeClr val="accent2"/>
                </a:solidFill>
              </a:rPr>
              <a:t>Local communities</a:t>
            </a:r>
            <a:endParaRPr lang="en-US" sz="1200" dirty="0"/>
          </a:p>
        </p:txBody>
      </p:sp>
      <p:sp>
        <p:nvSpPr>
          <p:cNvPr id="16" name="Text 14"/>
          <p:cNvSpPr txBox="1"/>
          <p:nvPr/>
        </p:nvSpPr>
        <p:spPr>
          <a:xfrm>
            <a:off x="3200400" y="2286000"/>
            <a:ext cx="2560320" cy="777240"/>
          </a:xfrm>
          <a:prstGeom prst="rect">
            <a:avLst/>
          </a:prstGeom>
          <a:noFill/>
          <a:ln/>
        </p:spPr>
        <p:txBody>
          <a:bodyPr wrap="square" lIns="0" tIns="0" rIns="0" bIns="0" rtlCol="0" anchor="ctr"/>
          <a:lstStyle/>
          <a:p>
            <a:pPr indent="0" marL="0">
              <a:buNone/>
            </a:pPr>
            <a:r>
              <a:rPr lang="en-US" sz="1400" b="1" dirty="0">
                <a:solidFill>
                  <a:schemeClr val="bg1"/>
                </a:solidFill>
              </a:rPr>
              <a:t>Qualified enquiries from city communities</a:t>
            </a:r>
            <a:endParaRPr lang="en-US" sz="1400" dirty="0"/>
          </a:p>
        </p:txBody>
      </p:sp>
      <p:sp>
        <p:nvSpPr>
          <p:cNvPr id="17" name="Text 15"/>
          <p:cNvSpPr txBox="1"/>
          <p:nvPr/>
        </p:nvSpPr>
        <p:spPr>
          <a:xfrm>
            <a:off x="5943600" y="2286000"/>
            <a:ext cx="3200400" cy="777240"/>
          </a:xfrm>
          <a:prstGeom prst="rect">
            <a:avLst/>
          </a:prstGeom>
          <a:noFill/>
          <a:ln/>
        </p:spPr>
        <p:txBody>
          <a:bodyPr wrap="square" lIns="0" tIns="0" rIns="0" bIns="0" rtlCol="0" anchor="ctr"/>
          <a:lstStyle/>
          <a:p>
            <a:pPr indent="0" marL="0">
              <a:buNone/>
            </a:pPr>
            <a:r>
              <a:rPr lang="en-US" sz="1200" dirty="0">
                <a:solidFill>
                  <a:schemeClr val="bg1"/>
                </a:solidFill>
              </a:rPr>
              <a:t>City communities, event pages, WhatsApp and Messenger enquiries, fast replies</a:t>
            </a:r>
            <a:endParaRPr lang="en-US" sz="1200" dirty="0"/>
          </a:p>
        </p:txBody>
      </p:sp>
      <p:sp>
        <p:nvSpPr>
          <p:cNvPr id="18" name="Text 16"/>
          <p:cNvSpPr txBox="1"/>
          <p:nvPr/>
        </p:nvSpPr>
        <p:spPr>
          <a:xfrm>
            <a:off x="9326880" y="2286000"/>
            <a:ext cx="2194560" cy="777240"/>
          </a:xfrm>
          <a:prstGeom prst="rect">
            <a:avLst/>
          </a:prstGeom>
          <a:noFill/>
          <a:ln/>
        </p:spPr>
        <p:txBody>
          <a:bodyPr wrap="square" lIns="0" tIns="0" rIns="0" bIns="0" rtlCol="0" anchor="ctr"/>
          <a:lstStyle/>
          <a:p>
            <a:pPr indent="0" marL="0">
              <a:buNone/>
            </a:pPr>
            <a:r>
              <a:rPr lang="en-US" sz="1200" dirty="0">
                <a:solidFill>
                  <a:schemeClr val="accent3"/>
                </a:solidFill>
              </a:rPr>
              <a:t>4 posts a week</a:t>
            </a:r>
            <a:endParaRPr lang="en-US" sz="1200" dirty="0"/>
          </a:p>
        </p:txBody>
      </p:sp>
      <p:sp>
        <p:nvSpPr>
          <p:cNvPr id="19" name="Platform LinkedIn"/>
          <p:cNvSpPr/>
          <p:nvPr/>
        </p:nvSpPr>
        <p:spPr>
          <a:xfrm>
            <a:off x="548640" y="3154680"/>
            <a:ext cx="11091672" cy="777240"/>
          </a:xfrm>
          <a:prstGeom prst="roundRect">
            <a:avLst>
              <a:gd name="adj" fmla="val 9412"/>
            </a:avLst>
          </a:prstGeom>
          <a:solidFill>
            <a:schemeClr val="tx2"/>
          </a:solidFill>
          <a:ln w="9525">
            <a:solidFill>
              <a:schemeClr val="bg2"/>
            </a:solidFill>
            <a:prstDash val="solid"/>
          </a:ln>
        </p:spPr>
      </p:sp>
      <p:sp>
        <p:nvSpPr>
          <p:cNvPr id="20" name="Text 18"/>
          <p:cNvSpPr txBox="1"/>
          <p:nvPr/>
        </p:nvSpPr>
        <p:spPr>
          <a:xfrm>
            <a:off x="777240" y="3246120"/>
            <a:ext cx="2286000" cy="320040"/>
          </a:xfrm>
          <a:prstGeom prst="rect">
            <a:avLst/>
          </a:prstGeom>
          <a:noFill/>
          <a:ln/>
        </p:spPr>
        <p:txBody>
          <a:bodyPr wrap="square" lIns="0" tIns="0" rIns="0" bIns="0" rtlCol="0" anchor="t"/>
          <a:lstStyle/>
          <a:p>
            <a:pPr indent="0" marL="0">
              <a:buNone/>
            </a:pPr>
            <a:r>
              <a:rPr lang="en-US" sz="1800" b="1" dirty="0">
                <a:solidFill>
                  <a:schemeClr val="accent1"/>
                </a:solidFill>
                <a:latin typeface="Cambria" pitchFamily="34" charset="0"/>
                <a:ea typeface="Cambria" pitchFamily="34" charset="-122"/>
                <a:cs typeface="Cambria" pitchFamily="34" charset="-120"/>
              </a:rPr>
              <a:t>LinkedIn</a:t>
            </a:r>
            <a:endParaRPr lang="en-US" sz="1800" dirty="0"/>
          </a:p>
        </p:txBody>
      </p:sp>
      <p:sp>
        <p:nvSpPr>
          <p:cNvPr id="21" name="Text 19"/>
          <p:cNvSpPr txBox="1"/>
          <p:nvPr/>
        </p:nvSpPr>
        <p:spPr>
          <a:xfrm>
            <a:off x="777240" y="3593592"/>
            <a:ext cx="2377440" cy="274320"/>
          </a:xfrm>
          <a:prstGeom prst="rect">
            <a:avLst/>
          </a:prstGeom>
          <a:noFill/>
          <a:ln/>
        </p:spPr>
        <p:txBody>
          <a:bodyPr wrap="square" lIns="0" tIns="0" rIns="0" bIns="0" rtlCol="0" anchor="t"/>
          <a:lstStyle/>
          <a:p>
            <a:pPr indent="0" marL="0">
              <a:buNone/>
            </a:pPr>
            <a:r>
              <a:rPr lang="en-US" sz="1200" b="1" dirty="0">
                <a:solidFill>
                  <a:schemeClr val="accent2"/>
                </a:solidFill>
              </a:rPr>
              <a:t>Investors and partners</a:t>
            </a:r>
            <a:endParaRPr lang="en-US" sz="1200" dirty="0"/>
          </a:p>
        </p:txBody>
      </p:sp>
      <p:sp>
        <p:nvSpPr>
          <p:cNvPr id="22" name="Text 20"/>
          <p:cNvSpPr txBox="1"/>
          <p:nvPr/>
        </p:nvSpPr>
        <p:spPr>
          <a:xfrm>
            <a:off x="3200400" y="3154680"/>
            <a:ext cx="2560320" cy="777240"/>
          </a:xfrm>
          <a:prstGeom prst="rect">
            <a:avLst/>
          </a:prstGeom>
          <a:noFill/>
          <a:ln/>
        </p:spPr>
        <p:txBody>
          <a:bodyPr wrap="square" lIns="0" tIns="0" rIns="0" bIns="0" rtlCol="0" anchor="ctr"/>
          <a:lstStyle/>
          <a:p>
            <a:pPr indent="0" marL="0">
              <a:buNone/>
            </a:pPr>
            <a:r>
              <a:rPr lang="en-US" sz="1400" b="1" dirty="0">
                <a:solidFill>
                  <a:schemeClr val="bg1"/>
                </a:solidFill>
              </a:rPr>
              <a:t>Partner enquiries and credibility</a:t>
            </a:r>
            <a:endParaRPr lang="en-US" sz="1400" dirty="0"/>
          </a:p>
        </p:txBody>
      </p:sp>
      <p:sp>
        <p:nvSpPr>
          <p:cNvPr id="23" name="Text 21"/>
          <p:cNvSpPr txBox="1"/>
          <p:nvPr/>
        </p:nvSpPr>
        <p:spPr>
          <a:xfrm>
            <a:off x="5943600" y="3154680"/>
            <a:ext cx="3200400" cy="777240"/>
          </a:xfrm>
          <a:prstGeom prst="rect">
            <a:avLst/>
          </a:prstGeom>
          <a:noFill/>
          <a:ln/>
        </p:spPr>
        <p:txBody>
          <a:bodyPr wrap="square" lIns="0" tIns="0" rIns="0" bIns="0" rtlCol="0" anchor="ctr"/>
          <a:lstStyle/>
          <a:p>
            <a:pPr indent="0" marL="0">
              <a:buNone/>
            </a:pPr>
            <a:r>
              <a:rPr lang="en-US" sz="1200" dirty="0">
                <a:solidFill>
                  <a:schemeClr val="bg1"/>
                </a:solidFill>
              </a:rPr>
              <a:t>Partnership explainers, leadership view, corporate and MICE stories</a:t>
            </a:r>
            <a:endParaRPr lang="en-US" sz="1200" dirty="0"/>
          </a:p>
        </p:txBody>
      </p:sp>
      <p:sp>
        <p:nvSpPr>
          <p:cNvPr id="24" name="Text 22"/>
          <p:cNvSpPr txBox="1"/>
          <p:nvPr/>
        </p:nvSpPr>
        <p:spPr>
          <a:xfrm>
            <a:off x="9326880" y="3154680"/>
            <a:ext cx="2194560" cy="777240"/>
          </a:xfrm>
          <a:prstGeom prst="rect">
            <a:avLst/>
          </a:prstGeom>
          <a:noFill/>
          <a:ln/>
        </p:spPr>
        <p:txBody>
          <a:bodyPr wrap="square" lIns="0" tIns="0" rIns="0" bIns="0" rtlCol="0" anchor="ctr"/>
          <a:lstStyle/>
          <a:p>
            <a:pPr indent="0" marL="0">
              <a:buNone/>
            </a:pPr>
            <a:r>
              <a:rPr lang="en-US" sz="1200" dirty="0">
                <a:solidFill>
                  <a:schemeClr val="accent3"/>
                </a:solidFill>
              </a:rPr>
              <a:t>3 posts a week</a:t>
            </a:r>
            <a:endParaRPr lang="en-US" sz="1200" dirty="0"/>
          </a:p>
        </p:txBody>
      </p:sp>
      <p:sp>
        <p:nvSpPr>
          <p:cNvPr id="25" name="Platform YouTube"/>
          <p:cNvSpPr/>
          <p:nvPr/>
        </p:nvSpPr>
        <p:spPr>
          <a:xfrm>
            <a:off x="548640" y="4023360"/>
            <a:ext cx="11091672" cy="777240"/>
          </a:xfrm>
          <a:prstGeom prst="roundRect">
            <a:avLst>
              <a:gd name="adj" fmla="val 9412"/>
            </a:avLst>
          </a:prstGeom>
          <a:solidFill>
            <a:schemeClr val="tx2"/>
          </a:solidFill>
          <a:ln w="9525">
            <a:solidFill>
              <a:schemeClr val="bg2"/>
            </a:solidFill>
            <a:prstDash val="solid"/>
          </a:ln>
        </p:spPr>
      </p:sp>
      <p:sp>
        <p:nvSpPr>
          <p:cNvPr id="26" name="Text 24"/>
          <p:cNvSpPr txBox="1"/>
          <p:nvPr/>
        </p:nvSpPr>
        <p:spPr>
          <a:xfrm>
            <a:off x="777240" y="4114800"/>
            <a:ext cx="2286000" cy="320040"/>
          </a:xfrm>
          <a:prstGeom prst="rect">
            <a:avLst/>
          </a:prstGeom>
          <a:noFill/>
          <a:ln/>
        </p:spPr>
        <p:txBody>
          <a:bodyPr wrap="square" lIns="0" tIns="0" rIns="0" bIns="0" rtlCol="0" anchor="t"/>
          <a:lstStyle/>
          <a:p>
            <a:pPr indent="0" marL="0">
              <a:buNone/>
            </a:pPr>
            <a:r>
              <a:rPr lang="en-US" sz="1800" b="1" dirty="0">
                <a:solidFill>
                  <a:schemeClr val="accent1"/>
                </a:solidFill>
                <a:latin typeface="Cambria" pitchFamily="34" charset="0"/>
                <a:ea typeface="Cambria" pitchFamily="34" charset="-122"/>
                <a:cs typeface="Cambria" pitchFamily="34" charset="-120"/>
              </a:rPr>
              <a:t>YouTube</a:t>
            </a:r>
            <a:endParaRPr lang="en-US" sz="1800" dirty="0"/>
          </a:p>
        </p:txBody>
      </p:sp>
      <p:sp>
        <p:nvSpPr>
          <p:cNvPr id="27" name="Text 25"/>
          <p:cNvSpPr txBox="1"/>
          <p:nvPr/>
        </p:nvSpPr>
        <p:spPr>
          <a:xfrm>
            <a:off x="777240" y="4462272"/>
            <a:ext cx="2377440" cy="274320"/>
          </a:xfrm>
          <a:prstGeom prst="rect">
            <a:avLst/>
          </a:prstGeom>
          <a:noFill/>
          <a:ln/>
        </p:spPr>
        <p:txBody>
          <a:bodyPr wrap="square" lIns="0" tIns="0" rIns="0" bIns="0" rtlCol="0" anchor="t"/>
          <a:lstStyle/>
          <a:p>
            <a:pPr indent="0" marL="0">
              <a:buNone/>
            </a:pPr>
            <a:r>
              <a:rPr lang="en-US" sz="1200" b="1" dirty="0">
                <a:solidFill>
                  <a:schemeClr val="accent2"/>
                </a:solidFill>
              </a:rPr>
              <a:t>Depth and trust</a:t>
            </a:r>
            <a:endParaRPr lang="en-US" sz="1200" dirty="0"/>
          </a:p>
        </p:txBody>
      </p:sp>
      <p:sp>
        <p:nvSpPr>
          <p:cNvPr id="28" name="Text 26"/>
          <p:cNvSpPr txBox="1"/>
          <p:nvPr/>
        </p:nvSpPr>
        <p:spPr>
          <a:xfrm>
            <a:off x="3200400" y="4023360"/>
            <a:ext cx="2560320" cy="777240"/>
          </a:xfrm>
          <a:prstGeom prst="rect">
            <a:avLst/>
          </a:prstGeom>
          <a:noFill/>
          <a:ln/>
        </p:spPr>
        <p:txBody>
          <a:bodyPr wrap="square" lIns="0" tIns="0" rIns="0" bIns="0" rtlCol="0" anchor="ctr"/>
          <a:lstStyle/>
          <a:p>
            <a:pPr indent="0" marL="0">
              <a:buNone/>
            </a:pPr>
            <a:r>
              <a:rPr lang="en-US" sz="1400" b="1" dirty="0">
                <a:solidFill>
                  <a:schemeClr val="bg1"/>
                </a:solidFill>
              </a:rPr>
              <a:t>Depth, trust and consideration</a:t>
            </a:r>
            <a:endParaRPr lang="en-US" sz="1400" dirty="0"/>
          </a:p>
        </p:txBody>
      </p:sp>
      <p:sp>
        <p:nvSpPr>
          <p:cNvPr id="29" name="Text 27"/>
          <p:cNvSpPr txBox="1"/>
          <p:nvPr/>
        </p:nvSpPr>
        <p:spPr>
          <a:xfrm>
            <a:off x="5943600" y="4023360"/>
            <a:ext cx="3200400" cy="777240"/>
          </a:xfrm>
          <a:prstGeom prst="rect">
            <a:avLst/>
          </a:prstGeom>
          <a:noFill/>
          <a:ln/>
        </p:spPr>
        <p:txBody>
          <a:bodyPr wrap="square" lIns="0" tIns="0" rIns="0" bIns="0" rtlCol="0" anchor="ctr"/>
          <a:lstStyle/>
          <a:p>
            <a:pPr indent="0" marL="0">
              <a:buNone/>
            </a:pPr>
            <a:r>
              <a:rPr lang="en-US" sz="1200" dirty="0">
                <a:solidFill>
                  <a:schemeClr val="bg1"/>
                </a:solidFill>
              </a:rPr>
              <a:t>Walk-through films, project explainers, Shorts cuts, search-friendly titles</a:t>
            </a:r>
            <a:endParaRPr lang="en-US" sz="1200" dirty="0"/>
          </a:p>
        </p:txBody>
      </p:sp>
      <p:sp>
        <p:nvSpPr>
          <p:cNvPr id="30" name="Text 28"/>
          <p:cNvSpPr txBox="1"/>
          <p:nvPr/>
        </p:nvSpPr>
        <p:spPr>
          <a:xfrm>
            <a:off x="9326880" y="4023360"/>
            <a:ext cx="2194560" cy="777240"/>
          </a:xfrm>
          <a:prstGeom prst="rect">
            <a:avLst/>
          </a:prstGeom>
          <a:noFill/>
          <a:ln/>
        </p:spPr>
        <p:txBody>
          <a:bodyPr wrap="square" lIns="0" tIns="0" rIns="0" bIns="0" rtlCol="0" anchor="ctr"/>
          <a:lstStyle/>
          <a:p>
            <a:pPr indent="0" marL="0">
              <a:buNone/>
            </a:pPr>
            <a:r>
              <a:rPr lang="en-US" sz="1200" dirty="0">
                <a:solidFill>
                  <a:schemeClr val="accent3"/>
                </a:solidFill>
              </a:rPr>
              <a:t>1 film and 2 Shorts a week</a:t>
            </a:r>
            <a:endParaRPr lang="en-US" sz="1200" dirty="0"/>
          </a:p>
        </p:txBody>
      </p:sp>
      <p:sp>
        <p:nvSpPr>
          <p:cNvPr id="31" name="Text 29"/>
          <p:cNvSpPr txBox="1"/>
          <p:nvPr/>
        </p:nvSpPr>
        <p:spPr>
          <a:xfrm>
            <a:off x="548640" y="5029200"/>
            <a:ext cx="5486400" cy="274320"/>
          </a:xfrm>
          <a:prstGeom prst="rect">
            <a:avLst/>
          </a:prstGeom>
          <a:noFill/>
          <a:ln/>
        </p:spPr>
        <p:txBody>
          <a:bodyPr wrap="square" lIns="0" tIns="0" rIns="0" bIns="0" rtlCol="0" anchor="t"/>
          <a:lstStyle/>
          <a:p>
            <a:pPr indent="0" marL="0">
              <a:buNone/>
            </a:pPr>
            <a:r>
              <a:rPr lang="en-US" sz="1200" b="1" spc="100" kern="0" dirty="0">
                <a:solidFill>
                  <a:schemeClr val="accent3"/>
                </a:solidFill>
              </a:rPr>
              <a:t>ONE FUNNEL FOR EVERY CHANNEL</a:t>
            </a:r>
            <a:endParaRPr lang="en-US" sz="1200" dirty="0"/>
          </a:p>
        </p:txBody>
      </p:sp>
      <p:sp>
        <p:nvSpPr>
          <p:cNvPr id="32" name="Stage Attract"/>
          <p:cNvSpPr/>
          <p:nvPr/>
        </p:nvSpPr>
        <p:spPr>
          <a:xfrm>
            <a:off x="548640" y="5349240"/>
            <a:ext cx="2145182" cy="502920"/>
          </a:xfrm>
          <a:prstGeom prst="roundRect">
            <a:avLst>
              <a:gd name="adj" fmla="val 14545"/>
            </a:avLst>
          </a:prstGeom>
          <a:solidFill>
            <a:schemeClr val="accent6"/>
          </a:solidFill>
          <a:ln w="12700">
            <a:solidFill>
              <a:schemeClr val="accent6"/>
            </a:solidFill>
            <a:prstDash val="solid"/>
          </a:ln>
        </p:spPr>
      </p:sp>
      <p:sp>
        <p:nvSpPr>
          <p:cNvPr id="33" name="Text 31"/>
          <p:cNvSpPr txBox="1"/>
          <p:nvPr/>
        </p:nvSpPr>
        <p:spPr>
          <a:xfrm>
            <a:off x="548640" y="5349240"/>
            <a:ext cx="2145182" cy="502920"/>
          </a:xfrm>
          <a:prstGeom prst="rect">
            <a:avLst/>
          </a:prstGeom>
          <a:noFill/>
          <a:ln/>
        </p:spPr>
        <p:txBody>
          <a:bodyPr wrap="square" lIns="0" tIns="0" rIns="0" bIns="0" rtlCol="0" anchor="ctr"/>
          <a:lstStyle/>
          <a:p>
            <a:pPr algn="ctr" indent="0" marL="0">
              <a:buNone/>
            </a:pPr>
            <a:r>
              <a:rPr lang="en-US" sz="1600" b="1" dirty="0">
                <a:solidFill>
                  <a:schemeClr val="tx1"/>
                </a:solidFill>
                <a:latin typeface="Cambria" pitchFamily="34" charset="0"/>
                <a:ea typeface="Cambria" pitchFamily="34" charset="-122"/>
                <a:cs typeface="Cambria" pitchFamily="34" charset="-120"/>
              </a:rPr>
              <a:t>Attract</a:t>
            </a:r>
            <a:endParaRPr lang="en-US" sz="1600" dirty="0"/>
          </a:p>
        </p:txBody>
      </p:sp>
      <p:sp>
        <p:nvSpPr>
          <p:cNvPr id="34" name="Stage Engage"/>
          <p:cNvSpPr/>
          <p:nvPr/>
        </p:nvSpPr>
        <p:spPr>
          <a:xfrm>
            <a:off x="2785262" y="5349240"/>
            <a:ext cx="2145182" cy="502920"/>
          </a:xfrm>
          <a:prstGeom prst="roundRect">
            <a:avLst>
              <a:gd name="adj" fmla="val 14545"/>
            </a:avLst>
          </a:prstGeom>
          <a:solidFill>
            <a:schemeClr val="accent1"/>
          </a:solidFill>
          <a:ln w="12700">
            <a:solidFill>
              <a:schemeClr val="accent1"/>
            </a:solidFill>
            <a:prstDash val="solid"/>
          </a:ln>
        </p:spPr>
      </p:sp>
      <p:sp>
        <p:nvSpPr>
          <p:cNvPr id="35" name="Text 33"/>
          <p:cNvSpPr txBox="1"/>
          <p:nvPr/>
        </p:nvSpPr>
        <p:spPr>
          <a:xfrm>
            <a:off x="2785262" y="5349240"/>
            <a:ext cx="2145182" cy="502920"/>
          </a:xfrm>
          <a:prstGeom prst="rect">
            <a:avLst/>
          </a:prstGeom>
          <a:noFill/>
          <a:ln/>
        </p:spPr>
        <p:txBody>
          <a:bodyPr wrap="square" lIns="0" tIns="0" rIns="0" bIns="0" rtlCol="0" anchor="ctr"/>
          <a:lstStyle/>
          <a:p>
            <a:pPr algn="ctr" indent="0" marL="0">
              <a:buNone/>
            </a:pPr>
            <a:r>
              <a:rPr lang="en-US" sz="1600" b="1" dirty="0">
                <a:solidFill>
                  <a:schemeClr val="tx1"/>
                </a:solidFill>
                <a:latin typeface="Cambria" pitchFamily="34" charset="0"/>
                <a:ea typeface="Cambria" pitchFamily="34" charset="-122"/>
                <a:cs typeface="Cambria" pitchFamily="34" charset="-120"/>
              </a:rPr>
              <a:t>Engage</a:t>
            </a:r>
            <a:endParaRPr lang="en-US" sz="1600" dirty="0"/>
          </a:p>
        </p:txBody>
      </p:sp>
      <p:sp>
        <p:nvSpPr>
          <p:cNvPr id="36" name="Stage Enquire"/>
          <p:cNvSpPr/>
          <p:nvPr/>
        </p:nvSpPr>
        <p:spPr>
          <a:xfrm>
            <a:off x="5021885" y="5349240"/>
            <a:ext cx="2145182" cy="502920"/>
          </a:xfrm>
          <a:prstGeom prst="roundRect">
            <a:avLst>
              <a:gd name="adj" fmla="val 14545"/>
            </a:avLst>
          </a:prstGeom>
          <a:solidFill>
            <a:schemeClr val="accent2"/>
          </a:solidFill>
          <a:ln w="12700">
            <a:solidFill>
              <a:schemeClr val="accent2"/>
            </a:solidFill>
            <a:prstDash val="solid"/>
          </a:ln>
        </p:spPr>
      </p:sp>
      <p:sp>
        <p:nvSpPr>
          <p:cNvPr id="37" name="Text 35"/>
          <p:cNvSpPr txBox="1"/>
          <p:nvPr/>
        </p:nvSpPr>
        <p:spPr>
          <a:xfrm>
            <a:off x="5021885" y="5349240"/>
            <a:ext cx="2145182" cy="502920"/>
          </a:xfrm>
          <a:prstGeom prst="rect">
            <a:avLst/>
          </a:prstGeom>
          <a:noFill/>
          <a:ln/>
        </p:spPr>
        <p:txBody>
          <a:bodyPr wrap="square" lIns="0" tIns="0" rIns="0" bIns="0" rtlCol="0" anchor="ctr"/>
          <a:lstStyle/>
          <a:p>
            <a:pPr algn="ctr" indent="0" marL="0">
              <a:buNone/>
            </a:pPr>
            <a:r>
              <a:rPr lang="en-US" sz="1600" b="1" dirty="0">
                <a:solidFill>
                  <a:schemeClr val="tx1"/>
                </a:solidFill>
                <a:latin typeface="Cambria" pitchFamily="34" charset="0"/>
                <a:ea typeface="Cambria" pitchFamily="34" charset="-122"/>
                <a:cs typeface="Cambria" pitchFamily="34" charset="-120"/>
              </a:rPr>
              <a:t>Enquire</a:t>
            </a:r>
            <a:endParaRPr lang="en-US" sz="1600" dirty="0"/>
          </a:p>
        </p:txBody>
      </p:sp>
      <p:sp>
        <p:nvSpPr>
          <p:cNvPr id="38" name="Stage Visit"/>
          <p:cNvSpPr/>
          <p:nvPr/>
        </p:nvSpPr>
        <p:spPr>
          <a:xfrm>
            <a:off x="7258507" y="5349240"/>
            <a:ext cx="2145182" cy="502920"/>
          </a:xfrm>
          <a:prstGeom prst="roundRect">
            <a:avLst>
              <a:gd name="adj" fmla="val 14545"/>
            </a:avLst>
          </a:prstGeom>
          <a:solidFill>
            <a:schemeClr val="accent5"/>
          </a:solidFill>
          <a:ln w="12700">
            <a:solidFill>
              <a:schemeClr val="accent5"/>
            </a:solidFill>
            <a:prstDash val="solid"/>
          </a:ln>
        </p:spPr>
      </p:sp>
      <p:sp>
        <p:nvSpPr>
          <p:cNvPr id="39" name="Text 37"/>
          <p:cNvSpPr txBox="1"/>
          <p:nvPr/>
        </p:nvSpPr>
        <p:spPr>
          <a:xfrm>
            <a:off x="7258507" y="5349240"/>
            <a:ext cx="2145182" cy="502920"/>
          </a:xfrm>
          <a:prstGeom prst="rect">
            <a:avLst/>
          </a:prstGeom>
          <a:noFill/>
          <a:ln/>
        </p:spPr>
        <p:txBody>
          <a:bodyPr wrap="square" lIns="0" tIns="0" rIns="0" bIns="0" rtlCol="0" anchor="ctr"/>
          <a:lstStyle/>
          <a:p>
            <a:pPr algn="ctr" indent="0" marL="0">
              <a:buNone/>
            </a:pPr>
            <a:r>
              <a:rPr lang="en-US" sz="1600" b="1" dirty="0">
                <a:solidFill>
                  <a:schemeClr val="tx1"/>
                </a:solidFill>
                <a:latin typeface="Cambria" pitchFamily="34" charset="0"/>
                <a:ea typeface="Cambria" pitchFamily="34" charset="-122"/>
                <a:cs typeface="Cambria" pitchFamily="34" charset="-120"/>
              </a:rPr>
              <a:t>Visit</a:t>
            </a:r>
            <a:endParaRPr lang="en-US" sz="1600" dirty="0"/>
          </a:p>
        </p:txBody>
      </p:sp>
      <p:sp>
        <p:nvSpPr>
          <p:cNvPr id="40" name="Stage Decide"/>
          <p:cNvSpPr/>
          <p:nvPr/>
        </p:nvSpPr>
        <p:spPr>
          <a:xfrm>
            <a:off x="9495130" y="5349240"/>
            <a:ext cx="2145182" cy="502920"/>
          </a:xfrm>
          <a:prstGeom prst="roundRect">
            <a:avLst>
              <a:gd name="adj" fmla="val 14545"/>
            </a:avLst>
          </a:prstGeom>
          <a:solidFill>
            <a:schemeClr val="accent3"/>
          </a:solidFill>
          <a:ln w="12700">
            <a:solidFill>
              <a:schemeClr val="accent3"/>
            </a:solidFill>
            <a:prstDash val="solid"/>
          </a:ln>
        </p:spPr>
      </p:sp>
      <p:sp>
        <p:nvSpPr>
          <p:cNvPr id="41" name="Text 39"/>
          <p:cNvSpPr txBox="1"/>
          <p:nvPr/>
        </p:nvSpPr>
        <p:spPr>
          <a:xfrm>
            <a:off x="9495130" y="5349240"/>
            <a:ext cx="2145182" cy="502920"/>
          </a:xfrm>
          <a:prstGeom prst="rect">
            <a:avLst/>
          </a:prstGeom>
          <a:noFill/>
          <a:ln/>
        </p:spPr>
        <p:txBody>
          <a:bodyPr wrap="square" lIns="0" tIns="0" rIns="0" bIns="0" rtlCol="0" anchor="ctr"/>
          <a:lstStyle/>
          <a:p>
            <a:pPr algn="ctr" indent="0" marL="0">
              <a:buNone/>
            </a:pPr>
            <a:r>
              <a:rPr lang="en-US" sz="1600" b="1" dirty="0">
                <a:solidFill>
                  <a:schemeClr val="tx1"/>
                </a:solidFill>
                <a:latin typeface="Cambria" pitchFamily="34" charset="0"/>
                <a:ea typeface="Cambria" pitchFamily="34" charset="-122"/>
                <a:cs typeface="Cambria" pitchFamily="34" charset="-120"/>
              </a:rPr>
              <a:t>Decide</a:t>
            </a:r>
            <a:endParaRPr lang="en-US" sz="1600" dirty="0"/>
          </a:p>
        </p:txBody>
      </p:sp>
      <p:sp>
        <p:nvSpPr>
          <p:cNvPr id="42" name="Text 40"/>
          <p:cNvSpPr txBox="1"/>
          <p:nvPr/>
        </p:nvSpPr>
        <p:spPr>
          <a:xfrm>
            <a:off x="548640" y="5943600"/>
            <a:ext cx="11091672" cy="365760"/>
          </a:xfrm>
          <a:prstGeom prst="rect">
            <a:avLst/>
          </a:prstGeom>
          <a:noFill/>
          <a:ln/>
        </p:spPr>
        <p:txBody>
          <a:bodyPr wrap="square" lIns="0" tIns="0" rIns="0" bIns="0" rtlCol="0" anchor="ctr"/>
          <a:lstStyle/>
          <a:p>
            <a:pPr indent="0" marL="0">
              <a:buNone/>
            </a:pPr>
            <a:r>
              <a:rPr lang="en-US" sz="1400" dirty="0">
                <a:solidFill>
                  <a:schemeClr val="bg1"/>
                </a:solidFill>
              </a:rPr>
              <a:t>Every post is planned for one stage and one measure: attract, engage, enquire, visit, decide.</a:t>
            </a:r>
            <a:endParaRPr lang="en-US" sz="14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731520"/>
          </a:xfrm>
          <a:prstGeom prst="rect">
            <a:avLst/>
          </a:prstGeom>
          <a:noFill/>
          <a:ln/>
        </p:spPr>
        <p:txBody>
          <a:bodyPr wrap="square" lIns="0" tIns="0" rIns="0" bIns="0" rtlCol="0" anchor="ctr"/>
          <a:lstStyle/>
          <a:p>
            <a:pPr algn="l" indent="0" marL="0">
              <a:buNone/>
            </a:pPr>
            <a:r>
              <a:rPr lang="en-US" sz="3600" b="1" dirty="0">
                <a:solidFill>
                  <a:schemeClr val="bg1"/>
                </a:solidFill>
              </a:rPr>
              <a:t>Three campaign concepts</a:t>
            </a:r>
            <a:endParaRPr lang="en-US" sz="3600" dirty="0"/>
          </a:p>
        </p:txBody>
      </p:sp>
      <p:sp>
        <p:nvSpPr>
          <p:cNvPr id="3" name="Campaign Live the Racecourse"/>
          <p:cNvSpPr/>
          <p:nvPr/>
        </p:nvSpPr>
        <p:spPr>
          <a:xfrm>
            <a:off x="548640" y="1280160"/>
            <a:ext cx="3511296" cy="4617720"/>
          </a:xfrm>
          <a:prstGeom prst="roundRect">
            <a:avLst>
              <a:gd name="adj" fmla="val 2083"/>
            </a:avLst>
          </a:prstGeom>
          <a:solidFill>
            <a:schemeClr val="tx2"/>
          </a:solidFill>
          <a:ln w="9525">
            <a:solidFill>
              <a:schemeClr val="bg2"/>
            </a:solidFill>
            <a:prstDash val="solid"/>
          </a:ln>
        </p:spPr>
      </p:sp>
      <p:sp>
        <p:nvSpPr>
          <p:cNvPr id="4" name="Text 2"/>
          <p:cNvSpPr txBox="1"/>
          <p:nvPr/>
        </p:nvSpPr>
        <p:spPr>
          <a:xfrm>
            <a:off x="731520" y="1463040"/>
            <a:ext cx="3145536" cy="274320"/>
          </a:xfrm>
          <a:prstGeom prst="rect">
            <a:avLst/>
          </a:prstGeom>
          <a:noFill/>
          <a:ln/>
        </p:spPr>
        <p:txBody>
          <a:bodyPr wrap="square" lIns="0" tIns="0" rIns="0" bIns="0" rtlCol="0" anchor="t"/>
          <a:lstStyle/>
          <a:p>
            <a:pPr indent="0" marL="0">
              <a:buNone/>
            </a:pPr>
            <a:r>
              <a:rPr lang="en-US" sz="1200" b="1" spc="100" kern="0" dirty="0">
                <a:solidFill>
                  <a:schemeClr val="accent2"/>
                </a:solidFill>
              </a:rPr>
              <a:t>INSTAGRAM REEL</a:t>
            </a:r>
            <a:endParaRPr lang="en-US" sz="1200" dirty="0"/>
          </a:p>
        </p:txBody>
      </p:sp>
      <p:sp>
        <p:nvSpPr>
          <p:cNvPr id="5" name="Text 3"/>
          <p:cNvSpPr txBox="1"/>
          <p:nvPr/>
        </p:nvSpPr>
        <p:spPr>
          <a:xfrm>
            <a:off x="731520" y="1828800"/>
            <a:ext cx="3145536" cy="457200"/>
          </a:xfrm>
          <a:prstGeom prst="rect">
            <a:avLst/>
          </a:prstGeom>
          <a:noFill/>
          <a:ln/>
        </p:spPr>
        <p:txBody>
          <a:bodyPr wrap="square" lIns="0" tIns="0" rIns="0" bIns="0" rtlCol="0" anchor="t"/>
          <a:lstStyle/>
          <a:p>
            <a:pPr indent="0" marL="0">
              <a:buNone/>
            </a:pPr>
            <a:r>
              <a:rPr lang="en-US" sz="2200" b="1" dirty="0">
                <a:solidFill>
                  <a:schemeClr val="accent1"/>
                </a:solidFill>
                <a:latin typeface="Cambria" pitchFamily="34" charset="0"/>
                <a:ea typeface="Cambria" pitchFamily="34" charset="-122"/>
                <a:cs typeface="Cambria" pitchFamily="34" charset="-120"/>
              </a:rPr>
              <a:t>Live the Racecourse</a:t>
            </a:r>
            <a:endParaRPr lang="en-US" sz="2200" dirty="0"/>
          </a:p>
        </p:txBody>
      </p:sp>
      <p:sp>
        <p:nvSpPr>
          <p:cNvPr id="6" name="Text 4"/>
          <p:cNvSpPr txBox="1"/>
          <p:nvPr/>
        </p:nvSpPr>
        <p:spPr>
          <a:xfrm>
            <a:off x="731520" y="2423160"/>
            <a:ext cx="3145536" cy="731520"/>
          </a:xfrm>
          <a:prstGeom prst="rect">
            <a:avLst/>
          </a:prstGeom>
          <a:noFill/>
          <a:ln/>
        </p:spPr>
        <p:txBody>
          <a:bodyPr wrap="square" lIns="0" tIns="0" rIns="0" bIns="0" rtlCol="0" anchor="t"/>
          <a:lstStyle/>
          <a:p>
            <a:pPr indent="0" marL="0">
              <a:buNone/>
            </a:pPr>
            <a:r>
              <a:rPr lang="en-US" sz="1400" b="1" dirty="0">
                <a:solidFill>
                  <a:schemeClr val="accent2"/>
                </a:solidFill>
              </a:rPr>
              <a:t>Objective: </a:t>
            </a:r>
            <a:pPr indent="0" marL="0">
              <a:buNone/>
            </a:pPr>
            <a:r>
              <a:rPr lang="en-US" sz="1400" dirty="0">
                <a:solidFill>
                  <a:schemeClr val="bg1"/>
                </a:solidFill>
              </a:rPr>
              <a:t>Awareness to qualified site visits</a:t>
            </a:r>
            <a:endParaRPr lang="en-US" sz="1400" dirty="0"/>
          </a:p>
        </p:txBody>
      </p:sp>
      <p:sp>
        <p:nvSpPr>
          <p:cNvPr id="7" name="Text 5"/>
          <p:cNvSpPr txBox="1"/>
          <p:nvPr/>
        </p:nvSpPr>
        <p:spPr>
          <a:xfrm>
            <a:off x="731520" y="3337560"/>
            <a:ext cx="3145536" cy="1463040"/>
          </a:xfrm>
          <a:prstGeom prst="rect">
            <a:avLst/>
          </a:prstGeom>
          <a:noFill/>
          <a:ln/>
        </p:spPr>
        <p:txBody>
          <a:bodyPr wrap="square" lIns="0" tIns="0" rIns="0" bIns="0" rtlCol="0" anchor="t"/>
          <a:lstStyle/>
          <a:p>
            <a:pPr indent="0" marL="0">
              <a:buNone/>
            </a:pPr>
            <a:r>
              <a:rPr lang="en-US" sz="1600" i="1" dirty="0">
                <a:solidFill>
                  <a:schemeClr val="bg1"/>
                </a:solidFill>
                <a:latin typeface="Cambria" pitchFamily="34" charset="0"/>
                <a:ea typeface="Cambria" pitchFamily="34" charset="-122"/>
                <a:cs typeface="Cambria" pitchFamily="34" charset="-120"/>
              </a:rPr>
              <a:t>“Imagine a weekend that starts on a polo lawn. Della Racecourse, Pune. Book a private site visit, link in bio.”</a:t>
            </a:r>
            <a:endParaRPr lang="en-US" sz="1600" dirty="0"/>
          </a:p>
        </p:txBody>
      </p:sp>
      <p:sp>
        <p:nvSpPr>
          <p:cNvPr id="8" name="Text 6"/>
          <p:cNvSpPr txBox="1"/>
          <p:nvPr/>
        </p:nvSpPr>
        <p:spPr>
          <a:xfrm>
            <a:off x="731520" y="4937760"/>
            <a:ext cx="3145536" cy="868680"/>
          </a:xfrm>
          <a:prstGeom prst="rect">
            <a:avLst/>
          </a:prstGeom>
          <a:noFill/>
          <a:ln/>
        </p:spPr>
        <p:txBody>
          <a:bodyPr wrap="square" lIns="0" tIns="0" rIns="0" bIns="0" rtlCol="0" anchor="t"/>
          <a:lstStyle/>
          <a:p>
            <a:pPr indent="0" marL="0">
              <a:buNone/>
            </a:pPr>
            <a:r>
              <a:rPr lang="en-US" sz="1400" b="1" dirty="0">
                <a:solidFill>
                  <a:schemeClr val="accent1"/>
                </a:solidFill>
              </a:rPr>
              <a:t>Measured by: </a:t>
            </a:r>
            <a:pPr indent="0" marL="0">
              <a:buNone/>
            </a:pPr>
            <a:r>
              <a:rPr lang="en-US" sz="1400" dirty="0">
                <a:solidFill>
                  <a:schemeClr val="accent3"/>
                </a:solidFill>
              </a:rPr>
              <a:t>3-second hold, saves, enquiry clicks</a:t>
            </a:r>
            <a:endParaRPr lang="en-US" sz="1400" dirty="0"/>
          </a:p>
        </p:txBody>
      </p:sp>
      <p:sp>
        <p:nvSpPr>
          <p:cNvPr id="9" name="Campaign Your city, your township"/>
          <p:cNvSpPr/>
          <p:nvPr/>
        </p:nvSpPr>
        <p:spPr>
          <a:xfrm>
            <a:off x="4338828" y="1280160"/>
            <a:ext cx="3511296" cy="4617720"/>
          </a:xfrm>
          <a:prstGeom prst="roundRect">
            <a:avLst>
              <a:gd name="adj" fmla="val 2083"/>
            </a:avLst>
          </a:prstGeom>
          <a:solidFill>
            <a:schemeClr val="tx2"/>
          </a:solidFill>
          <a:ln w="9525">
            <a:solidFill>
              <a:schemeClr val="bg2"/>
            </a:solidFill>
            <a:prstDash val="solid"/>
          </a:ln>
        </p:spPr>
      </p:sp>
      <p:sp>
        <p:nvSpPr>
          <p:cNvPr id="10" name="Text 8"/>
          <p:cNvSpPr txBox="1"/>
          <p:nvPr/>
        </p:nvSpPr>
        <p:spPr>
          <a:xfrm>
            <a:off x="4521708" y="1463040"/>
            <a:ext cx="3145536" cy="274320"/>
          </a:xfrm>
          <a:prstGeom prst="rect">
            <a:avLst/>
          </a:prstGeom>
          <a:noFill/>
          <a:ln/>
        </p:spPr>
        <p:txBody>
          <a:bodyPr wrap="square" lIns="0" tIns="0" rIns="0" bIns="0" rtlCol="0" anchor="t"/>
          <a:lstStyle/>
          <a:p>
            <a:pPr indent="0" marL="0">
              <a:buNone/>
            </a:pPr>
            <a:r>
              <a:rPr lang="en-US" sz="1200" b="1" spc="100" kern="0" dirty="0">
                <a:solidFill>
                  <a:schemeClr val="accent2"/>
                </a:solidFill>
              </a:rPr>
              <a:t>FACEBOOK AND INSTAGRAM</a:t>
            </a:r>
            <a:endParaRPr lang="en-US" sz="1200" dirty="0"/>
          </a:p>
        </p:txBody>
      </p:sp>
      <p:sp>
        <p:nvSpPr>
          <p:cNvPr id="11" name="Text 9"/>
          <p:cNvSpPr txBox="1"/>
          <p:nvPr/>
        </p:nvSpPr>
        <p:spPr>
          <a:xfrm>
            <a:off x="4521708" y="1828800"/>
            <a:ext cx="3145536" cy="457200"/>
          </a:xfrm>
          <a:prstGeom prst="rect">
            <a:avLst/>
          </a:prstGeom>
          <a:noFill/>
          <a:ln/>
        </p:spPr>
        <p:txBody>
          <a:bodyPr wrap="square" lIns="0" tIns="0" rIns="0" bIns="0" rtlCol="0" anchor="t"/>
          <a:lstStyle/>
          <a:p>
            <a:pPr indent="0" marL="0">
              <a:buNone/>
            </a:pPr>
            <a:r>
              <a:rPr lang="en-US" sz="2200" b="1" dirty="0">
                <a:solidFill>
                  <a:schemeClr val="accent1"/>
                </a:solidFill>
                <a:latin typeface="Cambria" pitchFamily="34" charset="0"/>
                <a:ea typeface="Cambria" pitchFamily="34" charset="-122"/>
                <a:cs typeface="Cambria" pitchFamily="34" charset="-120"/>
              </a:rPr>
              <a:t>Your city, your township</a:t>
            </a:r>
            <a:endParaRPr lang="en-US" sz="2200" dirty="0"/>
          </a:p>
        </p:txBody>
      </p:sp>
      <p:sp>
        <p:nvSpPr>
          <p:cNvPr id="12" name="Text 10"/>
          <p:cNvSpPr txBox="1"/>
          <p:nvPr/>
        </p:nvSpPr>
        <p:spPr>
          <a:xfrm>
            <a:off x="4521708" y="2423160"/>
            <a:ext cx="3145536" cy="731520"/>
          </a:xfrm>
          <a:prstGeom prst="rect">
            <a:avLst/>
          </a:prstGeom>
          <a:noFill/>
          <a:ln/>
        </p:spPr>
        <p:txBody>
          <a:bodyPr wrap="square" lIns="0" tIns="0" rIns="0" bIns="0" rtlCol="0" anchor="t"/>
          <a:lstStyle/>
          <a:p>
            <a:pPr indent="0" marL="0">
              <a:buNone/>
            </a:pPr>
            <a:r>
              <a:rPr lang="en-US" sz="1400" b="1" dirty="0">
                <a:solidFill>
                  <a:schemeClr val="accent2"/>
                </a:solidFill>
              </a:rPr>
              <a:t>Objective: </a:t>
            </a:r>
            <a:pPr indent="0" marL="0">
              <a:buNone/>
            </a:pPr>
            <a:r>
              <a:rPr lang="en-US" sz="1400" dirty="0">
                <a:solidFill>
                  <a:schemeClr val="bg1"/>
                </a:solidFill>
              </a:rPr>
              <a:t>Qualified enquiries from each launch city</a:t>
            </a:r>
            <a:endParaRPr lang="en-US" sz="1400" dirty="0"/>
          </a:p>
        </p:txBody>
      </p:sp>
      <p:sp>
        <p:nvSpPr>
          <p:cNvPr id="13" name="Text 11"/>
          <p:cNvSpPr txBox="1"/>
          <p:nvPr/>
        </p:nvSpPr>
        <p:spPr>
          <a:xfrm>
            <a:off x="4521708" y="3337560"/>
            <a:ext cx="3145536" cy="1463040"/>
          </a:xfrm>
          <a:prstGeom prst="rect">
            <a:avLst/>
          </a:prstGeom>
          <a:noFill/>
          <a:ln/>
        </p:spPr>
        <p:txBody>
          <a:bodyPr wrap="square" lIns="0" tIns="0" rIns="0" bIns="0" rtlCol="0" anchor="t"/>
          <a:lstStyle/>
          <a:p>
            <a:pPr indent="0" marL="0">
              <a:buNone/>
            </a:pPr>
            <a:r>
              <a:rPr lang="en-US" sz="1600" i="1" dirty="0">
                <a:solidFill>
                  <a:schemeClr val="bg1"/>
                </a:solidFill>
                <a:latin typeface="Cambria" pitchFamily="34" charset="0"/>
                <a:ea typeface="Cambria" pitchFamily="34" charset="-122"/>
                <a:cs typeface="Cambria" pitchFamily="34" charset="-120"/>
              </a:rPr>
              <a:t>“Something new is coming to your city. See the theme, the design and the first look, then ask us anything.”</a:t>
            </a:r>
            <a:endParaRPr lang="en-US" sz="1600" dirty="0"/>
          </a:p>
        </p:txBody>
      </p:sp>
      <p:sp>
        <p:nvSpPr>
          <p:cNvPr id="14" name="Text 12"/>
          <p:cNvSpPr txBox="1"/>
          <p:nvPr/>
        </p:nvSpPr>
        <p:spPr>
          <a:xfrm>
            <a:off x="4521708" y="4937760"/>
            <a:ext cx="3145536" cy="868680"/>
          </a:xfrm>
          <a:prstGeom prst="rect">
            <a:avLst/>
          </a:prstGeom>
          <a:noFill/>
          <a:ln/>
        </p:spPr>
        <p:txBody>
          <a:bodyPr wrap="square" lIns="0" tIns="0" rIns="0" bIns="0" rtlCol="0" anchor="t"/>
          <a:lstStyle/>
          <a:p>
            <a:pPr indent="0" marL="0">
              <a:buNone/>
            </a:pPr>
            <a:r>
              <a:rPr lang="en-US" sz="1400" b="1" dirty="0">
                <a:solidFill>
                  <a:schemeClr val="accent1"/>
                </a:solidFill>
              </a:rPr>
              <a:t>Measured by: </a:t>
            </a:r>
            <a:pPr indent="0" marL="0">
              <a:buNone/>
            </a:pPr>
            <a:r>
              <a:rPr lang="en-US" sz="1400" dirty="0">
                <a:solidFill>
                  <a:schemeClr val="accent3"/>
                </a:solidFill>
              </a:rPr>
              <a:t>Qualified enquiries per city, response time, questions answered</a:t>
            </a:r>
            <a:endParaRPr lang="en-US" sz="1400" dirty="0"/>
          </a:p>
        </p:txBody>
      </p:sp>
      <p:sp>
        <p:nvSpPr>
          <p:cNvPr id="15" name="Campaign Stay the Della way"/>
          <p:cNvSpPr/>
          <p:nvPr/>
        </p:nvSpPr>
        <p:spPr>
          <a:xfrm>
            <a:off x="8129016" y="1280160"/>
            <a:ext cx="3511296" cy="4617720"/>
          </a:xfrm>
          <a:prstGeom prst="roundRect">
            <a:avLst>
              <a:gd name="adj" fmla="val 2083"/>
            </a:avLst>
          </a:prstGeom>
          <a:solidFill>
            <a:schemeClr val="tx2"/>
          </a:solidFill>
          <a:ln w="9525">
            <a:solidFill>
              <a:schemeClr val="bg2"/>
            </a:solidFill>
            <a:prstDash val="solid"/>
          </a:ln>
        </p:spPr>
      </p:sp>
      <p:sp>
        <p:nvSpPr>
          <p:cNvPr id="16" name="Text 14"/>
          <p:cNvSpPr txBox="1"/>
          <p:nvPr/>
        </p:nvSpPr>
        <p:spPr>
          <a:xfrm>
            <a:off x="8311896" y="1463040"/>
            <a:ext cx="3145536" cy="274320"/>
          </a:xfrm>
          <a:prstGeom prst="rect">
            <a:avLst/>
          </a:prstGeom>
          <a:noFill/>
          <a:ln/>
        </p:spPr>
        <p:txBody>
          <a:bodyPr wrap="square" lIns="0" tIns="0" rIns="0" bIns="0" rtlCol="0" anchor="t"/>
          <a:lstStyle/>
          <a:p>
            <a:pPr indent="0" marL="0">
              <a:buNone/>
            </a:pPr>
            <a:r>
              <a:rPr lang="en-US" sz="1200" b="1" spc="100" kern="0" dirty="0">
                <a:solidFill>
                  <a:schemeClr val="accent2"/>
                </a:solidFill>
              </a:rPr>
              <a:t>INSTAGRAM CAROUSEL AND FACEBOOK</a:t>
            </a:r>
            <a:endParaRPr lang="en-US" sz="1200" dirty="0"/>
          </a:p>
        </p:txBody>
      </p:sp>
      <p:sp>
        <p:nvSpPr>
          <p:cNvPr id="17" name="Text 15"/>
          <p:cNvSpPr txBox="1"/>
          <p:nvPr/>
        </p:nvSpPr>
        <p:spPr>
          <a:xfrm>
            <a:off x="8311896" y="1828800"/>
            <a:ext cx="3145536" cy="457200"/>
          </a:xfrm>
          <a:prstGeom prst="rect">
            <a:avLst/>
          </a:prstGeom>
          <a:noFill/>
          <a:ln/>
        </p:spPr>
        <p:txBody>
          <a:bodyPr wrap="square" lIns="0" tIns="0" rIns="0" bIns="0" rtlCol="0" anchor="t"/>
          <a:lstStyle/>
          <a:p>
            <a:pPr indent="0" marL="0">
              <a:buNone/>
            </a:pPr>
            <a:r>
              <a:rPr lang="en-US" sz="2200" b="1" dirty="0">
                <a:solidFill>
                  <a:schemeClr val="accent1"/>
                </a:solidFill>
                <a:latin typeface="Cambria" pitchFamily="34" charset="0"/>
                <a:ea typeface="Cambria" pitchFamily="34" charset="-122"/>
                <a:cs typeface="Cambria" pitchFamily="34" charset="-120"/>
              </a:rPr>
              <a:t>Stay the Della way</a:t>
            </a:r>
            <a:endParaRPr lang="en-US" sz="2200" dirty="0"/>
          </a:p>
        </p:txBody>
      </p:sp>
      <p:sp>
        <p:nvSpPr>
          <p:cNvPr id="18" name="Text 16"/>
          <p:cNvSpPr txBox="1"/>
          <p:nvPr/>
        </p:nvSpPr>
        <p:spPr>
          <a:xfrm>
            <a:off x="8311896" y="2423160"/>
            <a:ext cx="3145536" cy="731520"/>
          </a:xfrm>
          <a:prstGeom prst="rect">
            <a:avLst/>
          </a:prstGeom>
          <a:noFill/>
          <a:ln/>
        </p:spPr>
        <p:txBody>
          <a:bodyPr wrap="square" lIns="0" tIns="0" rIns="0" bIns="0" rtlCol="0" anchor="t"/>
          <a:lstStyle/>
          <a:p>
            <a:pPr indent="0" marL="0">
              <a:buNone/>
            </a:pPr>
            <a:r>
              <a:rPr lang="en-US" sz="1400" b="1" dirty="0">
                <a:solidFill>
                  <a:schemeClr val="accent2"/>
                </a:solidFill>
              </a:rPr>
              <a:t>Objective: </a:t>
            </a:r>
            <a:pPr indent="0" marL="0">
              <a:buNone/>
            </a:pPr>
            <a:r>
              <a:rPr lang="en-US" sz="1400" dirty="0">
                <a:solidFill>
                  <a:schemeClr val="bg1"/>
                </a:solidFill>
              </a:rPr>
              <a:t>Bookings, tickets and township visits, plus reputation</a:t>
            </a:r>
            <a:endParaRPr lang="en-US" sz="1400" dirty="0"/>
          </a:p>
        </p:txBody>
      </p:sp>
      <p:sp>
        <p:nvSpPr>
          <p:cNvPr id="19" name="Text 17"/>
          <p:cNvSpPr txBox="1"/>
          <p:nvPr/>
        </p:nvSpPr>
        <p:spPr>
          <a:xfrm>
            <a:off x="8311896" y="3337560"/>
            <a:ext cx="3145536" cy="1463040"/>
          </a:xfrm>
          <a:prstGeom prst="rect">
            <a:avLst/>
          </a:prstGeom>
          <a:noFill/>
          <a:ln/>
        </p:spPr>
        <p:txBody>
          <a:bodyPr wrap="square" lIns="0" tIns="0" rIns="0" bIns="0" rtlCol="0" anchor="t"/>
          <a:lstStyle/>
          <a:p>
            <a:pPr indent="0" marL="0">
              <a:buNone/>
            </a:pPr>
            <a:r>
              <a:rPr lang="en-US" sz="1600" i="1" dirty="0">
                <a:solidFill>
                  <a:schemeClr val="bg1"/>
                </a:solidFill>
                <a:latin typeface="Cambria" pitchFamily="34" charset="0"/>
                <a:ea typeface="Cambria" pitchFamily="34" charset="-122"/>
                <a:cs typeface="Cambria" pitchFamily="34" charset="-120"/>
              </a:rPr>
              <a:t>“One weekend, one place: 168 rooms and villas and 50+ adventure activities in Lonavala. Plan yours.”</a:t>
            </a:r>
            <a:endParaRPr lang="en-US" sz="1600" dirty="0"/>
          </a:p>
        </p:txBody>
      </p:sp>
      <p:sp>
        <p:nvSpPr>
          <p:cNvPr id="20" name="Text 18"/>
          <p:cNvSpPr txBox="1"/>
          <p:nvPr/>
        </p:nvSpPr>
        <p:spPr>
          <a:xfrm>
            <a:off x="8311896" y="4937760"/>
            <a:ext cx="3145536" cy="868680"/>
          </a:xfrm>
          <a:prstGeom prst="rect">
            <a:avLst/>
          </a:prstGeom>
          <a:noFill/>
          <a:ln/>
        </p:spPr>
        <p:txBody>
          <a:bodyPr wrap="square" lIns="0" tIns="0" rIns="0" bIns="0" rtlCol="0" anchor="t"/>
          <a:lstStyle/>
          <a:p>
            <a:pPr indent="0" marL="0">
              <a:buNone/>
            </a:pPr>
            <a:r>
              <a:rPr lang="en-US" sz="1400" b="1" dirty="0">
                <a:solidFill>
                  <a:schemeClr val="accent1"/>
                </a:solidFill>
              </a:rPr>
              <a:t>Measured by: </a:t>
            </a:r>
            <a:pPr indent="0" marL="0">
              <a:buNone/>
            </a:pPr>
            <a:r>
              <a:rPr lang="en-US" sz="1400" dirty="0">
                <a:solidFill>
                  <a:schemeClr val="accent3"/>
                </a:solidFill>
              </a:rPr>
              <a:t>Link clicks, bookings from social, guest content, review sentiment</a:t>
            </a:r>
            <a:endParaRPr lang="en-US" sz="1400" dirty="0"/>
          </a:p>
        </p:txBody>
      </p:sp>
      <p:sp>
        <p:nvSpPr>
          <p:cNvPr id="21" name="Text 19"/>
          <p:cNvSpPr txBox="1"/>
          <p:nvPr/>
        </p:nvSpPr>
        <p:spPr>
          <a:xfrm>
            <a:off x="548640" y="5989320"/>
            <a:ext cx="11091672" cy="365760"/>
          </a:xfrm>
          <a:prstGeom prst="rect">
            <a:avLst/>
          </a:prstGeom>
          <a:noFill/>
          <a:ln/>
        </p:spPr>
        <p:txBody>
          <a:bodyPr wrap="square" lIns="0" tIns="0" rIns="0" bIns="0" rtlCol="0" anchor="ctr"/>
          <a:lstStyle/>
          <a:p>
            <a:pPr indent="0" marL="0">
              <a:buNone/>
            </a:pPr>
            <a:r>
              <a:rPr lang="en-US" sz="1200" i="1" dirty="0">
                <a:solidFill>
                  <a:schemeClr val="accent3"/>
                </a:solidFill>
              </a:rPr>
              <a:t>Proposed concepts with sample captions, for discussion. They are not live Della content.</a:t>
            </a:r>
            <a:endParaRPr lang="en-US" sz="12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731520"/>
          </a:xfrm>
          <a:prstGeom prst="rect">
            <a:avLst/>
          </a:prstGeom>
          <a:noFill/>
          <a:ln/>
        </p:spPr>
        <p:txBody>
          <a:bodyPr wrap="square" lIns="0" tIns="0" rIns="0" bIns="0" rtlCol="0" anchor="ctr"/>
          <a:lstStyle/>
          <a:p>
            <a:pPr algn="l" indent="0" marL="0">
              <a:buNone/>
            </a:pPr>
            <a:r>
              <a:rPr lang="en-US" sz="3600" b="1" dirty="0">
                <a:solidFill>
                  <a:schemeClr val="bg1"/>
                </a:solidFill>
              </a:rPr>
              <a:t>Community and reputation management</a:t>
            </a:r>
            <a:endParaRPr lang="en-US" sz="3600" dirty="0"/>
          </a:p>
        </p:txBody>
      </p:sp>
      <p:sp>
        <p:nvSpPr>
          <p:cNvPr id="3" name="Workflow card"/>
          <p:cNvSpPr/>
          <p:nvPr/>
        </p:nvSpPr>
        <p:spPr>
          <a:xfrm>
            <a:off x="548640" y="1325880"/>
            <a:ext cx="3749040" cy="4069080"/>
          </a:xfrm>
          <a:prstGeom prst="roundRect">
            <a:avLst>
              <a:gd name="adj" fmla="val 1951"/>
            </a:avLst>
          </a:prstGeom>
          <a:solidFill>
            <a:schemeClr val="tx2"/>
          </a:solidFill>
          <a:ln w="9525">
            <a:solidFill>
              <a:schemeClr val="bg2"/>
            </a:solidFill>
            <a:prstDash val="solid"/>
          </a:ln>
        </p:spPr>
      </p:sp>
      <p:sp>
        <p:nvSpPr>
          <p:cNvPr id="4" name="Text 2"/>
          <p:cNvSpPr txBox="1"/>
          <p:nvPr/>
        </p:nvSpPr>
        <p:spPr>
          <a:xfrm>
            <a:off x="777240" y="1463040"/>
            <a:ext cx="3291840" cy="320040"/>
          </a:xfrm>
          <a:prstGeom prst="rect">
            <a:avLst/>
          </a:prstGeom>
          <a:noFill/>
          <a:ln/>
        </p:spPr>
        <p:txBody>
          <a:bodyPr wrap="square" lIns="0" tIns="0" rIns="0" bIns="0" rtlCol="0" anchor="t"/>
          <a:lstStyle/>
          <a:p>
            <a:pPr indent="0" marL="0">
              <a:buNone/>
            </a:pPr>
            <a:r>
              <a:rPr lang="en-US" sz="1800" b="1" dirty="0">
                <a:solidFill>
                  <a:schemeClr val="accent1"/>
                </a:solidFill>
                <a:latin typeface="Cambria" pitchFamily="34" charset="0"/>
                <a:ea typeface="Cambria" pitchFamily="34" charset="-122"/>
                <a:cs typeface="Cambria" pitchFamily="34" charset="-120"/>
              </a:rPr>
              <a:t>Response workflow</a:t>
            </a:r>
            <a:endParaRPr lang="en-US" sz="1800" dirty="0"/>
          </a:p>
        </p:txBody>
      </p:sp>
      <p:sp>
        <p:nvSpPr>
          <p:cNvPr id="5" name="Text 3"/>
          <p:cNvSpPr txBox="1"/>
          <p:nvPr/>
        </p:nvSpPr>
        <p:spPr>
          <a:xfrm>
            <a:off x="777240" y="1874520"/>
            <a:ext cx="3291840" cy="3429000"/>
          </a:xfrm>
          <a:prstGeom prst="rect">
            <a:avLst/>
          </a:prstGeom>
          <a:noFill/>
          <a:ln/>
        </p:spPr>
        <p:txBody>
          <a:bodyPr wrap="square" lIns="0" tIns="0" rIns="0" bIns="0" rtlCol="0" anchor="t"/>
          <a:lstStyle/>
          <a:p>
            <a:pPr indent="0" marL="0">
              <a:spcAft>
                <a:spcPts val="600"/>
              </a:spcAft>
              <a:buNone/>
            </a:pPr>
            <a:r>
              <a:rPr lang="en-US" sz="1400" dirty="0">
                <a:solidFill>
                  <a:schemeClr val="bg1"/>
                </a:solidFill>
              </a:rPr>
              <a:t>Listen: monitor comments, DMs, tags, reviews and mentions daily</a:t>
            </a:r>
            <a:endParaRPr lang="en-US" sz="1400" dirty="0"/>
          </a:p>
          <a:p>
            <a:pPr indent="0" marL="0">
              <a:spcAft>
                <a:spcPts val="600"/>
              </a:spcAft>
              <a:buNone/>
            </a:pPr>
            <a:r>
              <a:rPr lang="en-US" sz="1400" dirty="0">
                <a:solidFill>
                  <a:schemeClr val="bg1"/>
                </a:solidFill>
              </a:rPr>
              <a:t>Triage: sort into question, lead, feedback or complaint</a:t>
            </a:r>
            <a:endParaRPr lang="en-US" sz="1400" dirty="0"/>
          </a:p>
          <a:p>
            <a:pPr indent="0" marL="0">
              <a:spcAft>
                <a:spcPts val="600"/>
              </a:spcAft>
              <a:buNone/>
            </a:pPr>
            <a:r>
              <a:rPr lang="en-US" sz="1400" dirty="0">
                <a:solidFill>
                  <a:schemeClr val="bg1"/>
                </a:solidFill>
              </a:rPr>
              <a:t>Reply: use the playbook, in Della's voice, the same day in working hours</a:t>
            </a:r>
            <a:endParaRPr lang="en-US" sz="1400" dirty="0"/>
          </a:p>
          <a:p>
            <a:pPr indent="0" marL="0">
              <a:spcAft>
                <a:spcPts val="600"/>
              </a:spcAft>
              <a:buNone/>
            </a:pPr>
            <a:r>
              <a:rPr lang="en-US" sz="1400" dirty="0">
                <a:solidFill>
                  <a:schemeClr val="bg1"/>
                </a:solidFill>
              </a:rPr>
              <a:t>Escalate: hand over with context when it needs sales or leadership</a:t>
            </a:r>
            <a:endParaRPr lang="en-US" sz="1400" dirty="0"/>
          </a:p>
          <a:p>
            <a:pPr indent="0" marL="0">
              <a:spcAft>
                <a:spcPts val="600"/>
              </a:spcAft>
              <a:buNone/>
            </a:pPr>
            <a:r>
              <a:rPr lang="en-US" sz="1400" dirty="0">
                <a:solidFill>
                  <a:schemeClr val="bg1"/>
                </a:solidFill>
              </a:rPr>
              <a:t>Learn: log the theme and feed it into content and service fixes</a:t>
            </a:r>
            <a:endParaRPr lang="en-US" sz="1400" dirty="0"/>
          </a:p>
        </p:txBody>
      </p:sp>
      <p:sp>
        <p:nvSpPr>
          <p:cNvPr id="6" name="Escalation Level 1"/>
          <p:cNvSpPr/>
          <p:nvPr/>
        </p:nvSpPr>
        <p:spPr>
          <a:xfrm>
            <a:off x="4526280" y="1325880"/>
            <a:ext cx="3749040" cy="1280160"/>
          </a:xfrm>
          <a:prstGeom prst="roundRect">
            <a:avLst>
              <a:gd name="adj" fmla="val 5714"/>
            </a:avLst>
          </a:prstGeom>
          <a:solidFill>
            <a:schemeClr val="bg2"/>
          </a:solidFill>
          <a:ln w="9525">
            <a:solidFill>
              <a:schemeClr val="bg2"/>
            </a:solidFill>
            <a:prstDash val="solid"/>
          </a:ln>
        </p:spPr>
      </p:sp>
      <p:sp>
        <p:nvSpPr>
          <p:cNvPr id="7" name="Text 5"/>
          <p:cNvSpPr txBox="1"/>
          <p:nvPr/>
        </p:nvSpPr>
        <p:spPr>
          <a:xfrm>
            <a:off x="4754880" y="1417320"/>
            <a:ext cx="3337560" cy="502920"/>
          </a:xfrm>
          <a:prstGeom prst="rect">
            <a:avLst/>
          </a:prstGeom>
          <a:noFill/>
          <a:ln/>
        </p:spPr>
        <p:txBody>
          <a:bodyPr wrap="square" lIns="0" tIns="0" rIns="0" bIns="0" rtlCol="0" anchor="t"/>
          <a:lstStyle/>
          <a:p>
            <a:pPr indent="0" marL="0">
              <a:buNone/>
            </a:pPr>
            <a:r>
              <a:rPr lang="en-US" sz="1200" b="1" dirty="0">
                <a:solidFill>
                  <a:schemeClr val="accent1"/>
                </a:solidFill>
              </a:rPr>
              <a:t>Level 1</a:t>
            </a:r>
            <a:pPr indent="0" marL="0">
              <a:buNone/>
            </a:pPr>
            <a:r>
              <a:rPr lang="en-US" sz="1400" b="1" dirty="0">
                <a:solidFill>
                  <a:schemeClr val="bg1"/>
                </a:solidFill>
              </a:rPr>
              <a:t>   General questions and praise</a:t>
            </a:r>
            <a:endParaRPr lang="en-US" sz="1200" dirty="0"/>
          </a:p>
        </p:txBody>
      </p:sp>
      <p:sp>
        <p:nvSpPr>
          <p:cNvPr id="8" name="Text 6"/>
          <p:cNvSpPr txBox="1"/>
          <p:nvPr/>
        </p:nvSpPr>
        <p:spPr>
          <a:xfrm>
            <a:off x="4754880" y="1965960"/>
            <a:ext cx="3337560" cy="594360"/>
          </a:xfrm>
          <a:prstGeom prst="rect">
            <a:avLst/>
          </a:prstGeom>
          <a:noFill/>
          <a:ln/>
        </p:spPr>
        <p:txBody>
          <a:bodyPr wrap="square" lIns="0" tIns="0" rIns="0" bIns="0" rtlCol="0" anchor="t"/>
          <a:lstStyle/>
          <a:p>
            <a:pPr indent="0" marL="0">
              <a:buNone/>
            </a:pPr>
            <a:r>
              <a:rPr lang="en-US" sz="1200" dirty="0">
                <a:solidFill>
                  <a:schemeClr val="accent3"/>
                </a:solidFill>
              </a:rPr>
              <a:t>Reply from the playbook and keep the thread helpful</a:t>
            </a:r>
            <a:endParaRPr lang="en-US" sz="1200" dirty="0"/>
          </a:p>
        </p:txBody>
      </p:sp>
      <p:sp>
        <p:nvSpPr>
          <p:cNvPr id="9" name="Escalation Level 2"/>
          <p:cNvSpPr/>
          <p:nvPr/>
        </p:nvSpPr>
        <p:spPr>
          <a:xfrm>
            <a:off x="4526280" y="2697480"/>
            <a:ext cx="3749040" cy="1280160"/>
          </a:xfrm>
          <a:prstGeom prst="roundRect">
            <a:avLst>
              <a:gd name="adj" fmla="val 5714"/>
            </a:avLst>
          </a:prstGeom>
          <a:solidFill>
            <a:schemeClr val="bg2"/>
          </a:solidFill>
          <a:ln w="9525">
            <a:solidFill>
              <a:schemeClr val="bg2"/>
            </a:solidFill>
            <a:prstDash val="solid"/>
          </a:ln>
        </p:spPr>
      </p:sp>
      <p:sp>
        <p:nvSpPr>
          <p:cNvPr id="10" name="Text 8"/>
          <p:cNvSpPr txBox="1"/>
          <p:nvPr/>
        </p:nvSpPr>
        <p:spPr>
          <a:xfrm>
            <a:off x="4754880" y="2788920"/>
            <a:ext cx="3337560" cy="502920"/>
          </a:xfrm>
          <a:prstGeom prst="rect">
            <a:avLst/>
          </a:prstGeom>
          <a:noFill/>
          <a:ln/>
        </p:spPr>
        <p:txBody>
          <a:bodyPr wrap="square" lIns="0" tIns="0" rIns="0" bIns="0" rtlCol="0" anchor="t"/>
          <a:lstStyle/>
          <a:p>
            <a:pPr indent="0" marL="0">
              <a:buNone/>
            </a:pPr>
            <a:r>
              <a:rPr lang="en-US" sz="1200" b="1" dirty="0">
                <a:solidFill>
                  <a:schemeClr val="accent1"/>
                </a:solidFill>
              </a:rPr>
              <a:t>Level 2</a:t>
            </a:r>
            <a:pPr indent="0" marL="0">
              <a:buNone/>
            </a:pPr>
            <a:r>
              <a:rPr lang="en-US" sz="1400" b="1" dirty="0">
                <a:solidFill>
                  <a:schemeClr val="bg1"/>
                </a:solidFill>
              </a:rPr>
              <a:t>   Price, availability, approvals, bookings</a:t>
            </a:r>
            <a:endParaRPr lang="en-US" sz="1200" dirty="0"/>
          </a:p>
        </p:txBody>
      </p:sp>
      <p:sp>
        <p:nvSpPr>
          <p:cNvPr id="11" name="Text 9"/>
          <p:cNvSpPr txBox="1"/>
          <p:nvPr/>
        </p:nvSpPr>
        <p:spPr>
          <a:xfrm>
            <a:off x="4754880" y="3337560"/>
            <a:ext cx="3337560" cy="594360"/>
          </a:xfrm>
          <a:prstGeom prst="rect">
            <a:avLst/>
          </a:prstGeom>
          <a:noFill/>
          <a:ln/>
        </p:spPr>
        <p:txBody>
          <a:bodyPr wrap="square" lIns="0" tIns="0" rIns="0" bIns="0" rtlCol="0" anchor="t"/>
          <a:lstStyle/>
          <a:p>
            <a:pPr indent="0" marL="0">
              <a:buNone/>
            </a:pPr>
            <a:r>
              <a:rPr lang="en-US" sz="1200" dirty="0">
                <a:solidFill>
                  <a:schemeClr val="accent3"/>
                </a:solidFill>
              </a:rPr>
              <a:t>Move to WhatsApp or a call, pass to sales with context within the working day</a:t>
            </a:r>
            <a:endParaRPr lang="en-US" sz="1200" dirty="0"/>
          </a:p>
        </p:txBody>
      </p:sp>
      <p:sp>
        <p:nvSpPr>
          <p:cNvPr id="12" name="Escalation Level 3"/>
          <p:cNvSpPr/>
          <p:nvPr/>
        </p:nvSpPr>
        <p:spPr>
          <a:xfrm>
            <a:off x="4526280" y="4069080"/>
            <a:ext cx="3749040" cy="1280160"/>
          </a:xfrm>
          <a:prstGeom prst="roundRect">
            <a:avLst>
              <a:gd name="adj" fmla="val 5714"/>
            </a:avLst>
          </a:prstGeom>
          <a:solidFill>
            <a:schemeClr val="bg2"/>
          </a:solidFill>
          <a:ln w="9525">
            <a:solidFill>
              <a:schemeClr val="bg2"/>
            </a:solidFill>
            <a:prstDash val="solid"/>
          </a:ln>
        </p:spPr>
      </p:sp>
      <p:sp>
        <p:nvSpPr>
          <p:cNvPr id="13" name="Text 11"/>
          <p:cNvSpPr txBox="1"/>
          <p:nvPr/>
        </p:nvSpPr>
        <p:spPr>
          <a:xfrm>
            <a:off x="4754880" y="4160520"/>
            <a:ext cx="3337560" cy="502920"/>
          </a:xfrm>
          <a:prstGeom prst="rect">
            <a:avLst/>
          </a:prstGeom>
          <a:noFill/>
          <a:ln/>
        </p:spPr>
        <p:txBody>
          <a:bodyPr wrap="square" lIns="0" tIns="0" rIns="0" bIns="0" rtlCol="0" anchor="t"/>
          <a:lstStyle/>
          <a:p>
            <a:pPr indent="0" marL="0">
              <a:buNone/>
            </a:pPr>
            <a:r>
              <a:rPr lang="en-US" sz="1200" b="1" dirty="0">
                <a:solidFill>
                  <a:schemeClr val="accent1"/>
                </a:solidFill>
              </a:rPr>
              <a:t>Level 3</a:t>
            </a:r>
            <a:pPr indent="0" marL="0">
              <a:buNone/>
            </a:pPr>
            <a:r>
              <a:rPr lang="en-US" sz="1400" b="1" dirty="0">
                <a:solidFill>
                  <a:schemeClr val="bg1"/>
                </a:solidFill>
              </a:rPr>
              <a:t>   Complaints, safety, legal or media</a:t>
            </a:r>
            <a:endParaRPr lang="en-US" sz="1200" dirty="0"/>
          </a:p>
        </p:txBody>
      </p:sp>
      <p:sp>
        <p:nvSpPr>
          <p:cNvPr id="14" name="Text 12"/>
          <p:cNvSpPr txBox="1"/>
          <p:nvPr/>
        </p:nvSpPr>
        <p:spPr>
          <a:xfrm>
            <a:off x="4754880" y="4709160"/>
            <a:ext cx="3337560" cy="594360"/>
          </a:xfrm>
          <a:prstGeom prst="rect">
            <a:avLst/>
          </a:prstGeom>
          <a:noFill/>
          <a:ln/>
        </p:spPr>
        <p:txBody>
          <a:bodyPr wrap="square" lIns="0" tIns="0" rIns="0" bIns="0" rtlCol="0" anchor="t"/>
          <a:lstStyle/>
          <a:p>
            <a:pPr indent="0" marL="0">
              <a:buNone/>
            </a:pPr>
            <a:r>
              <a:rPr lang="en-US" sz="1200" dirty="0">
                <a:solidFill>
                  <a:schemeClr val="accent3"/>
                </a:solidFill>
              </a:rPr>
              <a:t>Escalate to leadership at once, reply once politely, take it offline</a:t>
            </a:r>
            <a:endParaRPr lang="en-US" sz="1200" dirty="0"/>
          </a:p>
        </p:txBody>
      </p:sp>
      <p:sp>
        <p:nvSpPr>
          <p:cNvPr id="15" name="Listening card"/>
          <p:cNvSpPr/>
          <p:nvPr/>
        </p:nvSpPr>
        <p:spPr>
          <a:xfrm>
            <a:off x="8503920" y="1325880"/>
            <a:ext cx="3136392" cy="2331720"/>
          </a:xfrm>
          <a:prstGeom prst="roundRect">
            <a:avLst>
              <a:gd name="adj" fmla="val 3137"/>
            </a:avLst>
          </a:prstGeom>
          <a:solidFill>
            <a:schemeClr val="tx2"/>
          </a:solidFill>
          <a:ln w="9525">
            <a:solidFill>
              <a:schemeClr val="bg2"/>
            </a:solidFill>
            <a:prstDash val="solid"/>
          </a:ln>
        </p:spPr>
      </p:sp>
      <p:sp>
        <p:nvSpPr>
          <p:cNvPr id="16" name="Text 14"/>
          <p:cNvSpPr txBox="1"/>
          <p:nvPr/>
        </p:nvSpPr>
        <p:spPr>
          <a:xfrm>
            <a:off x="8686800" y="1417320"/>
            <a:ext cx="2834640" cy="274320"/>
          </a:xfrm>
          <a:prstGeom prst="rect">
            <a:avLst/>
          </a:prstGeom>
          <a:noFill/>
          <a:ln/>
        </p:spPr>
        <p:txBody>
          <a:bodyPr wrap="square" lIns="0" tIns="0" rIns="0" bIns="0" rtlCol="0" anchor="t"/>
          <a:lstStyle/>
          <a:p>
            <a:pPr indent="0" marL="0">
              <a:buNone/>
            </a:pPr>
            <a:r>
              <a:rPr lang="en-US" sz="1400" b="1" dirty="0">
                <a:solidFill>
                  <a:schemeClr val="accent1"/>
                </a:solidFill>
              </a:rPr>
              <a:t>Social listening themes</a:t>
            </a:r>
            <a:endParaRPr lang="en-US" sz="1400" dirty="0"/>
          </a:p>
        </p:txBody>
      </p:sp>
      <p:sp>
        <p:nvSpPr>
          <p:cNvPr id="17" name="Text 15"/>
          <p:cNvSpPr txBox="1"/>
          <p:nvPr/>
        </p:nvSpPr>
        <p:spPr>
          <a:xfrm>
            <a:off x="8686800" y="1737360"/>
            <a:ext cx="2834640" cy="1874520"/>
          </a:xfrm>
          <a:prstGeom prst="rect">
            <a:avLst/>
          </a:prstGeom>
          <a:noFill/>
          <a:ln/>
        </p:spPr>
        <p:txBody>
          <a:bodyPr wrap="square" lIns="0" tIns="0" rIns="0" bIns="0" rtlCol="0" anchor="t"/>
          <a:lstStyle/>
          <a:p>
            <a:pPr marL="342900" indent="-342900">
              <a:spcAft>
                <a:spcPts val="200"/>
              </a:spcAft>
              <a:buSzPct val="100000"/>
              <a:buChar char="•"/>
            </a:pPr>
            <a:r>
              <a:rPr lang="en-US" sz="1200" dirty="0">
                <a:solidFill>
                  <a:schemeClr val="bg1"/>
                </a:solidFill>
              </a:rPr>
              <a:t>Price and payment</a:t>
            </a:r>
            <a:endParaRPr lang="en-US" sz="1200" dirty="0"/>
          </a:p>
          <a:p>
            <a:pPr marL="342900" indent="-342900">
              <a:spcAft>
                <a:spcPts val="200"/>
              </a:spcAft>
              <a:buSzPct val="100000"/>
              <a:buChar char="•"/>
            </a:pPr>
            <a:r>
              <a:rPr lang="en-US" sz="1200" dirty="0">
                <a:solidFill>
                  <a:schemeClr val="bg1"/>
                </a:solidFill>
              </a:rPr>
              <a:t>Location and connectivity</a:t>
            </a:r>
            <a:endParaRPr lang="en-US" sz="1200" dirty="0"/>
          </a:p>
          <a:p>
            <a:pPr marL="342900" indent="-342900">
              <a:spcAft>
                <a:spcPts val="200"/>
              </a:spcAft>
              <a:buSzPct val="100000"/>
              <a:buChar char="•"/>
            </a:pPr>
            <a:r>
              <a:rPr lang="en-US" sz="1200" dirty="0">
                <a:solidFill>
                  <a:schemeClr val="bg1"/>
                </a:solidFill>
              </a:rPr>
              <a:t>Delivery timelines</a:t>
            </a:r>
            <a:endParaRPr lang="en-US" sz="1200" dirty="0"/>
          </a:p>
          <a:p>
            <a:pPr marL="342900" indent="-342900">
              <a:spcAft>
                <a:spcPts val="200"/>
              </a:spcAft>
              <a:buSzPct val="100000"/>
              <a:buChar char="•"/>
            </a:pPr>
            <a:r>
              <a:rPr lang="en-US" sz="1200" dirty="0">
                <a:solidFill>
                  <a:schemeClr val="bg1"/>
                </a:solidFill>
              </a:rPr>
              <a:t>Amenities and lifestyle</a:t>
            </a:r>
            <a:endParaRPr lang="en-US" sz="1200" dirty="0"/>
          </a:p>
          <a:p>
            <a:pPr marL="342900" indent="-342900">
              <a:spcAft>
                <a:spcPts val="200"/>
              </a:spcAft>
              <a:buSzPct val="100000"/>
              <a:buChar char="•"/>
            </a:pPr>
            <a:r>
              <a:rPr lang="en-US" sz="1200" dirty="0">
                <a:solidFill>
                  <a:schemeClr val="bg1"/>
                </a:solidFill>
              </a:rPr>
              <a:t>Trust and approvals</a:t>
            </a:r>
            <a:endParaRPr lang="en-US" sz="1200" dirty="0"/>
          </a:p>
          <a:p>
            <a:pPr marL="342900" indent="-342900">
              <a:spcAft>
                <a:spcPts val="200"/>
              </a:spcAft>
              <a:buSzPct val="100000"/>
              <a:buChar char="•"/>
            </a:pPr>
            <a:r>
              <a:rPr lang="en-US" sz="1200" dirty="0">
                <a:solidFill>
                  <a:schemeClr val="bg1"/>
                </a:solidFill>
              </a:rPr>
              <a:t>Stay and service experience</a:t>
            </a:r>
            <a:endParaRPr lang="en-US" sz="1200" dirty="0"/>
          </a:p>
        </p:txBody>
      </p:sp>
      <p:sp>
        <p:nvSpPr>
          <p:cNvPr id="18" name="Reputation card"/>
          <p:cNvSpPr/>
          <p:nvPr/>
        </p:nvSpPr>
        <p:spPr>
          <a:xfrm>
            <a:off x="8503920" y="3794760"/>
            <a:ext cx="3136392" cy="1600200"/>
          </a:xfrm>
          <a:prstGeom prst="roundRect">
            <a:avLst>
              <a:gd name="adj" fmla="val 4571"/>
            </a:avLst>
          </a:prstGeom>
          <a:solidFill>
            <a:schemeClr val="bg2"/>
          </a:solidFill>
          <a:ln w="9525">
            <a:solidFill>
              <a:schemeClr val="bg2"/>
            </a:solidFill>
            <a:prstDash val="solid"/>
          </a:ln>
        </p:spPr>
      </p:sp>
      <p:sp>
        <p:nvSpPr>
          <p:cNvPr id="19" name="Text 17"/>
          <p:cNvSpPr txBox="1"/>
          <p:nvPr/>
        </p:nvSpPr>
        <p:spPr>
          <a:xfrm>
            <a:off x="8686800" y="3886200"/>
            <a:ext cx="2834640" cy="274320"/>
          </a:xfrm>
          <a:prstGeom prst="rect">
            <a:avLst/>
          </a:prstGeom>
          <a:noFill/>
          <a:ln/>
        </p:spPr>
        <p:txBody>
          <a:bodyPr wrap="square" lIns="0" tIns="0" rIns="0" bIns="0" rtlCol="0" anchor="t"/>
          <a:lstStyle/>
          <a:p>
            <a:pPr indent="0" marL="0">
              <a:buNone/>
            </a:pPr>
            <a:r>
              <a:rPr lang="en-US" sz="1400" b="1" dirty="0">
                <a:solidFill>
                  <a:schemeClr val="accent1"/>
                </a:solidFill>
              </a:rPr>
              <a:t>Reputation</a:t>
            </a:r>
            <a:endParaRPr lang="en-US" sz="1400" dirty="0"/>
          </a:p>
        </p:txBody>
      </p:sp>
      <p:sp>
        <p:nvSpPr>
          <p:cNvPr id="20" name="Text 18"/>
          <p:cNvSpPr txBox="1"/>
          <p:nvPr/>
        </p:nvSpPr>
        <p:spPr>
          <a:xfrm>
            <a:off x="8686800" y="4206240"/>
            <a:ext cx="2834640" cy="1143000"/>
          </a:xfrm>
          <a:prstGeom prst="rect">
            <a:avLst/>
          </a:prstGeom>
          <a:noFill/>
          <a:ln/>
        </p:spPr>
        <p:txBody>
          <a:bodyPr wrap="square" lIns="0" tIns="0" rIns="0" bIns="0" rtlCol="0" anchor="t"/>
          <a:lstStyle/>
          <a:p>
            <a:pPr marL="342900" indent="-342900">
              <a:spcAft>
                <a:spcPts val="300"/>
              </a:spcAft>
              <a:buSzPct val="100000"/>
              <a:buChar char="•"/>
            </a:pPr>
            <a:r>
              <a:rPr lang="en-US" sz="1200" dirty="0">
                <a:solidFill>
                  <a:schemeClr val="bg1"/>
                </a:solidFill>
              </a:rPr>
              <a:t>Reply to every review, good or bad</a:t>
            </a:r>
            <a:endParaRPr lang="en-US" sz="1200" dirty="0"/>
          </a:p>
          <a:p>
            <a:pPr marL="342900" indent="-342900">
              <a:spcAft>
                <a:spcPts val="300"/>
              </a:spcAft>
              <a:buSzPct val="100000"/>
              <a:buChar char="•"/>
            </a:pPr>
            <a:r>
              <a:rPr lang="en-US" sz="1200" dirty="0">
                <a:solidFill>
                  <a:schemeClr val="bg1"/>
                </a:solidFill>
              </a:rPr>
              <a:t>Collect guest and owner stories with permission</a:t>
            </a:r>
            <a:endParaRPr lang="en-US" sz="1200" dirty="0"/>
          </a:p>
          <a:p>
            <a:pPr marL="342900" indent="-342900">
              <a:spcAft>
                <a:spcPts val="300"/>
              </a:spcAft>
              <a:buSzPct val="100000"/>
              <a:buChar char="•"/>
            </a:pPr>
            <a:r>
              <a:rPr lang="en-US" sz="1200" dirty="0">
                <a:solidFill>
                  <a:schemeClr val="bg1"/>
                </a:solidFill>
              </a:rPr>
              <a:t>Track sentiment themes monthly and report them</a:t>
            </a:r>
            <a:endParaRPr lang="en-US" sz="1200" dirty="0"/>
          </a:p>
        </p:txBody>
      </p:sp>
      <p:sp>
        <p:nvSpPr>
          <p:cNvPr id="21" name="ORM strip"/>
          <p:cNvSpPr/>
          <p:nvPr/>
        </p:nvSpPr>
        <p:spPr>
          <a:xfrm>
            <a:off x="548640" y="5577840"/>
            <a:ext cx="11091672" cy="731520"/>
          </a:xfrm>
          <a:prstGeom prst="roundRect">
            <a:avLst>
              <a:gd name="adj" fmla="val 10000"/>
            </a:avLst>
          </a:prstGeom>
          <a:solidFill>
            <a:schemeClr val="accent1"/>
          </a:solidFill>
          <a:ln w="9525">
            <a:solidFill>
              <a:schemeClr val="bg2"/>
            </a:solidFill>
            <a:prstDash val="solid"/>
          </a:ln>
        </p:spPr>
      </p:sp>
      <p:sp>
        <p:nvSpPr>
          <p:cNvPr id="22" name="Text 20"/>
          <p:cNvSpPr txBox="1"/>
          <p:nvPr/>
        </p:nvSpPr>
        <p:spPr>
          <a:xfrm>
            <a:off x="822960" y="5577840"/>
            <a:ext cx="10515600" cy="731520"/>
          </a:xfrm>
          <a:prstGeom prst="rect">
            <a:avLst/>
          </a:prstGeom>
          <a:noFill/>
          <a:ln/>
        </p:spPr>
        <p:txBody>
          <a:bodyPr wrap="square" lIns="0" tIns="0" rIns="0" bIns="0" rtlCol="0" anchor="ctr"/>
          <a:lstStyle/>
          <a:p>
            <a:pPr indent="0" marL="0">
              <a:buNone/>
            </a:pPr>
            <a:r>
              <a:rPr lang="en-US" sz="1600" dirty="0">
                <a:solidFill>
                  <a:schemeClr val="tx1"/>
                </a:solidFill>
                <a:latin typeface="Cambria" pitchFamily="34" charset="0"/>
                <a:ea typeface="Cambria" pitchFamily="34" charset="-122"/>
                <a:cs typeface="Cambria" pitchFamily="34" charset="-120"/>
              </a:rPr>
              <a:t>Goal: protect trust. Questions get answers, leads reach sales with context, and complaints are closed fast and offline.</a:t>
            </a:r>
            <a:endParaRPr lang="en-US" sz="16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731520"/>
          </a:xfrm>
          <a:prstGeom prst="rect">
            <a:avLst/>
          </a:prstGeom>
          <a:noFill/>
          <a:ln/>
        </p:spPr>
        <p:txBody>
          <a:bodyPr wrap="square" lIns="0" tIns="0" rIns="0" bIns="0" rtlCol="0" anchor="ctr"/>
          <a:lstStyle/>
          <a:p>
            <a:pPr algn="l" indent="0" marL="0">
              <a:buNone/>
            </a:pPr>
            <a:r>
              <a:rPr lang="en-US" sz="3600" b="1" dirty="0">
                <a:solidFill>
                  <a:schemeClr val="bg1"/>
                </a:solidFill>
              </a:rPr>
              <a:t>Analytics, KPIs and optimisation</a:t>
            </a:r>
            <a:endParaRPr lang="en-US" sz="3600" dirty="0"/>
          </a:p>
        </p:txBody>
      </p:sp>
      <p:sp>
        <p:nvSpPr>
          <p:cNvPr id="3" name="Dashboard panel"/>
          <p:cNvSpPr/>
          <p:nvPr/>
        </p:nvSpPr>
        <p:spPr>
          <a:xfrm>
            <a:off x="548640" y="1325880"/>
            <a:ext cx="6400800" cy="4251960"/>
          </a:xfrm>
          <a:prstGeom prst="roundRect">
            <a:avLst>
              <a:gd name="adj" fmla="val 1720"/>
            </a:avLst>
          </a:prstGeom>
          <a:solidFill>
            <a:schemeClr val="bg2"/>
          </a:solidFill>
          <a:ln w="9525">
            <a:solidFill>
              <a:schemeClr val="bg2"/>
            </a:solidFill>
            <a:prstDash val="solid"/>
          </a:ln>
        </p:spPr>
      </p:sp>
      <p:sp>
        <p:nvSpPr>
          <p:cNvPr id="4" name="Text 2"/>
          <p:cNvSpPr txBox="1"/>
          <p:nvPr/>
        </p:nvSpPr>
        <p:spPr>
          <a:xfrm>
            <a:off x="777240" y="1444752"/>
            <a:ext cx="5943600" cy="365760"/>
          </a:xfrm>
          <a:prstGeom prst="rect">
            <a:avLst/>
          </a:prstGeom>
          <a:noFill/>
          <a:ln/>
        </p:spPr>
        <p:txBody>
          <a:bodyPr wrap="square" lIns="0" tIns="0" rIns="0" bIns="0" rtlCol="0" anchor="t"/>
          <a:lstStyle/>
          <a:p>
            <a:pPr indent="0" marL="0">
              <a:buNone/>
            </a:pPr>
            <a:r>
              <a:rPr lang="en-US" sz="1600" b="1" dirty="0">
                <a:solidFill>
                  <a:schemeClr val="accent1"/>
                </a:solidFill>
                <a:latin typeface="Cambria" pitchFamily="34" charset="0"/>
                <a:ea typeface="Cambria" pitchFamily="34" charset="-122"/>
                <a:cs typeface="Cambria" pitchFamily="34" charset="-120"/>
              </a:rPr>
              <a:t>Leadership dashboard</a:t>
            </a:r>
            <a:pPr indent="0" marL="0">
              <a:buNone/>
            </a:pPr>
            <a:r>
              <a:rPr lang="en-US" sz="1200" i="1" dirty="0">
                <a:solidFill>
                  <a:schemeClr val="accent3"/>
                </a:solidFill>
              </a:rPr>
              <a:t>   The metrics I would show leadership every month</a:t>
            </a:r>
            <a:endParaRPr lang="en-US" sz="1600" dirty="0"/>
          </a:p>
        </p:txBody>
      </p:sp>
      <p:sp>
        <p:nvSpPr>
          <p:cNvPr id="5" name="Metric Reach in target cities"/>
          <p:cNvSpPr/>
          <p:nvPr/>
        </p:nvSpPr>
        <p:spPr>
          <a:xfrm>
            <a:off x="777240" y="1920240"/>
            <a:ext cx="1828800" cy="1325880"/>
          </a:xfrm>
          <a:prstGeom prst="roundRect">
            <a:avLst>
              <a:gd name="adj" fmla="val 5517"/>
            </a:avLst>
          </a:prstGeom>
          <a:solidFill>
            <a:schemeClr val="tx2"/>
          </a:solidFill>
          <a:ln w="9525">
            <a:solidFill>
              <a:schemeClr val="bg2"/>
            </a:solidFill>
            <a:prstDash val="solid"/>
          </a:ln>
        </p:spPr>
      </p:sp>
      <p:sp>
        <p:nvSpPr>
          <p:cNvPr id="6" name="Text 4"/>
          <p:cNvSpPr txBox="1"/>
          <p:nvPr/>
        </p:nvSpPr>
        <p:spPr>
          <a:xfrm>
            <a:off x="914400" y="2029968"/>
            <a:ext cx="1554480" cy="594360"/>
          </a:xfrm>
          <a:prstGeom prst="rect">
            <a:avLst/>
          </a:prstGeom>
          <a:noFill/>
          <a:ln/>
        </p:spPr>
        <p:txBody>
          <a:bodyPr wrap="square" lIns="0" tIns="0" rIns="0" bIns="0" rtlCol="0" anchor="t"/>
          <a:lstStyle/>
          <a:p>
            <a:pPr indent="0" marL="0">
              <a:buNone/>
            </a:pPr>
            <a:r>
              <a:rPr lang="en-US" sz="1400" b="1" dirty="0">
                <a:solidFill>
                  <a:schemeClr val="accent1"/>
                </a:solidFill>
                <a:latin typeface="Cambria" pitchFamily="34" charset="0"/>
                <a:ea typeface="Cambria" pitchFamily="34" charset="-122"/>
                <a:cs typeface="Cambria" pitchFamily="34" charset="-120"/>
              </a:rPr>
              <a:t>Reach in target cities</a:t>
            </a:r>
            <a:endParaRPr lang="en-US" sz="1400" dirty="0"/>
          </a:p>
        </p:txBody>
      </p:sp>
      <p:sp>
        <p:nvSpPr>
          <p:cNvPr id="7" name="Text 5"/>
          <p:cNvSpPr txBox="1"/>
          <p:nvPr/>
        </p:nvSpPr>
        <p:spPr>
          <a:xfrm>
            <a:off x="914400" y="2670048"/>
            <a:ext cx="1554480" cy="502920"/>
          </a:xfrm>
          <a:prstGeom prst="rect">
            <a:avLst/>
          </a:prstGeom>
          <a:noFill/>
          <a:ln/>
        </p:spPr>
        <p:txBody>
          <a:bodyPr wrap="square" lIns="0" tIns="0" rIns="0" bIns="0" rtlCol="0" anchor="t"/>
          <a:lstStyle/>
          <a:p>
            <a:pPr indent="0" marL="0">
              <a:buNone/>
            </a:pPr>
            <a:r>
              <a:rPr lang="en-US" sz="1200" dirty="0">
                <a:solidFill>
                  <a:schemeClr val="bg1"/>
                </a:solidFill>
              </a:rPr>
              <a:t>Are the right cities seeing Della?</a:t>
            </a:r>
            <a:endParaRPr lang="en-US" sz="1200" dirty="0"/>
          </a:p>
        </p:txBody>
      </p:sp>
      <p:sp>
        <p:nvSpPr>
          <p:cNvPr id="8" name="Metric Engagement rate"/>
          <p:cNvSpPr/>
          <p:nvPr/>
        </p:nvSpPr>
        <p:spPr>
          <a:xfrm>
            <a:off x="2743200" y="1920240"/>
            <a:ext cx="1828800" cy="1325880"/>
          </a:xfrm>
          <a:prstGeom prst="roundRect">
            <a:avLst>
              <a:gd name="adj" fmla="val 5517"/>
            </a:avLst>
          </a:prstGeom>
          <a:solidFill>
            <a:schemeClr val="tx2"/>
          </a:solidFill>
          <a:ln w="9525">
            <a:solidFill>
              <a:schemeClr val="bg2"/>
            </a:solidFill>
            <a:prstDash val="solid"/>
          </a:ln>
        </p:spPr>
      </p:sp>
      <p:sp>
        <p:nvSpPr>
          <p:cNvPr id="9" name="Text 7"/>
          <p:cNvSpPr txBox="1"/>
          <p:nvPr/>
        </p:nvSpPr>
        <p:spPr>
          <a:xfrm>
            <a:off x="2880360" y="2029968"/>
            <a:ext cx="1554480" cy="594360"/>
          </a:xfrm>
          <a:prstGeom prst="rect">
            <a:avLst/>
          </a:prstGeom>
          <a:noFill/>
          <a:ln/>
        </p:spPr>
        <p:txBody>
          <a:bodyPr wrap="square" lIns="0" tIns="0" rIns="0" bIns="0" rtlCol="0" anchor="t"/>
          <a:lstStyle/>
          <a:p>
            <a:pPr indent="0" marL="0">
              <a:buNone/>
            </a:pPr>
            <a:r>
              <a:rPr lang="en-US" sz="1400" b="1" dirty="0">
                <a:solidFill>
                  <a:schemeClr val="accent1"/>
                </a:solidFill>
                <a:latin typeface="Cambria" pitchFamily="34" charset="0"/>
                <a:ea typeface="Cambria" pitchFamily="34" charset="-122"/>
                <a:cs typeface="Cambria" pitchFamily="34" charset="-120"/>
              </a:rPr>
              <a:t>Engagement rate</a:t>
            </a:r>
            <a:endParaRPr lang="en-US" sz="1400" dirty="0"/>
          </a:p>
        </p:txBody>
      </p:sp>
      <p:sp>
        <p:nvSpPr>
          <p:cNvPr id="10" name="Text 8"/>
          <p:cNvSpPr txBox="1"/>
          <p:nvPr/>
        </p:nvSpPr>
        <p:spPr>
          <a:xfrm>
            <a:off x="2880360" y="2670048"/>
            <a:ext cx="1554480" cy="502920"/>
          </a:xfrm>
          <a:prstGeom prst="rect">
            <a:avLst/>
          </a:prstGeom>
          <a:noFill/>
          <a:ln/>
        </p:spPr>
        <p:txBody>
          <a:bodyPr wrap="square" lIns="0" tIns="0" rIns="0" bIns="0" rtlCol="0" anchor="t"/>
          <a:lstStyle/>
          <a:p>
            <a:pPr indent="0" marL="0">
              <a:buNone/>
            </a:pPr>
            <a:r>
              <a:rPr lang="en-US" sz="1200" dirty="0">
                <a:solidFill>
                  <a:schemeClr val="bg1"/>
                </a:solidFill>
              </a:rPr>
              <a:t>Is the content resonating?</a:t>
            </a:r>
            <a:endParaRPr lang="en-US" sz="1200" dirty="0"/>
          </a:p>
        </p:txBody>
      </p:sp>
      <p:sp>
        <p:nvSpPr>
          <p:cNvPr id="11" name="Metric Saves and shares"/>
          <p:cNvSpPr/>
          <p:nvPr/>
        </p:nvSpPr>
        <p:spPr>
          <a:xfrm>
            <a:off x="4709160" y="1920240"/>
            <a:ext cx="1828800" cy="1325880"/>
          </a:xfrm>
          <a:prstGeom prst="roundRect">
            <a:avLst>
              <a:gd name="adj" fmla="val 5517"/>
            </a:avLst>
          </a:prstGeom>
          <a:solidFill>
            <a:schemeClr val="tx2"/>
          </a:solidFill>
          <a:ln w="9525">
            <a:solidFill>
              <a:schemeClr val="bg2"/>
            </a:solidFill>
            <a:prstDash val="solid"/>
          </a:ln>
        </p:spPr>
      </p:sp>
      <p:sp>
        <p:nvSpPr>
          <p:cNvPr id="12" name="Text 10"/>
          <p:cNvSpPr txBox="1"/>
          <p:nvPr/>
        </p:nvSpPr>
        <p:spPr>
          <a:xfrm>
            <a:off x="4846320" y="2029968"/>
            <a:ext cx="1554480" cy="594360"/>
          </a:xfrm>
          <a:prstGeom prst="rect">
            <a:avLst/>
          </a:prstGeom>
          <a:noFill/>
          <a:ln/>
        </p:spPr>
        <p:txBody>
          <a:bodyPr wrap="square" lIns="0" tIns="0" rIns="0" bIns="0" rtlCol="0" anchor="t"/>
          <a:lstStyle/>
          <a:p>
            <a:pPr indent="0" marL="0">
              <a:buNone/>
            </a:pPr>
            <a:r>
              <a:rPr lang="en-US" sz="1400" b="1" dirty="0">
                <a:solidFill>
                  <a:schemeClr val="accent1"/>
                </a:solidFill>
                <a:latin typeface="Cambria" pitchFamily="34" charset="0"/>
                <a:ea typeface="Cambria" pitchFamily="34" charset="-122"/>
                <a:cs typeface="Cambria" pitchFamily="34" charset="-120"/>
              </a:rPr>
              <a:t>Saves and shares</a:t>
            </a:r>
            <a:endParaRPr lang="en-US" sz="1400" dirty="0"/>
          </a:p>
        </p:txBody>
      </p:sp>
      <p:sp>
        <p:nvSpPr>
          <p:cNvPr id="13" name="Text 11"/>
          <p:cNvSpPr txBox="1"/>
          <p:nvPr/>
        </p:nvSpPr>
        <p:spPr>
          <a:xfrm>
            <a:off x="4846320" y="2670048"/>
            <a:ext cx="1554480" cy="502920"/>
          </a:xfrm>
          <a:prstGeom prst="rect">
            <a:avLst/>
          </a:prstGeom>
          <a:noFill/>
          <a:ln/>
        </p:spPr>
        <p:txBody>
          <a:bodyPr wrap="square" lIns="0" tIns="0" rIns="0" bIns="0" rtlCol="0" anchor="t"/>
          <a:lstStyle/>
          <a:p>
            <a:pPr indent="0" marL="0">
              <a:buNone/>
            </a:pPr>
            <a:r>
              <a:rPr lang="en-US" sz="1200" dirty="0">
                <a:solidFill>
                  <a:schemeClr val="bg1"/>
                </a:solidFill>
              </a:rPr>
              <a:t>Is interest deepening?</a:t>
            </a:r>
            <a:endParaRPr lang="en-US" sz="1200" dirty="0"/>
          </a:p>
        </p:txBody>
      </p:sp>
      <p:sp>
        <p:nvSpPr>
          <p:cNvPr id="14" name="Metric Qualified enquiries"/>
          <p:cNvSpPr/>
          <p:nvPr/>
        </p:nvSpPr>
        <p:spPr>
          <a:xfrm>
            <a:off x="777240" y="3383280"/>
            <a:ext cx="1828800" cy="1325880"/>
          </a:xfrm>
          <a:prstGeom prst="roundRect">
            <a:avLst>
              <a:gd name="adj" fmla="val 5517"/>
            </a:avLst>
          </a:prstGeom>
          <a:solidFill>
            <a:schemeClr val="tx2"/>
          </a:solidFill>
          <a:ln w="9525">
            <a:solidFill>
              <a:schemeClr val="bg2"/>
            </a:solidFill>
            <a:prstDash val="solid"/>
          </a:ln>
        </p:spPr>
      </p:sp>
      <p:sp>
        <p:nvSpPr>
          <p:cNvPr id="15" name="Text 13"/>
          <p:cNvSpPr txBox="1"/>
          <p:nvPr/>
        </p:nvSpPr>
        <p:spPr>
          <a:xfrm>
            <a:off x="914400" y="3493008"/>
            <a:ext cx="1554480" cy="594360"/>
          </a:xfrm>
          <a:prstGeom prst="rect">
            <a:avLst/>
          </a:prstGeom>
          <a:noFill/>
          <a:ln/>
        </p:spPr>
        <p:txBody>
          <a:bodyPr wrap="square" lIns="0" tIns="0" rIns="0" bIns="0" rtlCol="0" anchor="t"/>
          <a:lstStyle/>
          <a:p>
            <a:pPr indent="0" marL="0">
              <a:buNone/>
            </a:pPr>
            <a:r>
              <a:rPr lang="en-US" sz="1400" b="1" dirty="0">
                <a:solidFill>
                  <a:schemeClr val="accent1"/>
                </a:solidFill>
                <a:latin typeface="Cambria" pitchFamily="34" charset="0"/>
                <a:ea typeface="Cambria" pitchFamily="34" charset="-122"/>
                <a:cs typeface="Cambria" pitchFamily="34" charset="-120"/>
              </a:rPr>
              <a:t>Qualified enquiries</a:t>
            </a:r>
            <a:endParaRPr lang="en-US" sz="1400" dirty="0"/>
          </a:p>
        </p:txBody>
      </p:sp>
      <p:sp>
        <p:nvSpPr>
          <p:cNvPr id="16" name="Text 14"/>
          <p:cNvSpPr txBox="1"/>
          <p:nvPr/>
        </p:nvSpPr>
        <p:spPr>
          <a:xfrm>
            <a:off x="914400" y="4133088"/>
            <a:ext cx="1554480" cy="502920"/>
          </a:xfrm>
          <a:prstGeom prst="rect">
            <a:avLst/>
          </a:prstGeom>
          <a:noFill/>
          <a:ln/>
        </p:spPr>
        <p:txBody>
          <a:bodyPr wrap="square" lIns="0" tIns="0" rIns="0" bIns="0" rtlCol="0" anchor="t"/>
          <a:lstStyle/>
          <a:p>
            <a:pPr indent="0" marL="0">
              <a:buNone/>
            </a:pPr>
            <a:r>
              <a:rPr lang="en-US" sz="1200" dirty="0">
                <a:solidFill>
                  <a:schemeClr val="bg1"/>
                </a:solidFill>
              </a:rPr>
              <a:t>Is social creating demand?</a:t>
            </a:r>
            <a:endParaRPr lang="en-US" sz="1200" dirty="0"/>
          </a:p>
        </p:txBody>
      </p:sp>
      <p:sp>
        <p:nvSpPr>
          <p:cNvPr id="17" name="Metric Cost per qualified enquiry"/>
          <p:cNvSpPr/>
          <p:nvPr/>
        </p:nvSpPr>
        <p:spPr>
          <a:xfrm>
            <a:off x="2743200" y="3383280"/>
            <a:ext cx="1828800" cy="1325880"/>
          </a:xfrm>
          <a:prstGeom prst="roundRect">
            <a:avLst>
              <a:gd name="adj" fmla="val 5517"/>
            </a:avLst>
          </a:prstGeom>
          <a:solidFill>
            <a:schemeClr val="tx2"/>
          </a:solidFill>
          <a:ln w="9525">
            <a:solidFill>
              <a:schemeClr val="bg2"/>
            </a:solidFill>
            <a:prstDash val="solid"/>
          </a:ln>
        </p:spPr>
      </p:sp>
      <p:sp>
        <p:nvSpPr>
          <p:cNvPr id="18" name="Text 16"/>
          <p:cNvSpPr txBox="1"/>
          <p:nvPr/>
        </p:nvSpPr>
        <p:spPr>
          <a:xfrm>
            <a:off x="2880360" y="3493008"/>
            <a:ext cx="1554480" cy="594360"/>
          </a:xfrm>
          <a:prstGeom prst="rect">
            <a:avLst/>
          </a:prstGeom>
          <a:noFill/>
          <a:ln/>
        </p:spPr>
        <p:txBody>
          <a:bodyPr wrap="square" lIns="0" tIns="0" rIns="0" bIns="0" rtlCol="0" anchor="t"/>
          <a:lstStyle/>
          <a:p>
            <a:pPr indent="0" marL="0">
              <a:buNone/>
            </a:pPr>
            <a:r>
              <a:rPr lang="en-US" sz="1400" b="1" dirty="0">
                <a:solidFill>
                  <a:schemeClr val="accent1"/>
                </a:solidFill>
                <a:latin typeface="Cambria" pitchFamily="34" charset="0"/>
                <a:ea typeface="Cambria" pitchFamily="34" charset="-122"/>
                <a:cs typeface="Cambria" pitchFamily="34" charset="-120"/>
              </a:rPr>
              <a:t>Cost per qualified enquiry</a:t>
            </a:r>
            <a:endParaRPr lang="en-US" sz="1400" dirty="0"/>
          </a:p>
        </p:txBody>
      </p:sp>
      <p:sp>
        <p:nvSpPr>
          <p:cNvPr id="19" name="Text 17"/>
          <p:cNvSpPr txBox="1"/>
          <p:nvPr/>
        </p:nvSpPr>
        <p:spPr>
          <a:xfrm>
            <a:off x="2880360" y="4133088"/>
            <a:ext cx="1554480" cy="502920"/>
          </a:xfrm>
          <a:prstGeom prst="rect">
            <a:avLst/>
          </a:prstGeom>
          <a:noFill/>
          <a:ln/>
        </p:spPr>
        <p:txBody>
          <a:bodyPr wrap="square" lIns="0" tIns="0" rIns="0" bIns="0" rtlCol="0" anchor="t"/>
          <a:lstStyle/>
          <a:p>
            <a:pPr indent="0" marL="0">
              <a:buNone/>
            </a:pPr>
            <a:r>
              <a:rPr lang="en-US" sz="1200" dirty="0">
                <a:solidFill>
                  <a:schemeClr val="bg1"/>
                </a:solidFill>
              </a:rPr>
              <a:t>Is effort and spend efficient?</a:t>
            </a:r>
            <a:endParaRPr lang="en-US" sz="1200" dirty="0"/>
          </a:p>
        </p:txBody>
      </p:sp>
      <p:sp>
        <p:nvSpPr>
          <p:cNvPr id="20" name="Metric Visits booked and completed"/>
          <p:cNvSpPr/>
          <p:nvPr/>
        </p:nvSpPr>
        <p:spPr>
          <a:xfrm>
            <a:off x="4709160" y="3383280"/>
            <a:ext cx="1828800" cy="1325880"/>
          </a:xfrm>
          <a:prstGeom prst="roundRect">
            <a:avLst>
              <a:gd name="adj" fmla="val 5517"/>
            </a:avLst>
          </a:prstGeom>
          <a:solidFill>
            <a:schemeClr val="tx2"/>
          </a:solidFill>
          <a:ln w="9525">
            <a:solidFill>
              <a:schemeClr val="bg2"/>
            </a:solidFill>
            <a:prstDash val="solid"/>
          </a:ln>
        </p:spPr>
      </p:sp>
      <p:sp>
        <p:nvSpPr>
          <p:cNvPr id="21" name="Text 19"/>
          <p:cNvSpPr txBox="1"/>
          <p:nvPr/>
        </p:nvSpPr>
        <p:spPr>
          <a:xfrm>
            <a:off x="4846320" y="3493008"/>
            <a:ext cx="1554480" cy="594360"/>
          </a:xfrm>
          <a:prstGeom prst="rect">
            <a:avLst/>
          </a:prstGeom>
          <a:noFill/>
          <a:ln/>
        </p:spPr>
        <p:txBody>
          <a:bodyPr wrap="square" lIns="0" tIns="0" rIns="0" bIns="0" rtlCol="0" anchor="t"/>
          <a:lstStyle/>
          <a:p>
            <a:pPr indent="0" marL="0">
              <a:buNone/>
            </a:pPr>
            <a:r>
              <a:rPr lang="en-US" sz="1400" b="1" dirty="0">
                <a:solidFill>
                  <a:schemeClr val="accent1"/>
                </a:solidFill>
                <a:latin typeface="Cambria" pitchFamily="34" charset="0"/>
                <a:ea typeface="Cambria" pitchFamily="34" charset="-122"/>
                <a:cs typeface="Cambria" pitchFamily="34" charset="-120"/>
              </a:rPr>
              <a:t>Visits booked and completed</a:t>
            </a:r>
            <a:endParaRPr lang="en-US" sz="1400" dirty="0"/>
          </a:p>
        </p:txBody>
      </p:sp>
      <p:sp>
        <p:nvSpPr>
          <p:cNvPr id="22" name="Text 20"/>
          <p:cNvSpPr txBox="1"/>
          <p:nvPr/>
        </p:nvSpPr>
        <p:spPr>
          <a:xfrm>
            <a:off x="4846320" y="4133088"/>
            <a:ext cx="1554480" cy="502920"/>
          </a:xfrm>
          <a:prstGeom prst="rect">
            <a:avLst/>
          </a:prstGeom>
          <a:noFill/>
          <a:ln/>
        </p:spPr>
        <p:txBody>
          <a:bodyPr wrap="square" lIns="0" tIns="0" rIns="0" bIns="0" rtlCol="0" anchor="t"/>
          <a:lstStyle/>
          <a:p>
            <a:pPr indent="0" marL="0">
              <a:buNone/>
            </a:pPr>
            <a:r>
              <a:rPr lang="en-US" sz="1200" dirty="0">
                <a:solidFill>
                  <a:schemeClr val="bg1"/>
                </a:solidFill>
              </a:rPr>
              <a:t>Is demand turning into visits?</a:t>
            </a:r>
            <a:endParaRPr lang="en-US" sz="1200" dirty="0"/>
          </a:p>
        </p:txBody>
      </p:sp>
      <p:sp>
        <p:nvSpPr>
          <p:cNvPr id="23" name="Text 21"/>
          <p:cNvSpPr txBox="1"/>
          <p:nvPr/>
        </p:nvSpPr>
        <p:spPr>
          <a:xfrm>
            <a:off x="777240" y="4892040"/>
            <a:ext cx="5989320" cy="640080"/>
          </a:xfrm>
          <a:prstGeom prst="rect">
            <a:avLst/>
          </a:prstGeom>
          <a:noFill/>
          <a:ln/>
        </p:spPr>
        <p:txBody>
          <a:bodyPr wrap="square" lIns="0" tIns="0" rIns="0" bIns="0" rtlCol="0" anchor="ctr"/>
          <a:lstStyle/>
          <a:p>
            <a:pPr indent="0" marL="0">
              <a:buNone/>
            </a:pPr>
            <a:r>
              <a:rPr lang="en-US" sz="1200" b="1" dirty="0">
                <a:solidFill>
                  <a:schemeClr val="accent1"/>
                </a:solidFill>
              </a:rPr>
              <a:t>North star: </a:t>
            </a:r>
            <a:pPr indent="0" marL="0">
              <a:buNone/>
            </a:pPr>
            <a:r>
              <a:rPr lang="en-US" sz="1200" dirty="0">
                <a:solidFill>
                  <a:schemeClr val="bg1"/>
                </a:solidFill>
              </a:rPr>
              <a:t>Townships, site visits completed  |  Landowner partners, qualified partner enquiries  |  Resorts and Adventure, bookings and tickets from social</a:t>
            </a:r>
            <a:endParaRPr lang="en-US" sz="1200" dirty="0"/>
          </a:p>
        </p:txBody>
      </p:sp>
      <p:sp>
        <p:nvSpPr>
          <p:cNvPr id="24" name="Text 22"/>
          <p:cNvSpPr txBox="1"/>
          <p:nvPr/>
        </p:nvSpPr>
        <p:spPr>
          <a:xfrm>
            <a:off x="7178040" y="1325880"/>
            <a:ext cx="4389120" cy="228600"/>
          </a:xfrm>
          <a:prstGeom prst="rect">
            <a:avLst/>
          </a:prstGeom>
          <a:noFill/>
          <a:ln/>
        </p:spPr>
        <p:txBody>
          <a:bodyPr wrap="square" lIns="0" tIns="0" rIns="0" bIns="0" rtlCol="0" anchor="t"/>
          <a:lstStyle/>
          <a:p>
            <a:pPr indent="0" marL="0">
              <a:buNone/>
            </a:pPr>
            <a:r>
              <a:rPr lang="en-US" sz="1200" b="1" spc="100" kern="0" dirty="0">
                <a:solidFill>
                  <a:schemeClr val="accent3"/>
                </a:solidFill>
              </a:rPr>
              <a:t>MEASUREMENT FRAMEWORK</a:t>
            </a:r>
            <a:endParaRPr lang="en-US" sz="1200" dirty="0"/>
          </a:p>
        </p:txBody>
      </p:sp>
      <p:sp>
        <p:nvSpPr>
          <p:cNvPr id="25" name="KPI Visibility"/>
          <p:cNvSpPr/>
          <p:nvPr/>
        </p:nvSpPr>
        <p:spPr>
          <a:xfrm>
            <a:off x="7178040" y="1627632"/>
            <a:ext cx="4462272" cy="932688"/>
          </a:xfrm>
          <a:prstGeom prst="roundRect">
            <a:avLst>
              <a:gd name="adj" fmla="val 7843"/>
            </a:avLst>
          </a:prstGeom>
          <a:solidFill>
            <a:schemeClr val="tx2"/>
          </a:solidFill>
          <a:ln w="9525">
            <a:solidFill>
              <a:schemeClr val="bg2"/>
            </a:solidFill>
            <a:prstDash val="solid"/>
          </a:ln>
        </p:spPr>
      </p:sp>
      <p:sp>
        <p:nvSpPr>
          <p:cNvPr id="26" name="Text 24"/>
          <p:cNvSpPr txBox="1"/>
          <p:nvPr/>
        </p:nvSpPr>
        <p:spPr>
          <a:xfrm>
            <a:off x="7360920" y="1700784"/>
            <a:ext cx="4114800" cy="274320"/>
          </a:xfrm>
          <a:prstGeom prst="rect">
            <a:avLst/>
          </a:prstGeom>
          <a:noFill/>
          <a:ln/>
        </p:spPr>
        <p:txBody>
          <a:bodyPr wrap="square" lIns="0" tIns="0" rIns="0" bIns="0" rtlCol="0" anchor="t"/>
          <a:lstStyle/>
          <a:p>
            <a:pPr indent="0" marL="0">
              <a:buNone/>
            </a:pPr>
            <a:r>
              <a:rPr lang="en-US" sz="1400" b="1" dirty="0">
                <a:solidFill>
                  <a:schemeClr val="accent1"/>
                </a:solidFill>
              </a:rPr>
              <a:t>Visibility</a:t>
            </a:r>
            <a:pPr indent="0" marL="0">
              <a:buNone/>
            </a:pPr>
            <a:r>
              <a:rPr lang="en-US" sz="1200" i="1" dirty="0">
                <a:solidFill>
                  <a:schemeClr val="accent3"/>
                </a:solidFill>
              </a:rPr>
              <a:t>   Did we earn attention?</a:t>
            </a:r>
            <a:endParaRPr lang="en-US" sz="1400" dirty="0"/>
          </a:p>
        </p:txBody>
      </p:sp>
      <p:sp>
        <p:nvSpPr>
          <p:cNvPr id="27" name="Text 25"/>
          <p:cNvSpPr txBox="1"/>
          <p:nvPr/>
        </p:nvSpPr>
        <p:spPr>
          <a:xfrm>
            <a:off x="7360920" y="2011680"/>
            <a:ext cx="4114800" cy="502920"/>
          </a:xfrm>
          <a:prstGeom prst="rect">
            <a:avLst/>
          </a:prstGeom>
          <a:noFill/>
          <a:ln/>
        </p:spPr>
        <p:txBody>
          <a:bodyPr wrap="square" lIns="0" tIns="0" rIns="0" bIns="0" rtlCol="0" anchor="t"/>
          <a:lstStyle/>
          <a:p>
            <a:pPr indent="0" marL="0">
              <a:buNone/>
            </a:pPr>
            <a:r>
              <a:rPr lang="en-US" sz="1200" dirty="0">
                <a:solidFill>
                  <a:schemeClr val="bg1"/>
                </a:solidFill>
              </a:rPr>
              <a:t>Reach in target cities  |  Video hold and views, YouTube included  |  Follower growth</a:t>
            </a:r>
            <a:endParaRPr lang="en-US" sz="1200" dirty="0"/>
          </a:p>
        </p:txBody>
      </p:sp>
      <p:sp>
        <p:nvSpPr>
          <p:cNvPr id="28" name="KPI Consideration"/>
          <p:cNvSpPr/>
          <p:nvPr/>
        </p:nvSpPr>
        <p:spPr>
          <a:xfrm>
            <a:off x="7178040" y="2651760"/>
            <a:ext cx="4462272" cy="932688"/>
          </a:xfrm>
          <a:prstGeom prst="roundRect">
            <a:avLst>
              <a:gd name="adj" fmla="val 7843"/>
            </a:avLst>
          </a:prstGeom>
          <a:solidFill>
            <a:schemeClr val="tx2"/>
          </a:solidFill>
          <a:ln w="9525">
            <a:solidFill>
              <a:schemeClr val="bg2"/>
            </a:solidFill>
            <a:prstDash val="solid"/>
          </a:ln>
        </p:spPr>
      </p:sp>
      <p:sp>
        <p:nvSpPr>
          <p:cNvPr id="29" name="Text 27"/>
          <p:cNvSpPr txBox="1"/>
          <p:nvPr/>
        </p:nvSpPr>
        <p:spPr>
          <a:xfrm>
            <a:off x="7360920" y="2724912"/>
            <a:ext cx="4114800" cy="274320"/>
          </a:xfrm>
          <a:prstGeom prst="rect">
            <a:avLst/>
          </a:prstGeom>
          <a:noFill/>
          <a:ln/>
        </p:spPr>
        <p:txBody>
          <a:bodyPr wrap="square" lIns="0" tIns="0" rIns="0" bIns="0" rtlCol="0" anchor="t"/>
          <a:lstStyle/>
          <a:p>
            <a:pPr indent="0" marL="0">
              <a:buNone/>
            </a:pPr>
            <a:r>
              <a:rPr lang="en-US" sz="1400" b="1" dirty="0">
                <a:solidFill>
                  <a:schemeClr val="accent1"/>
                </a:solidFill>
              </a:rPr>
              <a:t>Consideration</a:t>
            </a:r>
            <a:pPr indent="0" marL="0">
              <a:buNone/>
            </a:pPr>
            <a:r>
              <a:rPr lang="en-US" sz="1200" i="1" dirty="0">
                <a:solidFill>
                  <a:schemeClr val="accent3"/>
                </a:solidFill>
              </a:rPr>
              <a:t>   Did interest deepen?</a:t>
            </a:r>
            <a:endParaRPr lang="en-US" sz="1400" dirty="0"/>
          </a:p>
        </p:txBody>
      </p:sp>
      <p:sp>
        <p:nvSpPr>
          <p:cNvPr id="30" name="Text 28"/>
          <p:cNvSpPr txBox="1"/>
          <p:nvPr/>
        </p:nvSpPr>
        <p:spPr>
          <a:xfrm>
            <a:off x="7360920" y="3035808"/>
            <a:ext cx="4114800" cy="502920"/>
          </a:xfrm>
          <a:prstGeom prst="rect">
            <a:avLst/>
          </a:prstGeom>
          <a:noFill/>
          <a:ln/>
        </p:spPr>
        <p:txBody>
          <a:bodyPr wrap="square" lIns="0" tIns="0" rIns="0" bIns="0" rtlCol="0" anchor="t"/>
          <a:lstStyle/>
          <a:p>
            <a:pPr indent="0" marL="0">
              <a:buNone/>
            </a:pPr>
            <a:r>
              <a:rPr lang="en-US" sz="1200" dirty="0">
                <a:solidFill>
                  <a:schemeClr val="bg1"/>
                </a:solidFill>
              </a:rPr>
              <a:t>Saves and shares  |  Engagement rate  |  Profile visits and link clicks</a:t>
            </a:r>
            <a:endParaRPr lang="en-US" sz="1200" dirty="0"/>
          </a:p>
        </p:txBody>
      </p:sp>
      <p:sp>
        <p:nvSpPr>
          <p:cNvPr id="31" name="KPI Demand and trust"/>
          <p:cNvSpPr/>
          <p:nvPr/>
        </p:nvSpPr>
        <p:spPr>
          <a:xfrm>
            <a:off x="7178040" y="3675888"/>
            <a:ext cx="4462272" cy="932688"/>
          </a:xfrm>
          <a:prstGeom prst="roundRect">
            <a:avLst>
              <a:gd name="adj" fmla="val 7843"/>
            </a:avLst>
          </a:prstGeom>
          <a:solidFill>
            <a:schemeClr val="tx2"/>
          </a:solidFill>
          <a:ln w="9525">
            <a:solidFill>
              <a:schemeClr val="bg2"/>
            </a:solidFill>
            <a:prstDash val="solid"/>
          </a:ln>
        </p:spPr>
      </p:sp>
      <p:sp>
        <p:nvSpPr>
          <p:cNvPr id="32" name="Text 30"/>
          <p:cNvSpPr txBox="1"/>
          <p:nvPr/>
        </p:nvSpPr>
        <p:spPr>
          <a:xfrm>
            <a:off x="7360920" y="3749040"/>
            <a:ext cx="4114800" cy="274320"/>
          </a:xfrm>
          <a:prstGeom prst="rect">
            <a:avLst/>
          </a:prstGeom>
          <a:noFill/>
          <a:ln/>
        </p:spPr>
        <p:txBody>
          <a:bodyPr wrap="square" lIns="0" tIns="0" rIns="0" bIns="0" rtlCol="0" anchor="t"/>
          <a:lstStyle/>
          <a:p>
            <a:pPr indent="0" marL="0">
              <a:buNone/>
            </a:pPr>
            <a:r>
              <a:rPr lang="en-US" sz="1400" b="1" dirty="0">
                <a:solidFill>
                  <a:schemeClr val="accent1"/>
                </a:solidFill>
              </a:rPr>
              <a:t>Demand and trust</a:t>
            </a:r>
            <a:pPr indent="0" marL="0">
              <a:buNone/>
            </a:pPr>
            <a:r>
              <a:rPr lang="en-US" sz="1200" i="1" dirty="0">
                <a:solidFill>
                  <a:schemeClr val="accent3"/>
                </a:solidFill>
              </a:rPr>
              <a:t>   Did it move people forward?</a:t>
            </a:r>
            <a:endParaRPr lang="en-US" sz="1400" dirty="0"/>
          </a:p>
        </p:txBody>
      </p:sp>
      <p:sp>
        <p:nvSpPr>
          <p:cNvPr id="33" name="Text 31"/>
          <p:cNvSpPr txBox="1"/>
          <p:nvPr/>
        </p:nvSpPr>
        <p:spPr>
          <a:xfrm>
            <a:off x="7360920" y="4059936"/>
            <a:ext cx="4114800" cy="502920"/>
          </a:xfrm>
          <a:prstGeom prst="rect">
            <a:avLst/>
          </a:prstGeom>
          <a:noFill/>
          <a:ln/>
        </p:spPr>
        <p:txBody>
          <a:bodyPr wrap="square" lIns="0" tIns="0" rIns="0" bIns="0" rtlCol="0" anchor="t"/>
          <a:lstStyle/>
          <a:p>
            <a:pPr indent="0" marL="0">
              <a:buNone/>
            </a:pPr>
            <a:r>
              <a:rPr lang="en-US" sz="1200" dirty="0">
                <a:solidFill>
                  <a:schemeClr val="bg1"/>
                </a:solidFill>
              </a:rPr>
              <a:t>Qualified enquiries  |  Visits booked and completed  |  Cost per qualified enquiry</a:t>
            </a:r>
            <a:endParaRPr lang="en-US" sz="1200" dirty="0"/>
          </a:p>
        </p:txBody>
      </p:sp>
      <p:sp>
        <p:nvSpPr>
          <p:cNvPr id="34" name="Text 32"/>
          <p:cNvSpPr txBox="1"/>
          <p:nvPr/>
        </p:nvSpPr>
        <p:spPr>
          <a:xfrm>
            <a:off x="7178040" y="4754880"/>
            <a:ext cx="4389120" cy="228600"/>
          </a:xfrm>
          <a:prstGeom prst="rect">
            <a:avLst/>
          </a:prstGeom>
          <a:noFill/>
          <a:ln/>
        </p:spPr>
        <p:txBody>
          <a:bodyPr wrap="square" lIns="0" tIns="0" rIns="0" bIns="0" rtlCol="0" anchor="t"/>
          <a:lstStyle/>
          <a:p>
            <a:pPr indent="0" marL="0">
              <a:buNone/>
            </a:pPr>
            <a:r>
              <a:rPr lang="en-US" sz="1200" b="1" spc="100" kern="0" dirty="0">
                <a:solidFill>
                  <a:schemeClr val="accent3"/>
                </a:solidFill>
              </a:rPr>
              <a:t>OPTIMISATION LOOP</a:t>
            </a:r>
            <a:endParaRPr lang="en-US" sz="1200" dirty="0"/>
          </a:p>
        </p:txBody>
      </p:sp>
      <p:sp>
        <p:nvSpPr>
          <p:cNvPr id="35" name="Loop Measure"/>
          <p:cNvSpPr/>
          <p:nvPr/>
        </p:nvSpPr>
        <p:spPr>
          <a:xfrm>
            <a:off x="7178040" y="5029200"/>
            <a:ext cx="1060704" cy="548640"/>
          </a:xfrm>
          <a:prstGeom prst="roundRect">
            <a:avLst>
              <a:gd name="adj" fmla="val 10000"/>
            </a:avLst>
          </a:prstGeom>
          <a:solidFill>
            <a:schemeClr val="tx2"/>
          </a:solidFill>
          <a:ln w="9525">
            <a:solidFill>
              <a:schemeClr val="bg2"/>
            </a:solidFill>
            <a:prstDash val="solid"/>
          </a:ln>
        </p:spPr>
      </p:sp>
      <p:sp>
        <p:nvSpPr>
          <p:cNvPr id="36" name="Text 34"/>
          <p:cNvSpPr txBox="1"/>
          <p:nvPr/>
        </p:nvSpPr>
        <p:spPr>
          <a:xfrm>
            <a:off x="7178040" y="5029200"/>
            <a:ext cx="1060704" cy="548640"/>
          </a:xfrm>
          <a:prstGeom prst="rect">
            <a:avLst/>
          </a:prstGeom>
          <a:noFill/>
          <a:ln/>
        </p:spPr>
        <p:txBody>
          <a:bodyPr wrap="square" lIns="0" tIns="0" rIns="0" bIns="0" rtlCol="0" anchor="ctr"/>
          <a:lstStyle/>
          <a:p>
            <a:pPr algn="ctr" indent="0" marL="0">
              <a:buNone/>
            </a:pPr>
            <a:r>
              <a:rPr lang="en-US" sz="1400" b="1" dirty="0">
                <a:solidFill>
                  <a:schemeClr val="bg1"/>
                </a:solidFill>
              </a:rPr>
              <a:t>Measure</a:t>
            </a:r>
            <a:endParaRPr lang="en-US" sz="1400" dirty="0"/>
          </a:p>
        </p:txBody>
      </p:sp>
      <p:sp>
        <p:nvSpPr>
          <p:cNvPr id="37" name="Loop Learn"/>
          <p:cNvSpPr/>
          <p:nvPr/>
        </p:nvSpPr>
        <p:spPr>
          <a:xfrm>
            <a:off x="8311896" y="5029200"/>
            <a:ext cx="1060704" cy="548640"/>
          </a:xfrm>
          <a:prstGeom prst="roundRect">
            <a:avLst>
              <a:gd name="adj" fmla="val 10000"/>
            </a:avLst>
          </a:prstGeom>
          <a:solidFill>
            <a:schemeClr val="tx2"/>
          </a:solidFill>
          <a:ln w="9525">
            <a:solidFill>
              <a:schemeClr val="bg2"/>
            </a:solidFill>
            <a:prstDash val="solid"/>
          </a:ln>
        </p:spPr>
      </p:sp>
      <p:sp>
        <p:nvSpPr>
          <p:cNvPr id="38" name="Text 36"/>
          <p:cNvSpPr txBox="1"/>
          <p:nvPr/>
        </p:nvSpPr>
        <p:spPr>
          <a:xfrm>
            <a:off x="8311896" y="5029200"/>
            <a:ext cx="1060704" cy="548640"/>
          </a:xfrm>
          <a:prstGeom prst="rect">
            <a:avLst/>
          </a:prstGeom>
          <a:noFill/>
          <a:ln/>
        </p:spPr>
        <p:txBody>
          <a:bodyPr wrap="square" lIns="0" tIns="0" rIns="0" bIns="0" rtlCol="0" anchor="ctr"/>
          <a:lstStyle/>
          <a:p>
            <a:pPr algn="ctr" indent="0" marL="0">
              <a:buNone/>
            </a:pPr>
            <a:r>
              <a:rPr lang="en-US" sz="1400" b="1" dirty="0">
                <a:solidFill>
                  <a:schemeClr val="bg1"/>
                </a:solidFill>
              </a:rPr>
              <a:t>Learn</a:t>
            </a:r>
            <a:endParaRPr lang="en-US" sz="1400" dirty="0"/>
          </a:p>
        </p:txBody>
      </p:sp>
      <p:sp>
        <p:nvSpPr>
          <p:cNvPr id="39" name="Loop Test"/>
          <p:cNvSpPr/>
          <p:nvPr/>
        </p:nvSpPr>
        <p:spPr>
          <a:xfrm>
            <a:off x="9445752" y="5029200"/>
            <a:ext cx="1060704" cy="548640"/>
          </a:xfrm>
          <a:prstGeom prst="roundRect">
            <a:avLst>
              <a:gd name="adj" fmla="val 10000"/>
            </a:avLst>
          </a:prstGeom>
          <a:solidFill>
            <a:schemeClr val="tx2"/>
          </a:solidFill>
          <a:ln w="9525">
            <a:solidFill>
              <a:schemeClr val="bg2"/>
            </a:solidFill>
            <a:prstDash val="solid"/>
          </a:ln>
        </p:spPr>
      </p:sp>
      <p:sp>
        <p:nvSpPr>
          <p:cNvPr id="40" name="Text 38"/>
          <p:cNvSpPr txBox="1"/>
          <p:nvPr/>
        </p:nvSpPr>
        <p:spPr>
          <a:xfrm>
            <a:off x="9445752" y="5029200"/>
            <a:ext cx="1060704" cy="548640"/>
          </a:xfrm>
          <a:prstGeom prst="rect">
            <a:avLst/>
          </a:prstGeom>
          <a:noFill/>
          <a:ln/>
        </p:spPr>
        <p:txBody>
          <a:bodyPr wrap="square" lIns="0" tIns="0" rIns="0" bIns="0" rtlCol="0" anchor="ctr"/>
          <a:lstStyle/>
          <a:p>
            <a:pPr algn="ctr" indent="0" marL="0">
              <a:buNone/>
            </a:pPr>
            <a:r>
              <a:rPr lang="en-US" sz="1400" b="1" dirty="0">
                <a:solidFill>
                  <a:schemeClr val="bg1"/>
                </a:solidFill>
              </a:rPr>
              <a:t>Test</a:t>
            </a:r>
            <a:endParaRPr lang="en-US" sz="1400" dirty="0"/>
          </a:p>
        </p:txBody>
      </p:sp>
      <p:sp>
        <p:nvSpPr>
          <p:cNvPr id="41" name="Loop Scale"/>
          <p:cNvSpPr/>
          <p:nvPr/>
        </p:nvSpPr>
        <p:spPr>
          <a:xfrm>
            <a:off x="10579608" y="5029200"/>
            <a:ext cx="1060704" cy="548640"/>
          </a:xfrm>
          <a:prstGeom prst="roundRect">
            <a:avLst>
              <a:gd name="adj" fmla="val 10000"/>
            </a:avLst>
          </a:prstGeom>
          <a:solidFill>
            <a:schemeClr val="accent1"/>
          </a:solidFill>
          <a:ln w="9525">
            <a:solidFill>
              <a:schemeClr val="bg2"/>
            </a:solidFill>
            <a:prstDash val="solid"/>
          </a:ln>
        </p:spPr>
      </p:sp>
      <p:sp>
        <p:nvSpPr>
          <p:cNvPr id="42" name="Text 40"/>
          <p:cNvSpPr txBox="1"/>
          <p:nvPr/>
        </p:nvSpPr>
        <p:spPr>
          <a:xfrm>
            <a:off x="10579608" y="5029200"/>
            <a:ext cx="1060704" cy="548640"/>
          </a:xfrm>
          <a:prstGeom prst="rect">
            <a:avLst/>
          </a:prstGeom>
          <a:noFill/>
          <a:ln/>
        </p:spPr>
        <p:txBody>
          <a:bodyPr wrap="square" lIns="0" tIns="0" rIns="0" bIns="0" rtlCol="0" anchor="ctr"/>
          <a:lstStyle/>
          <a:p>
            <a:pPr algn="ctr" indent="0" marL="0">
              <a:buNone/>
            </a:pPr>
            <a:r>
              <a:rPr lang="en-US" sz="1400" b="1" dirty="0">
                <a:solidFill>
                  <a:schemeClr val="tx1"/>
                </a:solidFill>
              </a:rPr>
              <a:t>Scale</a:t>
            </a:r>
            <a:endParaRPr lang="en-US" sz="1400" dirty="0"/>
          </a:p>
        </p:txBody>
      </p:sp>
      <p:sp>
        <p:nvSpPr>
          <p:cNvPr id="43" name="Cadence strip"/>
          <p:cNvSpPr/>
          <p:nvPr/>
        </p:nvSpPr>
        <p:spPr>
          <a:xfrm>
            <a:off x="548640" y="5760720"/>
            <a:ext cx="11091672" cy="548640"/>
          </a:xfrm>
          <a:prstGeom prst="roundRect">
            <a:avLst>
              <a:gd name="adj" fmla="val 13333"/>
            </a:avLst>
          </a:prstGeom>
          <a:solidFill>
            <a:schemeClr val="tx2"/>
          </a:solidFill>
          <a:ln w="9525">
            <a:solidFill>
              <a:schemeClr val="bg2"/>
            </a:solidFill>
            <a:prstDash val="solid"/>
          </a:ln>
        </p:spPr>
      </p:sp>
      <p:sp>
        <p:nvSpPr>
          <p:cNvPr id="44" name="Text 42"/>
          <p:cNvSpPr txBox="1"/>
          <p:nvPr/>
        </p:nvSpPr>
        <p:spPr>
          <a:xfrm>
            <a:off x="777240" y="5760720"/>
            <a:ext cx="10698480" cy="548640"/>
          </a:xfrm>
          <a:prstGeom prst="rect">
            <a:avLst/>
          </a:prstGeom>
          <a:noFill/>
          <a:ln/>
        </p:spPr>
        <p:txBody>
          <a:bodyPr wrap="square" lIns="0" tIns="0" rIns="0" bIns="0" rtlCol="0" anchor="ctr"/>
          <a:lstStyle/>
          <a:p>
            <a:pPr indent="0" marL="0">
              <a:buNone/>
            </a:pPr>
            <a:r>
              <a:rPr lang="en-US" sz="1400" dirty="0">
                <a:solidFill>
                  <a:schemeClr val="bg1"/>
                </a:solidFill>
              </a:rPr>
              <a:t>Weekly pulse: Every Monday   |   Monthly insights: First week   |   Quarterly reset: Every quarter   |   Targets set from the performance audit</a:t>
            </a:r>
            <a:endParaRPr lang="en-US" sz="14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731520"/>
          </a:xfrm>
          <a:prstGeom prst="rect">
            <a:avLst/>
          </a:prstGeom>
          <a:noFill/>
          <a:ln/>
        </p:spPr>
        <p:txBody>
          <a:bodyPr wrap="square" lIns="0" tIns="0" rIns="0" bIns="0" rtlCol="0" anchor="ctr"/>
          <a:lstStyle/>
          <a:p>
            <a:pPr algn="l" indent="0" marL="0">
              <a:buNone/>
            </a:pPr>
            <a:r>
              <a:rPr lang="en-US" sz="3600" b="1" dirty="0">
                <a:solidFill>
                  <a:schemeClr val="bg1"/>
                </a:solidFill>
              </a:rPr>
              <a:t>My first 30 days</a:t>
            </a:r>
            <a:endParaRPr lang="en-US" sz="3600" dirty="0"/>
          </a:p>
        </p:txBody>
      </p:sp>
      <p:sp>
        <p:nvSpPr>
          <p:cNvPr id="3" name="Week 1"/>
          <p:cNvSpPr/>
          <p:nvPr/>
        </p:nvSpPr>
        <p:spPr>
          <a:xfrm>
            <a:off x="548640" y="1280160"/>
            <a:ext cx="2670048" cy="1691640"/>
          </a:xfrm>
          <a:prstGeom prst="roundRect">
            <a:avLst>
              <a:gd name="adj" fmla="val 4324"/>
            </a:avLst>
          </a:prstGeom>
          <a:solidFill>
            <a:schemeClr val="tx2"/>
          </a:solidFill>
          <a:ln w="9525">
            <a:solidFill>
              <a:schemeClr val="bg2"/>
            </a:solidFill>
            <a:prstDash val="solid"/>
          </a:ln>
        </p:spPr>
      </p:sp>
      <p:sp>
        <p:nvSpPr>
          <p:cNvPr id="4" name="Text 2"/>
          <p:cNvSpPr txBox="1"/>
          <p:nvPr/>
        </p:nvSpPr>
        <p:spPr>
          <a:xfrm>
            <a:off x="731520" y="1389888"/>
            <a:ext cx="2304288" cy="228600"/>
          </a:xfrm>
          <a:prstGeom prst="rect">
            <a:avLst/>
          </a:prstGeom>
          <a:noFill/>
          <a:ln/>
        </p:spPr>
        <p:txBody>
          <a:bodyPr wrap="square" lIns="0" tIns="0" rIns="0" bIns="0" rtlCol="0" anchor="t"/>
          <a:lstStyle/>
          <a:p>
            <a:pPr indent="0" marL="0">
              <a:buNone/>
            </a:pPr>
            <a:r>
              <a:rPr lang="en-US" sz="1200" b="1" spc="200" kern="0" dirty="0">
                <a:solidFill>
                  <a:schemeClr val="accent1"/>
                </a:solidFill>
              </a:rPr>
              <a:t>WEEK 1</a:t>
            </a:r>
            <a:endParaRPr lang="en-US" sz="1200" dirty="0"/>
          </a:p>
        </p:txBody>
      </p:sp>
      <p:sp>
        <p:nvSpPr>
          <p:cNvPr id="5" name="Text 3"/>
          <p:cNvSpPr txBox="1"/>
          <p:nvPr/>
        </p:nvSpPr>
        <p:spPr>
          <a:xfrm>
            <a:off x="731520" y="1664208"/>
            <a:ext cx="2304288" cy="365760"/>
          </a:xfrm>
          <a:prstGeom prst="rect">
            <a:avLst/>
          </a:prstGeom>
          <a:noFill/>
          <a:ln/>
        </p:spPr>
        <p:txBody>
          <a:bodyPr wrap="square" lIns="0" tIns="0" rIns="0" bIns="0" rtlCol="0" anchor="t"/>
          <a:lstStyle/>
          <a:p>
            <a:pPr indent="0" marL="0">
              <a:buNone/>
            </a:pPr>
            <a:r>
              <a:rPr lang="en-US" sz="1800" b="1" dirty="0">
                <a:solidFill>
                  <a:schemeClr val="bg1"/>
                </a:solidFill>
                <a:latin typeface="Cambria" pitchFamily="34" charset="0"/>
                <a:ea typeface="Cambria" pitchFamily="34" charset="-122"/>
                <a:cs typeface="Cambria" pitchFamily="34" charset="-120"/>
              </a:rPr>
              <a:t>Audit performance</a:t>
            </a:r>
            <a:endParaRPr lang="en-US" sz="1800" dirty="0"/>
          </a:p>
        </p:txBody>
      </p:sp>
      <p:sp>
        <p:nvSpPr>
          <p:cNvPr id="6" name="Text 4"/>
          <p:cNvSpPr txBox="1"/>
          <p:nvPr/>
        </p:nvSpPr>
        <p:spPr>
          <a:xfrm>
            <a:off x="731520" y="2075688"/>
            <a:ext cx="2304288" cy="868680"/>
          </a:xfrm>
          <a:prstGeom prst="rect">
            <a:avLst/>
          </a:prstGeom>
          <a:noFill/>
          <a:ln/>
        </p:spPr>
        <p:txBody>
          <a:bodyPr wrap="square" lIns="0" tIns="0" rIns="0" bIns="0" rtlCol="0" anchor="t"/>
          <a:lstStyle/>
          <a:p>
            <a:pPr indent="0" marL="0">
              <a:buNone/>
            </a:pPr>
            <a:r>
              <a:rPr lang="en-US" sz="1200" dirty="0">
                <a:solidFill>
                  <a:schemeClr val="accent3"/>
                </a:solidFill>
              </a:rPr>
              <a:t>The channels are live, so I read how each performs: top content, audience, reach, enquiry sources and rivals.</a:t>
            </a:r>
            <a:endParaRPr lang="en-US" sz="1200" dirty="0"/>
          </a:p>
        </p:txBody>
      </p:sp>
      <p:sp>
        <p:nvSpPr>
          <p:cNvPr id="7" name="Week 2"/>
          <p:cNvSpPr/>
          <p:nvPr/>
        </p:nvSpPr>
        <p:spPr>
          <a:xfrm>
            <a:off x="3355848" y="1280160"/>
            <a:ext cx="2670048" cy="1691640"/>
          </a:xfrm>
          <a:prstGeom prst="roundRect">
            <a:avLst>
              <a:gd name="adj" fmla="val 4324"/>
            </a:avLst>
          </a:prstGeom>
          <a:solidFill>
            <a:schemeClr val="tx2"/>
          </a:solidFill>
          <a:ln w="9525">
            <a:solidFill>
              <a:schemeClr val="bg2"/>
            </a:solidFill>
            <a:prstDash val="solid"/>
          </a:ln>
        </p:spPr>
      </p:sp>
      <p:sp>
        <p:nvSpPr>
          <p:cNvPr id="8" name="Text 6"/>
          <p:cNvSpPr txBox="1"/>
          <p:nvPr/>
        </p:nvSpPr>
        <p:spPr>
          <a:xfrm>
            <a:off x="3538728" y="1389888"/>
            <a:ext cx="2304288" cy="228600"/>
          </a:xfrm>
          <a:prstGeom prst="rect">
            <a:avLst/>
          </a:prstGeom>
          <a:noFill/>
          <a:ln/>
        </p:spPr>
        <p:txBody>
          <a:bodyPr wrap="square" lIns="0" tIns="0" rIns="0" bIns="0" rtlCol="0" anchor="t"/>
          <a:lstStyle/>
          <a:p>
            <a:pPr indent="0" marL="0">
              <a:buNone/>
            </a:pPr>
            <a:r>
              <a:rPr lang="en-US" sz="1200" b="1" spc="200" kern="0" dirty="0">
                <a:solidFill>
                  <a:schemeClr val="accent1"/>
                </a:solidFill>
              </a:rPr>
              <a:t>WEEK 2</a:t>
            </a:r>
            <a:endParaRPr lang="en-US" sz="1200" dirty="0"/>
          </a:p>
        </p:txBody>
      </p:sp>
      <p:sp>
        <p:nvSpPr>
          <p:cNvPr id="9" name="Text 7"/>
          <p:cNvSpPr txBox="1"/>
          <p:nvPr/>
        </p:nvSpPr>
        <p:spPr>
          <a:xfrm>
            <a:off x="3538728" y="1664208"/>
            <a:ext cx="2304288" cy="365760"/>
          </a:xfrm>
          <a:prstGeom prst="rect">
            <a:avLst/>
          </a:prstGeom>
          <a:noFill/>
          <a:ln/>
        </p:spPr>
        <p:txBody>
          <a:bodyPr wrap="square" lIns="0" tIns="0" rIns="0" bIns="0" rtlCol="0" anchor="t"/>
          <a:lstStyle/>
          <a:p>
            <a:pPr indent="0" marL="0">
              <a:buNone/>
            </a:pPr>
            <a:r>
              <a:rPr lang="en-US" sz="1800" b="1" dirty="0">
                <a:solidFill>
                  <a:schemeClr val="bg1"/>
                </a:solidFill>
                <a:latin typeface="Cambria" pitchFamily="34" charset="0"/>
                <a:ea typeface="Cambria" pitchFamily="34" charset="-122"/>
                <a:cs typeface="Cambria" pitchFamily="34" charset="-120"/>
              </a:rPr>
              <a:t>Set the system</a:t>
            </a:r>
            <a:endParaRPr lang="en-US" sz="1800" dirty="0"/>
          </a:p>
        </p:txBody>
      </p:sp>
      <p:sp>
        <p:nvSpPr>
          <p:cNvPr id="10" name="Text 8"/>
          <p:cNvSpPr txBox="1"/>
          <p:nvPr/>
        </p:nvSpPr>
        <p:spPr>
          <a:xfrm>
            <a:off x="3538728" y="2075688"/>
            <a:ext cx="2304288" cy="868680"/>
          </a:xfrm>
          <a:prstGeom prst="rect">
            <a:avLst/>
          </a:prstGeom>
          <a:noFill/>
          <a:ln/>
        </p:spPr>
        <p:txBody>
          <a:bodyPr wrap="square" lIns="0" tIns="0" rIns="0" bIns="0" rtlCol="0" anchor="t"/>
          <a:lstStyle/>
          <a:p>
            <a:pPr indent="0" marL="0">
              <a:buNone/>
            </a:pPr>
            <a:r>
              <a:rPr lang="en-US" sz="1200" dirty="0">
                <a:solidFill>
                  <a:schemeClr val="accent3"/>
                </a:solidFill>
              </a:rPr>
              <a:t>Pillars, tone, brief template, approvals, tracked links and scorecard.</a:t>
            </a:r>
            <a:endParaRPr lang="en-US" sz="1200" dirty="0"/>
          </a:p>
        </p:txBody>
      </p:sp>
      <p:sp>
        <p:nvSpPr>
          <p:cNvPr id="11" name="Week 3"/>
          <p:cNvSpPr/>
          <p:nvPr/>
        </p:nvSpPr>
        <p:spPr>
          <a:xfrm>
            <a:off x="6163056" y="1280160"/>
            <a:ext cx="2670048" cy="1691640"/>
          </a:xfrm>
          <a:prstGeom prst="roundRect">
            <a:avLst>
              <a:gd name="adj" fmla="val 4324"/>
            </a:avLst>
          </a:prstGeom>
          <a:solidFill>
            <a:schemeClr val="tx2"/>
          </a:solidFill>
          <a:ln w="9525">
            <a:solidFill>
              <a:schemeClr val="bg2"/>
            </a:solidFill>
            <a:prstDash val="solid"/>
          </a:ln>
        </p:spPr>
      </p:sp>
      <p:sp>
        <p:nvSpPr>
          <p:cNvPr id="12" name="Text 10"/>
          <p:cNvSpPr txBox="1"/>
          <p:nvPr/>
        </p:nvSpPr>
        <p:spPr>
          <a:xfrm>
            <a:off x="6345936" y="1389888"/>
            <a:ext cx="2304288" cy="228600"/>
          </a:xfrm>
          <a:prstGeom prst="rect">
            <a:avLst/>
          </a:prstGeom>
          <a:noFill/>
          <a:ln/>
        </p:spPr>
        <p:txBody>
          <a:bodyPr wrap="square" lIns="0" tIns="0" rIns="0" bIns="0" rtlCol="0" anchor="t"/>
          <a:lstStyle/>
          <a:p>
            <a:pPr indent="0" marL="0">
              <a:buNone/>
            </a:pPr>
            <a:r>
              <a:rPr lang="en-US" sz="1200" b="1" spc="200" kern="0" dirty="0">
                <a:solidFill>
                  <a:schemeClr val="accent1"/>
                </a:solidFill>
              </a:rPr>
              <a:t>WEEK 3</a:t>
            </a:r>
            <a:endParaRPr lang="en-US" sz="1200" dirty="0"/>
          </a:p>
        </p:txBody>
      </p:sp>
      <p:sp>
        <p:nvSpPr>
          <p:cNvPr id="13" name="Text 11"/>
          <p:cNvSpPr txBox="1"/>
          <p:nvPr/>
        </p:nvSpPr>
        <p:spPr>
          <a:xfrm>
            <a:off x="6345936" y="1664208"/>
            <a:ext cx="2304288" cy="365760"/>
          </a:xfrm>
          <a:prstGeom prst="rect">
            <a:avLst/>
          </a:prstGeom>
          <a:noFill/>
          <a:ln/>
        </p:spPr>
        <p:txBody>
          <a:bodyPr wrap="square" lIns="0" tIns="0" rIns="0" bIns="0" rtlCol="0" anchor="t"/>
          <a:lstStyle/>
          <a:p>
            <a:pPr indent="0" marL="0">
              <a:buNone/>
            </a:pPr>
            <a:r>
              <a:rPr lang="en-US" sz="1800" b="1" dirty="0">
                <a:solidFill>
                  <a:schemeClr val="bg1"/>
                </a:solidFill>
                <a:latin typeface="Cambria" pitchFamily="34" charset="0"/>
                <a:ea typeface="Cambria" pitchFamily="34" charset="-122"/>
                <a:cs typeface="Cambria" pitchFamily="34" charset="-120"/>
              </a:rPr>
              <a:t>Launch the rhythm</a:t>
            </a:r>
            <a:endParaRPr lang="en-US" sz="1800" dirty="0"/>
          </a:p>
        </p:txBody>
      </p:sp>
      <p:sp>
        <p:nvSpPr>
          <p:cNvPr id="14" name="Text 12"/>
          <p:cNvSpPr txBox="1"/>
          <p:nvPr/>
        </p:nvSpPr>
        <p:spPr>
          <a:xfrm>
            <a:off x="6345936" y="2075688"/>
            <a:ext cx="2304288" cy="868680"/>
          </a:xfrm>
          <a:prstGeom prst="rect">
            <a:avLst/>
          </a:prstGeom>
          <a:noFill/>
          <a:ln/>
        </p:spPr>
        <p:txBody>
          <a:bodyPr wrap="square" lIns="0" tIns="0" rIns="0" bIns="0" rtlCol="0" anchor="t"/>
          <a:lstStyle/>
          <a:p>
            <a:pPr indent="0" marL="0">
              <a:buNone/>
            </a:pPr>
            <a:r>
              <a:rPr lang="en-US" sz="1200" dirty="0">
                <a:solidFill>
                  <a:schemeClr val="accent3"/>
                </a:solidFill>
              </a:rPr>
              <a:t>First shoots, first calendar, daily community handling.</a:t>
            </a:r>
            <a:endParaRPr lang="en-US" sz="1200" dirty="0"/>
          </a:p>
        </p:txBody>
      </p:sp>
      <p:sp>
        <p:nvSpPr>
          <p:cNvPr id="15" name="Week 4"/>
          <p:cNvSpPr/>
          <p:nvPr/>
        </p:nvSpPr>
        <p:spPr>
          <a:xfrm>
            <a:off x="8970264" y="1280160"/>
            <a:ext cx="2670048" cy="1691640"/>
          </a:xfrm>
          <a:prstGeom prst="roundRect">
            <a:avLst>
              <a:gd name="adj" fmla="val 4324"/>
            </a:avLst>
          </a:prstGeom>
          <a:solidFill>
            <a:schemeClr val="tx2"/>
          </a:solidFill>
          <a:ln w="9525">
            <a:solidFill>
              <a:schemeClr val="bg2"/>
            </a:solidFill>
            <a:prstDash val="solid"/>
          </a:ln>
        </p:spPr>
      </p:sp>
      <p:sp>
        <p:nvSpPr>
          <p:cNvPr id="16" name="Text 14"/>
          <p:cNvSpPr txBox="1"/>
          <p:nvPr/>
        </p:nvSpPr>
        <p:spPr>
          <a:xfrm>
            <a:off x="9153144" y="1389888"/>
            <a:ext cx="2304288" cy="228600"/>
          </a:xfrm>
          <a:prstGeom prst="rect">
            <a:avLst/>
          </a:prstGeom>
          <a:noFill/>
          <a:ln/>
        </p:spPr>
        <p:txBody>
          <a:bodyPr wrap="square" lIns="0" tIns="0" rIns="0" bIns="0" rtlCol="0" anchor="t"/>
          <a:lstStyle/>
          <a:p>
            <a:pPr indent="0" marL="0">
              <a:buNone/>
            </a:pPr>
            <a:r>
              <a:rPr lang="en-US" sz="1200" b="1" spc="200" kern="0" dirty="0">
                <a:solidFill>
                  <a:schemeClr val="accent1"/>
                </a:solidFill>
              </a:rPr>
              <a:t>WEEK 4</a:t>
            </a:r>
            <a:endParaRPr lang="en-US" sz="1200" dirty="0"/>
          </a:p>
        </p:txBody>
      </p:sp>
      <p:sp>
        <p:nvSpPr>
          <p:cNvPr id="17" name="Text 15"/>
          <p:cNvSpPr txBox="1"/>
          <p:nvPr/>
        </p:nvSpPr>
        <p:spPr>
          <a:xfrm>
            <a:off x="9153144" y="1664208"/>
            <a:ext cx="2304288" cy="365760"/>
          </a:xfrm>
          <a:prstGeom prst="rect">
            <a:avLst/>
          </a:prstGeom>
          <a:noFill/>
          <a:ln/>
        </p:spPr>
        <p:txBody>
          <a:bodyPr wrap="square" lIns="0" tIns="0" rIns="0" bIns="0" rtlCol="0" anchor="t"/>
          <a:lstStyle/>
          <a:p>
            <a:pPr indent="0" marL="0">
              <a:buNone/>
            </a:pPr>
            <a:r>
              <a:rPr lang="en-US" sz="1800" b="1" dirty="0">
                <a:solidFill>
                  <a:schemeClr val="bg1"/>
                </a:solidFill>
                <a:latin typeface="Cambria" pitchFamily="34" charset="0"/>
                <a:ea typeface="Cambria" pitchFamily="34" charset="-122"/>
                <a:cs typeface="Cambria" pitchFamily="34" charset="-120"/>
              </a:rPr>
              <a:t>Report and refine</a:t>
            </a:r>
            <a:endParaRPr lang="en-US" sz="1800" dirty="0"/>
          </a:p>
        </p:txBody>
      </p:sp>
      <p:sp>
        <p:nvSpPr>
          <p:cNvPr id="18" name="Text 16"/>
          <p:cNvSpPr txBox="1"/>
          <p:nvPr/>
        </p:nvSpPr>
        <p:spPr>
          <a:xfrm>
            <a:off x="9153144" y="2075688"/>
            <a:ext cx="2304288" cy="868680"/>
          </a:xfrm>
          <a:prstGeom prst="rect">
            <a:avLst/>
          </a:prstGeom>
          <a:noFill/>
          <a:ln/>
        </p:spPr>
        <p:txBody>
          <a:bodyPr wrap="square" lIns="0" tIns="0" rIns="0" bIns="0" rtlCol="0" anchor="t"/>
          <a:lstStyle/>
          <a:p>
            <a:pPr indent="0" marL="0">
              <a:buNone/>
            </a:pPr>
            <a:r>
              <a:rPr lang="en-US" sz="1200" dirty="0">
                <a:solidFill>
                  <a:schemeClr val="accent3"/>
                </a:solidFill>
              </a:rPr>
              <a:t>First monthly insights report with three actions and the next test.</a:t>
            </a:r>
            <a:endParaRPr lang="en-US" sz="1200" dirty="0"/>
          </a:p>
        </p:txBody>
      </p:sp>
      <p:sp>
        <p:nvSpPr>
          <p:cNvPr id="19" name="Deliverables card"/>
          <p:cNvSpPr/>
          <p:nvPr/>
        </p:nvSpPr>
        <p:spPr>
          <a:xfrm>
            <a:off x="548640" y="3108960"/>
            <a:ext cx="7040880" cy="1600200"/>
          </a:xfrm>
          <a:prstGeom prst="roundRect">
            <a:avLst>
              <a:gd name="adj" fmla="val 4571"/>
            </a:avLst>
          </a:prstGeom>
          <a:solidFill>
            <a:schemeClr val="bg2"/>
          </a:solidFill>
          <a:ln w="9525">
            <a:solidFill>
              <a:schemeClr val="bg2"/>
            </a:solidFill>
            <a:prstDash val="solid"/>
          </a:ln>
        </p:spPr>
      </p:sp>
      <p:sp>
        <p:nvSpPr>
          <p:cNvPr id="20" name="Text 18"/>
          <p:cNvSpPr txBox="1"/>
          <p:nvPr/>
        </p:nvSpPr>
        <p:spPr>
          <a:xfrm>
            <a:off x="777240" y="3200400"/>
            <a:ext cx="4572000" cy="274320"/>
          </a:xfrm>
          <a:prstGeom prst="rect">
            <a:avLst/>
          </a:prstGeom>
          <a:noFill/>
          <a:ln/>
        </p:spPr>
        <p:txBody>
          <a:bodyPr wrap="square" lIns="0" tIns="0" rIns="0" bIns="0" rtlCol="0" anchor="t"/>
          <a:lstStyle/>
          <a:p>
            <a:pPr indent="0" marL="0">
              <a:buNone/>
            </a:pPr>
            <a:r>
              <a:rPr lang="en-US" sz="1400" b="1" dirty="0">
                <a:solidFill>
                  <a:schemeClr val="accent1"/>
                </a:solidFill>
              </a:rPr>
              <a:t>Expected deliverables</a:t>
            </a:r>
            <a:endParaRPr lang="en-US" sz="1400" dirty="0"/>
          </a:p>
        </p:txBody>
      </p:sp>
      <p:sp>
        <p:nvSpPr>
          <p:cNvPr id="21" name="Text 19"/>
          <p:cNvSpPr txBox="1"/>
          <p:nvPr/>
        </p:nvSpPr>
        <p:spPr>
          <a:xfrm>
            <a:off x="777240" y="3520440"/>
            <a:ext cx="3291840" cy="1143000"/>
          </a:xfrm>
          <a:prstGeom prst="rect">
            <a:avLst/>
          </a:prstGeom>
          <a:noFill/>
          <a:ln/>
        </p:spPr>
        <p:txBody>
          <a:bodyPr wrap="square" lIns="0" tIns="0" rIns="0" bIns="0" rtlCol="0" anchor="t"/>
          <a:lstStyle/>
          <a:p>
            <a:pPr marL="342900" indent="-342900">
              <a:spcAft>
                <a:spcPts val="300"/>
              </a:spcAft>
              <a:buSzPct val="100000"/>
              <a:buChar char="•"/>
            </a:pPr>
            <a:r>
              <a:rPr lang="en-US" sz="1400" dirty="0">
                <a:solidFill>
                  <a:schemeClr val="bg1"/>
                </a:solidFill>
              </a:rPr>
              <a:t>Platform performance audit</a:t>
            </a:r>
            <a:endParaRPr lang="en-US" sz="1400" dirty="0"/>
          </a:p>
          <a:p>
            <a:pPr marL="342900" indent="-342900">
              <a:spcAft>
                <a:spcPts val="300"/>
              </a:spcAft>
              <a:buSzPct val="100000"/>
              <a:buChar char="•"/>
            </a:pPr>
            <a:r>
              <a:rPr lang="en-US" sz="1400" dirty="0">
                <a:solidFill>
                  <a:schemeClr val="bg1"/>
                </a:solidFill>
              </a:rPr>
              <a:t>30-day content calendar</a:t>
            </a:r>
            <a:endParaRPr lang="en-US" sz="1400" dirty="0"/>
          </a:p>
          <a:p>
            <a:pPr marL="342900" indent="-342900">
              <a:spcAft>
                <a:spcPts val="300"/>
              </a:spcAft>
              <a:buSzPct val="100000"/>
              <a:buChar char="•"/>
            </a:pPr>
            <a:r>
              <a:rPr lang="en-US" sz="1400" dirty="0">
                <a:solidFill>
                  <a:schemeClr val="bg1"/>
                </a:solidFill>
              </a:rPr>
              <a:t>Creative brief template</a:t>
            </a:r>
            <a:endParaRPr lang="en-US" sz="1400" dirty="0"/>
          </a:p>
        </p:txBody>
      </p:sp>
      <p:sp>
        <p:nvSpPr>
          <p:cNvPr id="22" name="Text 20"/>
          <p:cNvSpPr txBox="1"/>
          <p:nvPr/>
        </p:nvSpPr>
        <p:spPr>
          <a:xfrm>
            <a:off x="4114800" y="3520440"/>
            <a:ext cx="3383280" cy="1143000"/>
          </a:xfrm>
          <a:prstGeom prst="rect">
            <a:avLst/>
          </a:prstGeom>
          <a:noFill/>
          <a:ln/>
        </p:spPr>
        <p:txBody>
          <a:bodyPr wrap="square" lIns="0" tIns="0" rIns="0" bIns="0" rtlCol="0" anchor="t"/>
          <a:lstStyle/>
          <a:p>
            <a:pPr marL="342900" indent="-342900">
              <a:spcAft>
                <a:spcPts val="300"/>
              </a:spcAft>
              <a:buSzPct val="100000"/>
              <a:buChar char="•"/>
            </a:pPr>
            <a:r>
              <a:rPr lang="en-US" sz="1400" dirty="0">
                <a:solidFill>
                  <a:schemeClr val="bg1"/>
                </a:solidFill>
              </a:rPr>
              <a:t>Tracking and scorecard set-up</a:t>
            </a:r>
            <a:endParaRPr lang="en-US" sz="1400" dirty="0"/>
          </a:p>
          <a:p>
            <a:pPr marL="342900" indent="-342900">
              <a:spcAft>
                <a:spcPts val="300"/>
              </a:spcAft>
              <a:buSzPct val="100000"/>
              <a:buChar char="•"/>
            </a:pPr>
            <a:r>
              <a:rPr lang="en-US" sz="1400" dirty="0">
                <a:solidFill>
                  <a:schemeClr val="bg1"/>
                </a:solidFill>
              </a:rPr>
              <a:t>Response playbook</a:t>
            </a:r>
            <a:endParaRPr lang="en-US" sz="1400" dirty="0"/>
          </a:p>
          <a:p>
            <a:pPr marL="342900" indent="-342900">
              <a:spcAft>
                <a:spcPts val="300"/>
              </a:spcAft>
              <a:buSzPct val="100000"/>
              <a:buChar char="•"/>
            </a:pPr>
            <a:r>
              <a:rPr lang="en-US" sz="1400" dirty="0">
                <a:solidFill>
                  <a:schemeClr val="bg1"/>
                </a:solidFill>
              </a:rPr>
              <a:t>First monthly insights report</a:t>
            </a:r>
            <a:endParaRPr lang="en-US" sz="1400" dirty="0"/>
          </a:p>
        </p:txBody>
      </p:sp>
      <p:sp>
        <p:nvSpPr>
          <p:cNvPr id="23" name="After day 30"/>
          <p:cNvSpPr/>
          <p:nvPr/>
        </p:nvSpPr>
        <p:spPr>
          <a:xfrm>
            <a:off x="7818120" y="3108960"/>
            <a:ext cx="3822192" cy="1600200"/>
          </a:xfrm>
          <a:prstGeom prst="roundRect">
            <a:avLst>
              <a:gd name="adj" fmla="val 4571"/>
            </a:avLst>
          </a:prstGeom>
          <a:solidFill>
            <a:schemeClr val="tx2"/>
          </a:solidFill>
          <a:ln w="9525">
            <a:solidFill>
              <a:schemeClr val="bg2"/>
            </a:solidFill>
            <a:prstDash val="solid"/>
          </a:ln>
        </p:spPr>
      </p:sp>
      <p:sp>
        <p:nvSpPr>
          <p:cNvPr id="24" name="Text 22"/>
          <p:cNvSpPr txBox="1"/>
          <p:nvPr/>
        </p:nvSpPr>
        <p:spPr>
          <a:xfrm>
            <a:off x="8046720" y="3108960"/>
            <a:ext cx="3383280" cy="1600200"/>
          </a:xfrm>
          <a:prstGeom prst="rect">
            <a:avLst/>
          </a:prstGeom>
          <a:noFill/>
          <a:ln/>
        </p:spPr>
        <p:txBody>
          <a:bodyPr wrap="square" lIns="0" tIns="0" rIns="0" bIns="0" rtlCol="0" anchor="ctr"/>
          <a:lstStyle/>
          <a:p>
            <a:pPr indent="0" marL="0">
              <a:buNone/>
            </a:pPr>
            <a:r>
              <a:rPr lang="en-US" sz="1400" dirty="0">
                <a:solidFill>
                  <a:schemeClr val="bg1"/>
                </a:solidFill>
              </a:rPr>
              <a:t>Days 31 to 90: launch the three campaigns, test hooks, formats and cities, then scale what works.</a:t>
            </a:r>
            <a:endParaRPr lang="en-US" sz="1400" dirty="0"/>
          </a:p>
        </p:txBody>
      </p:sp>
      <p:sp>
        <p:nvSpPr>
          <p:cNvPr id="25" name="Closing panel"/>
          <p:cNvSpPr/>
          <p:nvPr/>
        </p:nvSpPr>
        <p:spPr>
          <a:xfrm>
            <a:off x="548640" y="4892040"/>
            <a:ext cx="11091672" cy="1463040"/>
          </a:xfrm>
          <a:prstGeom prst="roundRect">
            <a:avLst>
              <a:gd name="adj" fmla="val 5000"/>
            </a:avLst>
          </a:prstGeom>
          <a:solidFill>
            <a:schemeClr val="accent1"/>
          </a:solidFill>
          <a:ln w="9525">
            <a:solidFill>
              <a:schemeClr val="bg2"/>
            </a:solidFill>
            <a:prstDash val="solid"/>
          </a:ln>
        </p:spPr>
      </p:sp>
      <p:sp>
        <p:nvSpPr>
          <p:cNvPr id="26" name="Text 24"/>
          <p:cNvSpPr txBox="1"/>
          <p:nvPr/>
        </p:nvSpPr>
        <p:spPr>
          <a:xfrm>
            <a:off x="822960" y="4937760"/>
            <a:ext cx="6949440" cy="1371600"/>
          </a:xfrm>
          <a:prstGeom prst="rect">
            <a:avLst/>
          </a:prstGeom>
          <a:noFill/>
          <a:ln/>
        </p:spPr>
        <p:txBody>
          <a:bodyPr wrap="square" lIns="0" tIns="0" rIns="0" bIns="0" rtlCol="0" anchor="ctr"/>
          <a:lstStyle/>
          <a:p>
            <a:pPr indent="0" marL="0">
              <a:buNone/>
            </a:pPr>
            <a:r>
              <a:rPr lang="en-US" sz="1800" dirty="0">
                <a:solidFill>
                  <a:schemeClr val="tx1"/>
                </a:solidFill>
                <a:latin typeface="Cambria" pitchFamily="34" charset="0"/>
                <a:ea typeface="Cambria" pitchFamily="34" charset="-122"/>
                <a:cs typeface="Cambria" pitchFamily="34" charset="-120"/>
              </a:rPr>
              <a:t>I bring ORM, social listening, analytics and day-to-day execution in one person, so Della Townships can grow reach and see what it earns.</a:t>
            </a:r>
            <a:endParaRPr lang="en-US" sz="1800" dirty="0"/>
          </a:p>
        </p:txBody>
      </p:sp>
      <p:sp>
        <p:nvSpPr>
          <p:cNvPr id="27" name="Text 25"/>
          <p:cNvSpPr txBox="1"/>
          <p:nvPr/>
        </p:nvSpPr>
        <p:spPr>
          <a:xfrm>
            <a:off x="8046720" y="4983480"/>
            <a:ext cx="3337560" cy="502920"/>
          </a:xfrm>
          <a:prstGeom prst="rect">
            <a:avLst/>
          </a:prstGeom>
          <a:noFill/>
          <a:ln/>
        </p:spPr>
        <p:txBody>
          <a:bodyPr wrap="square" lIns="0" tIns="0" rIns="0" bIns="0" rtlCol="0" anchor="ctr"/>
          <a:lstStyle/>
          <a:p>
            <a:pPr algn="r" indent="0" marL="0">
              <a:buNone/>
            </a:pPr>
            <a:r>
              <a:rPr lang="en-US" sz="2800" b="1" dirty="0">
                <a:solidFill>
                  <a:schemeClr val="tx1"/>
                </a:solidFill>
                <a:latin typeface="Cambria" pitchFamily="34" charset="0"/>
                <a:ea typeface="Cambria" pitchFamily="34" charset="-122"/>
                <a:cs typeface="Cambria" pitchFamily="34" charset="-120"/>
              </a:rPr>
              <a:t>Bharat Bassi</a:t>
            </a:r>
            <a:endParaRPr lang="en-US" sz="2800" dirty="0"/>
          </a:p>
        </p:txBody>
      </p:sp>
      <p:sp>
        <p:nvSpPr>
          <p:cNvPr id="28" name="Text 26"/>
          <p:cNvSpPr txBox="1"/>
          <p:nvPr/>
        </p:nvSpPr>
        <p:spPr>
          <a:xfrm>
            <a:off x="8046720" y="5504688"/>
            <a:ext cx="3337560" cy="274320"/>
          </a:xfrm>
          <a:prstGeom prst="rect">
            <a:avLst/>
          </a:prstGeom>
          <a:noFill/>
          <a:ln/>
        </p:spPr>
        <p:txBody>
          <a:bodyPr wrap="square" lIns="0" tIns="0" rIns="0" bIns="0" rtlCol="0" anchor="t"/>
          <a:lstStyle/>
          <a:p>
            <a:pPr algn="r" indent="0" marL="0">
              <a:buNone/>
            </a:pPr>
            <a:r>
              <a:rPr lang="en-US" sz="1400" dirty="0">
                <a:solidFill>
                  <a:schemeClr val="tx1"/>
                </a:solidFill>
              </a:rPr>
              <a:t>Social Media Manager</a:t>
            </a:r>
            <a:endParaRPr lang="en-US" sz="1400" dirty="0"/>
          </a:p>
        </p:txBody>
      </p:sp>
      <p:sp>
        <p:nvSpPr>
          <p:cNvPr id="29" name="Text 27">
            <a:hlinkClick r:id="rId1" tooltip=""/>
          </p:cNvPr>
          <p:cNvSpPr txBox="1"/>
          <p:nvPr/>
        </p:nvSpPr>
        <p:spPr>
          <a:xfrm>
            <a:off x="7772400" y="5852160"/>
            <a:ext cx="3611880" cy="365760"/>
          </a:xfrm>
          <a:prstGeom prst="rect">
            <a:avLst/>
          </a:prstGeom>
          <a:noFill/>
          <a:ln/>
        </p:spPr>
        <p:txBody>
          <a:bodyPr wrap="square" lIns="0" tIns="0" rIns="0" bIns="0" rtlCol="0" anchor="ctr"/>
          <a:lstStyle/>
          <a:p>
            <a:pPr algn="r" indent="0" marL="0">
              <a:buNone/>
            </a:pPr>
            <a:r>
              <a:rPr lang="en-US" sz="1200" b="1" u="sng" dirty="0">
                <a:solidFill>
                  <a:schemeClr val="tx1"/>
                </a:solidFill>
                <a:hlinkClick r:id="rId1" invalidUrl="" action="" tgtFrame="" tooltip="" history="1" highlightClick="0" endSnd="0">
                  <a:extLst>
                    <a:ext uri="{A12FA001-AC4F-418D-AE19-62706E023703}">
                      <ahyp:hlinkClr xmlns:ahyp="http://schemas.microsoft.com/office/drawing/2018/hyperlinkcolor" val="tx"/>
                    </a:ext>
                  </a:extLst>
                </a:hlinkClick>
              </a:rPr>
              <a:t>Portfolio: bharatbassi.github.io/dellagroupSM</a:t>
            </a:r>
            <a:endParaRPr lang="en-US" sz="12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l"/>
            <a:fld id="{F7021451-1387-4CA6-816F-3879F97B5CBC}" type="slidenum">
              <a:rPr b="0" lang="en-US"/>
              <a:t>10</a:t>
            </a:fld>
            <a:endParaRPr lang="en-US"/>
          </a:p>
        </p:txBody>
      </p:sp>
    </p:spTree>
  </p:cSld>
  <p:clrMapOvr>
    <a:masterClrMapping/>
  </p:clrMapOvr>
</p:sld>
</file>

<file path=ppt/theme/theme1.xml><?xml version="1.0" encoding="utf-8"?>
<a:theme xmlns:a="http://schemas.openxmlformats.org/drawingml/2006/main" name="Della Future by Design">
  <a:themeElements>
    <a:clrScheme name="Della Future by Design">
      <a:dk1>
        <a:srgbClr val="11120F"/>
      </a:dk1>
      <a:lt1>
        <a:srgbClr val="F5F1E8"/>
      </a:lt1>
      <a:dk2>
        <a:srgbClr val="1B1D18"/>
      </a:dk2>
      <a:lt2>
        <a:srgbClr val="23251E"/>
      </a:lt2>
      <a:accent1>
        <a:srgbClr val="D9BD83"/>
      </a:accent1>
      <a:accent2>
        <a:srgbClr val="A8B39B"/>
      </a:accent2>
      <a:accent3>
        <a:srgbClr val="B5B4A8"/>
      </a:accent3>
      <a:accent4>
        <a:srgbClr val="B8643C"/>
      </a:accent4>
      <a:accent5>
        <a:srgbClr val="7C8870"/>
      </a:accent5>
      <a:accent6>
        <a:srgbClr val="E8D5AA"/>
      </a:accent6>
      <a:hlink>
        <a:srgbClr val="D9BD83"/>
      </a:hlink>
      <a:folHlink>
        <a:srgbClr val="B5B4A8"/>
      </a:folHlink>
    </a:clrScheme>
    <a:fontScheme name="Della Future by Design">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Future, by Design - Social Media Manager application</dc:title>
  <dc:subject>PptxGenJS Presentation</dc:subject>
  <dc:creator>Bharat Bassi</dc:creator>
  <cp:lastModifiedBy>Bharat Bassi</cp:lastModifiedBy>
  <cp:revision>1</cp:revision>
  <dcterms:created xsi:type="dcterms:W3CDTF">2026-10-16T02:57:13Z</dcterms:created>
  <dcterms:modified xsi:type="dcterms:W3CDTF">2026-10-16T02:57:13Z</dcterms:modified>
</cp:coreProperties>
</file>