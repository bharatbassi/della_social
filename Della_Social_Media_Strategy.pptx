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1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11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low large"/>
          <p:cNvSpPr/>
          <p:nvPr/>
        </p:nvSpPr>
        <p:spPr>
          <a:xfrm>
            <a:off x="7680960" y="-1280160"/>
            <a:ext cx="6035040" cy="6035040"/>
          </a:xfrm>
          <a:prstGeom prst="ellipse">
            <a:avLst/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" name="Glow small"/>
          <p:cNvSpPr/>
          <p:nvPr/>
        </p:nvSpPr>
        <p:spPr>
          <a:xfrm>
            <a:off x="9326880" y="3474720"/>
            <a:ext cx="4023360" cy="4023360"/>
          </a:xfrm>
          <a:prstGeom prst="ellipse">
            <a:avLst/>
          </a:prstGeom>
          <a:solidFill>
            <a:schemeClr val="accent2">
              <a:alpha val="8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SOCIAL MEDIA MANAGER  |  STRATEGIC ASSIGNMENT FOR DELLA TOWNSHIPS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371600"/>
            <a:ext cx="8412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Future,</a:t>
            </a:r>
            <a:endParaRPr lang="en-US" sz="7200" dirty="0"/>
          </a:p>
          <a:p>
            <a:pPr indent="0" marL="0">
              <a:buNone/>
            </a:pPr>
            <a:r>
              <a:rPr lang="en-US" sz="72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Design.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Social Media Strategy and Execution Portfolio for Della Townships and Della Resorts.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669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Bharat Bassi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Who I am and what I bring</a:t>
            </a:r>
            <a:endParaRPr lang="en-US" sz="3600" dirty="0"/>
          </a:p>
        </p:txBody>
      </p:sp>
      <p:sp>
        <p:nvSpPr>
          <p:cNvPr id="3" name="Profile card"/>
          <p:cNvSpPr/>
          <p:nvPr/>
        </p:nvSpPr>
        <p:spPr>
          <a:xfrm>
            <a:off x="548640" y="1325880"/>
            <a:ext cx="5212080" cy="3520440"/>
          </a:xfrm>
          <a:prstGeom prst="roundRect">
            <a:avLst>
              <a:gd name="adj" fmla="val 2078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8132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Bharat Bassi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Social Media Manager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Six-plus years in social operations, ORM, analytics and customer engagement.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8036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Social operations: planning, publishing and daily community handling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ORM and social listening: reading what customers say and closing the loop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Analytics and reporting: one scorecard leadership can read in two minutes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Customer engagement: fast, on-brand replies that move people to the next step</a:t>
            </a:r>
            <a:endParaRPr lang="en-US" sz="1400" dirty="0"/>
          </a:p>
        </p:txBody>
      </p:sp>
      <p:sp>
        <p:nvSpPr>
          <p:cNvPr id="8" name="Produce card"/>
          <p:cNvSpPr/>
          <p:nvPr/>
        </p:nvSpPr>
        <p:spPr>
          <a:xfrm>
            <a:off x="5989320" y="1325880"/>
            <a:ext cx="5650992" cy="35204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63640" y="1481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can produce for Della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011680"/>
            <a:ext cx="5120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 monthly content calendar by pillar, channel and funnel stage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Photo sets and Reels, Shorts and film edits, ready to publish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One-page creative briefs for every shoot and campaign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 weekly pulse and a monthly insights report with three actions</a:t>
            </a:r>
            <a:endParaRPr lang="en-US" sz="1600" dirty="0"/>
          </a:p>
        </p:txBody>
      </p:sp>
      <p:sp>
        <p:nvSpPr>
          <p:cNvPr id="11" name="Proof strip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50292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6+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5029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years in social media and ORM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50292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5029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engagement uplift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50292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3-4h to 30-40m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0104120" y="5029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reporting workflow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Toolset: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Scheduling and publishing, analytics dashboards, social listening, photo and video editing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What I can own, end to end</a:t>
            </a:r>
            <a:endParaRPr lang="en-US" sz="3600" dirty="0"/>
          </a:p>
        </p:txBody>
      </p:sp>
      <p:sp>
        <p:nvSpPr>
          <p:cNvPr id="3" name="Own Strategy"/>
          <p:cNvSpPr/>
          <p:nvPr/>
        </p:nvSpPr>
        <p:spPr>
          <a:xfrm>
            <a:off x="548640" y="1325880"/>
            <a:ext cx="3511296" cy="2286000"/>
          </a:xfrm>
          <a:prstGeom prst="roundRect">
            <a:avLst>
              <a:gd name="adj" fmla="val 3200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904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6479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94560"/>
            <a:ext cx="3054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Channel roles, audience plans and quarterly priorities tied to enquiries and visits.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6324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Output: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Channel plan and funnel for each business</a:t>
            </a:r>
            <a:endParaRPr lang="en-US" sz="1200" dirty="0"/>
          </a:p>
        </p:txBody>
      </p:sp>
      <p:sp>
        <p:nvSpPr>
          <p:cNvPr id="8" name="Own Planning"/>
          <p:cNvSpPr/>
          <p:nvPr/>
        </p:nvSpPr>
        <p:spPr>
          <a:xfrm>
            <a:off x="4338828" y="1325880"/>
            <a:ext cx="3511296" cy="2286000"/>
          </a:xfrm>
          <a:prstGeom prst="roundRect">
            <a:avLst>
              <a:gd name="adj" fmla="val 3200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67428" y="14904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67428" y="176479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67428" y="2194560"/>
            <a:ext cx="3054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Content pillars, monthly calendars and campaign timelines with owners and deadlines.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306324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Output: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30-day calendar and brief templates</a:t>
            </a:r>
            <a:endParaRPr lang="en-US" sz="1200" dirty="0"/>
          </a:p>
        </p:txBody>
      </p:sp>
      <p:sp>
        <p:nvSpPr>
          <p:cNvPr id="13" name="Own Production"/>
          <p:cNvSpPr/>
          <p:nvPr/>
        </p:nvSpPr>
        <p:spPr>
          <a:xfrm>
            <a:off x="8129016" y="1325880"/>
            <a:ext cx="3511296" cy="2286000"/>
          </a:xfrm>
          <a:prstGeom prst="roundRect">
            <a:avLst>
              <a:gd name="adj" fmla="val 3200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7616" y="14904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176479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2194560"/>
            <a:ext cx="3054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Shooting, editing and briefing creators so every post looks like one brand.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306324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Output: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Reels, Shorts, photo sets, carousels</a:t>
            </a:r>
            <a:endParaRPr lang="en-US" sz="1200" dirty="0"/>
          </a:p>
        </p:txBody>
      </p:sp>
      <p:sp>
        <p:nvSpPr>
          <p:cNvPr id="18" name="Own Publishing"/>
          <p:cNvSpPr/>
          <p:nvPr/>
        </p:nvSpPr>
        <p:spPr>
          <a:xfrm>
            <a:off x="548640" y="3794760"/>
            <a:ext cx="3511296" cy="2286000"/>
          </a:xfrm>
          <a:prstGeom prst="roundRect">
            <a:avLst>
              <a:gd name="adj" fmla="val 3200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39593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23367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Publishing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663440"/>
            <a:ext cx="3054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Scheduling, captions, tags, tracked links and approvals across four channels.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5321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Output: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On-time posts, one naming rule for links</a:t>
            </a:r>
            <a:endParaRPr lang="en-US" sz="1200" dirty="0"/>
          </a:p>
        </p:txBody>
      </p:sp>
      <p:sp>
        <p:nvSpPr>
          <p:cNvPr id="23" name="Own Community management"/>
          <p:cNvSpPr/>
          <p:nvPr/>
        </p:nvSpPr>
        <p:spPr>
          <a:xfrm>
            <a:off x="4338828" y="3794760"/>
            <a:ext cx="3511296" cy="2286000"/>
          </a:xfrm>
          <a:prstGeom prst="roundRect">
            <a:avLst>
              <a:gd name="adj" fmla="val 3200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67428" y="39593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67428" y="423367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management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4567428" y="4663440"/>
            <a:ext cx="3054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Replies to comments and DMs, escalation rules and review responses.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67428" y="55321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Output: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Response playbook and escalation matrix</a:t>
            </a:r>
            <a:endParaRPr lang="en-US" sz="1200" dirty="0"/>
          </a:p>
        </p:txBody>
      </p:sp>
      <p:sp>
        <p:nvSpPr>
          <p:cNvPr id="28" name="Own Analytics and reporting"/>
          <p:cNvSpPr/>
          <p:nvPr/>
        </p:nvSpPr>
        <p:spPr>
          <a:xfrm>
            <a:off x="8129016" y="3794760"/>
            <a:ext cx="3511296" cy="2286000"/>
          </a:xfrm>
          <a:prstGeom prst="roundRect">
            <a:avLst>
              <a:gd name="adj" fmla="val 3200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57616" y="39593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06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357616" y="423367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Analytics and reporting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357616" y="4663440"/>
            <a:ext cx="3054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One scorecard per business, a weekly pulse and a monthly report with actions.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357616" y="55321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Output: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Dashboard and monthly insights report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My creative capabilities</a:t>
            </a:r>
            <a:endParaRPr lang="en-US" sz="3600" dirty="0"/>
          </a:p>
        </p:txBody>
      </p:sp>
      <p:sp>
        <p:nvSpPr>
          <p:cNvPr id="3" name="Creative Photography"/>
          <p:cNvSpPr/>
          <p:nvPr/>
        </p:nvSpPr>
        <p:spPr>
          <a:xfrm>
            <a:off x="548640" y="1325880"/>
            <a:ext cx="2108606" cy="4114800"/>
          </a:xfrm>
          <a:prstGeom prst="roundRect">
            <a:avLst>
              <a:gd name="adj" fmla="val 3469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174284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Photography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94560"/>
            <a:ext cx="1742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WHAT I PRODUCE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68880"/>
            <a:ext cx="174284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Township and resort photo sets: golden-hour lawns, amenity details, guest moments, site progress.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97680"/>
            <a:ext cx="17428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Builds trust and desire at the consideration stage.</a:t>
            </a:r>
            <a:endParaRPr lang="en-US" sz="1200" dirty="0"/>
          </a:p>
        </p:txBody>
      </p:sp>
      <p:sp>
        <p:nvSpPr>
          <p:cNvPr id="8" name="Creative Video editing"/>
          <p:cNvSpPr/>
          <p:nvPr/>
        </p:nvSpPr>
        <p:spPr>
          <a:xfrm>
            <a:off x="2794406" y="1325880"/>
            <a:ext cx="2108606" cy="4114800"/>
          </a:xfrm>
          <a:prstGeom prst="roundRect">
            <a:avLst>
              <a:gd name="adj" fmla="val 3469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77286" y="1508760"/>
            <a:ext cx="174284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editing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977286" y="2194560"/>
            <a:ext cx="1742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WHAT I PRODUCE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77286" y="2468880"/>
            <a:ext cx="174284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Reels, Shorts and walk-through cuts with captions, a strong first two seconds and a clear end card.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977286" y="4297680"/>
            <a:ext cx="17428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Earns attention and reach in target cities.</a:t>
            </a:r>
            <a:endParaRPr lang="en-US" sz="1200" dirty="0"/>
          </a:p>
        </p:txBody>
      </p:sp>
      <p:sp>
        <p:nvSpPr>
          <p:cNvPr id="13" name="Creative Content planning"/>
          <p:cNvSpPr/>
          <p:nvPr/>
        </p:nvSpPr>
        <p:spPr>
          <a:xfrm>
            <a:off x="5040173" y="1325880"/>
            <a:ext cx="2108606" cy="4114800"/>
          </a:xfrm>
          <a:prstGeom prst="roundRect">
            <a:avLst>
              <a:gd name="adj" fmla="val 3469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23053" y="1508760"/>
            <a:ext cx="174284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planning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223053" y="2194560"/>
            <a:ext cx="1742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WHAT I PRODUCE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223053" y="2468880"/>
            <a:ext cx="174284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monthly calendar by pillar, channel and funnel stage, adjusted by what the data shows.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223053" y="4297680"/>
            <a:ext cx="17428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Keeps the feed consistent and every post purposeful.</a:t>
            </a:r>
            <a:endParaRPr lang="en-US" sz="1200" dirty="0"/>
          </a:p>
        </p:txBody>
      </p:sp>
      <p:sp>
        <p:nvSpPr>
          <p:cNvPr id="18" name="Creative Creative briefs"/>
          <p:cNvSpPr/>
          <p:nvPr/>
        </p:nvSpPr>
        <p:spPr>
          <a:xfrm>
            <a:off x="7285939" y="1325880"/>
            <a:ext cx="2108606" cy="4114800"/>
          </a:xfrm>
          <a:prstGeom prst="roundRect">
            <a:avLst>
              <a:gd name="adj" fmla="val 3469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68819" y="1508760"/>
            <a:ext cx="174284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Creative briefs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468819" y="2194560"/>
            <a:ext cx="1742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WHAT I PRODUCE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468819" y="2468880"/>
            <a:ext cx="174284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one-page brief per shoot or campaign: objective, audience, shot list, message and call to action.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468819" y="4297680"/>
            <a:ext cx="17428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Aligns creators, sales and leadership before work starts.</a:t>
            </a:r>
            <a:endParaRPr lang="en-US" sz="1200" dirty="0"/>
          </a:p>
        </p:txBody>
      </p:sp>
      <p:sp>
        <p:nvSpPr>
          <p:cNvPr id="23" name="Creative Execution"/>
          <p:cNvSpPr/>
          <p:nvPr/>
        </p:nvSpPr>
        <p:spPr>
          <a:xfrm>
            <a:off x="9531706" y="1325880"/>
            <a:ext cx="2108606" cy="4114800"/>
          </a:xfrm>
          <a:prstGeom prst="roundRect">
            <a:avLst>
              <a:gd name="adj" fmla="val 3469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714586" y="1508760"/>
            <a:ext cx="174284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714586" y="2194560"/>
            <a:ext cx="17428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WHAT I PRODUCE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714586" y="2468880"/>
            <a:ext cx="174284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shoot-to-publish workflow with owners, approvals and deadlines, so delivery is steady.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14586" y="4297680"/>
            <a:ext cx="17428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Turns ideas into measurable results, week after week.</a:t>
            </a:r>
            <a:endParaRPr lang="en-US" sz="1200" dirty="0"/>
          </a:p>
        </p:txBody>
      </p:sp>
      <p:sp>
        <p:nvSpPr>
          <p:cNvPr id="28" name="Objective strip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piece is planned against a business goal: awareness, consideration, qualified enquiries and reputation, not likes alone.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Understanding Della</a:t>
            </a:r>
            <a:endParaRPr lang="en-US" sz="3600" dirty="0"/>
          </a:p>
        </p:txBody>
      </p:sp>
      <p:sp>
        <p:nvSpPr>
          <p:cNvPr id="3" name="Vertical Della Townships"/>
          <p:cNvSpPr/>
          <p:nvPr/>
        </p:nvSpPr>
        <p:spPr>
          <a:xfrm>
            <a:off x="548640" y="1325880"/>
            <a:ext cx="5486400" cy="2148840"/>
          </a:xfrm>
          <a:prstGeom prst="roundRect">
            <a:avLst>
              <a:gd name="adj" fmla="val 3404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Della Townships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13 townships being launched across 11 cities, with 9 more upcoming. Themes include Racecourse, International City, Lake Como, European Wellness and Wine City. An asset-light model: landowner partners bring land, Della brings design, marketing and operations.</a:t>
            </a:r>
            <a:endParaRPr lang="en-US" sz="1400" dirty="0"/>
          </a:p>
        </p:txBody>
      </p:sp>
      <p:sp>
        <p:nvSpPr>
          <p:cNvPr id="6" name="Vertical Della Resorts and Adventure"/>
          <p:cNvSpPr/>
          <p:nvPr/>
        </p:nvSpPr>
        <p:spPr>
          <a:xfrm>
            <a:off x="548640" y="3611880"/>
            <a:ext cx="5486400" cy="2148840"/>
          </a:xfrm>
          <a:prstGeom prst="roundRect">
            <a:avLst>
              <a:gd name="adj" fmla="val 3404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Della Resorts and Adventure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20624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Lonavala: 168 rooms and villas and an adventure park with 50+ activities on 36 acres. It shows, in the real world, that Della runs great places.</a:t>
            </a:r>
            <a:endParaRPr lang="en-US" sz="1400" dirty="0"/>
          </a:p>
        </p:txBody>
      </p:sp>
      <p:sp>
        <p:nvSpPr>
          <p:cNvPr id="9" name="Positioning card"/>
          <p:cNvSpPr/>
          <p:nvPr/>
        </p:nvSpPr>
        <p:spPr>
          <a:xfrm>
            <a:off x="6263640" y="1325880"/>
            <a:ext cx="5376672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132588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Positioning: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Design-led, themed destinations from a group that already runs great places.</a:t>
            </a:r>
            <a:endParaRPr lang="en-US" sz="1400" dirty="0"/>
          </a:p>
        </p:txBody>
      </p:sp>
      <p:sp>
        <p:nvSpPr>
          <p:cNvPr id="11" name="Audience card"/>
          <p:cNvSpPr/>
          <p:nvPr/>
        </p:nvSpPr>
        <p:spPr>
          <a:xfrm>
            <a:off x="6263640" y="2331720"/>
            <a:ext cx="5376672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2423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Audience groups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74320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Home and villa buyers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Investors and NRIs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Landowner partners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Corporates and event planners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Resort and adventure guests</a:t>
            </a:r>
            <a:endParaRPr lang="en-US" sz="1400" dirty="0"/>
          </a:p>
        </p:txBody>
      </p:sp>
      <p:sp>
        <p:nvSpPr>
          <p:cNvPr id="14" name="Hypotheses card"/>
          <p:cNvSpPr/>
          <p:nvPr/>
        </p:nvSpPr>
        <p:spPr>
          <a:xfrm>
            <a:off x="6263640" y="3977640"/>
            <a:ext cx="537667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4069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Social observations to test in week one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43891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Township stories should feel as vivid as the resort stories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Landowner partners need the asset-light model explained in plain words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Every post needs a clear next step that can be tracked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Platform strategy: one job per channel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CHANNEL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1430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BUSINESS OBJECTIVE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11430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CONTENT FORMATS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326880" y="11430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RHYTHM</a:t>
            </a:r>
            <a:endParaRPr lang="en-US" sz="1200" dirty="0"/>
          </a:p>
        </p:txBody>
      </p:sp>
      <p:sp>
        <p:nvSpPr>
          <p:cNvPr id="7" name="Platform Instagram"/>
          <p:cNvSpPr/>
          <p:nvPr/>
        </p:nvSpPr>
        <p:spPr>
          <a:xfrm>
            <a:off x="548640" y="141732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508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Instagram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856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Discovery and desire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141732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Awareness and consideration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4173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Theme Reels, creator walk-throughs, Collab posts, Stories with enquiry links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0" y="1417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4 to 5 posts and Reels a week, daily Stories</a:t>
            </a:r>
            <a:endParaRPr lang="en-US" sz="1200" dirty="0"/>
          </a:p>
        </p:txBody>
      </p:sp>
      <p:sp>
        <p:nvSpPr>
          <p:cNvPr id="13" name="Platform Facebook"/>
          <p:cNvSpPr/>
          <p:nvPr/>
        </p:nvSpPr>
        <p:spPr>
          <a:xfrm>
            <a:off x="548640" y="22860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377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Facebook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2724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Local communities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200400" y="22860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Qualified enquiries from city communities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2286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City communities, event pages, WhatsApp and Messenger enquiries, fast replies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22860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4 posts a week</a:t>
            </a:r>
            <a:endParaRPr lang="en-US" sz="1200" dirty="0"/>
          </a:p>
        </p:txBody>
      </p:sp>
      <p:sp>
        <p:nvSpPr>
          <p:cNvPr id="19" name="Platform LinkedIn"/>
          <p:cNvSpPr/>
          <p:nvPr/>
        </p:nvSpPr>
        <p:spPr>
          <a:xfrm>
            <a:off x="548640" y="31546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246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LinkedIn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3593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Investors and partners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315468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Partner enquiries and credibility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1546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Partnership explainers, leadership view, corporate and MICE stories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0" y="3154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3 posts a week</a:t>
            </a:r>
            <a:endParaRPr lang="en-US" sz="1200" dirty="0"/>
          </a:p>
        </p:txBody>
      </p:sp>
      <p:sp>
        <p:nvSpPr>
          <p:cNvPr id="25" name="Platform YouTube"/>
          <p:cNvSpPr/>
          <p:nvPr/>
        </p:nvSpPr>
        <p:spPr>
          <a:xfrm>
            <a:off x="548640" y="402336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4114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YouTube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4462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Depth and trust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0" y="40233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Depth, trust and consideration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0" y="402336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Walk-through films, project explainers, Shorts cuts, search-friendly titles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26880" y="4023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 film and 2 Shorts a week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ONE FUNNEL FOR EVERY CHANNEL</a:t>
            </a:r>
            <a:endParaRPr lang="en-US" sz="1200" dirty="0"/>
          </a:p>
        </p:txBody>
      </p:sp>
      <p:sp>
        <p:nvSpPr>
          <p:cNvPr id="32" name="Stage Attract"/>
          <p:cNvSpPr/>
          <p:nvPr/>
        </p:nvSpPr>
        <p:spPr>
          <a:xfrm>
            <a:off x="548640" y="5349240"/>
            <a:ext cx="2145182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5349240"/>
            <a:ext cx="21451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Attract</a:t>
            </a:r>
            <a:endParaRPr lang="en-US" sz="1600" dirty="0"/>
          </a:p>
        </p:txBody>
      </p:sp>
      <p:sp>
        <p:nvSpPr>
          <p:cNvPr id="34" name="Stage Engage"/>
          <p:cNvSpPr/>
          <p:nvPr/>
        </p:nvSpPr>
        <p:spPr>
          <a:xfrm>
            <a:off x="2785262" y="5349240"/>
            <a:ext cx="214518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785262" y="5349240"/>
            <a:ext cx="21451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Engage</a:t>
            </a:r>
            <a:endParaRPr lang="en-US" sz="1600" dirty="0"/>
          </a:p>
        </p:txBody>
      </p:sp>
      <p:sp>
        <p:nvSpPr>
          <p:cNvPr id="36" name="Stage Enquire"/>
          <p:cNvSpPr/>
          <p:nvPr/>
        </p:nvSpPr>
        <p:spPr>
          <a:xfrm>
            <a:off x="5021885" y="5349240"/>
            <a:ext cx="214518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021885" y="5349240"/>
            <a:ext cx="21451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Enquire</a:t>
            </a:r>
            <a:endParaRPr lang="en-US" sz="1600" dirty="0"/>
          </a:p>
        </p:txBody>
      </p:sp>
      <p:sp>
        <p:nvSpPr>
          <p:cNvPr id="38" name="Stage Visit"/>
          <p:cNvSpPr/>
          <p:nvPr/>
        </p:nvSpPr>
        <p:spPr>
          <a:xfrm>
            <a:off x="7258507" y="5349240"/>
            <a:ext cx="2145182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58507" y="5349240"/>
            <a:ext cx="21451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Visit</a:t>
            </a:r>
            <a:endParaRPr lang="en-US" sz="1600" dirty="0"/>
          </a:p>
        </p:txBody>
      </p:sp>
      <p:sp>
        <p:nvSpPr>
          <p:cNvPr id="40" name="Stage Decide"/>
          <p:cNvSpPr/>
          <p:nvPr/>
        </p:nvSpPr>
        <p:spPr>
          <a:xfrm>
            <a:off x="9495130" y="5349240"/>
            <a:ext cx="214518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495130" y="5349240"/>
            <a:ext cx="21451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Every post is planned for one stage and one measure: attract, engage, enquire, visit, decide.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Three campaign concepts</a:t>
            </a:r>
            <a:endParaRPr lang="en-US" sz="3600" dirty="0"/>
          </a:p>
        </p:txBody>
      </p:sp>
      <p:sp>
        <p:nvSpPr>
          <p:cNvPr id="3" name="Campaign Live the Racecourse"/>
          <p:cNvSpPr/>
          <p:nvPr/>
        </p:nvSpPr>
        <p:spPr>
          <a:xfrm>
            <a:off x="548640" y="1280160"/>
            <a:ext cx="3511296" cy="4617720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INSTAGRAM REEL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28800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the Racecourse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23160"/>
            <a:ext cx="31455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Objective: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Awareness to qualified site visits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337560"/>
            <a:ext cx="31455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“Imagine a weekend that starts on a polo lawn. Della Racecourse, Pune. Book a private site visit, link in bio.”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937760"/>
            <a:ext cx="3145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Measured by: </a:t>
            </a:r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3-second hold, saves, enquiry clicks</a:t>
            </a:r>
            <a:endParaRPr lang="en-US" sz="1400" dirty="0"/>
          </a:p>
        </p:txBody>
      </p:sp>
      <p:sp>
        <p:nvSpPr>
          <p:cNvPr id="9" name="Campaign Your city, your township"/>
          <p:cNvSpPr/>
          <p:nvPr/>
        </p:nvSpPr>
        <p:spPr>
          <a:xfrm>
            <a:off x="4338828" y="1280160"/>
            <a:ext cx="3511296" cy="4617720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1708" y="1463040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FACEBOOK AND INSTAGRAM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21708" y="1828800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city, your township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521708" y="2423160"/>
            <a:ext cx="31455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Objective: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Qualified enquiries from each launch city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21708" y="3337560"/>
            <a:ext cx="31455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“Something new is coming to your city. See the theme, the design and the first look, then ask us anything.”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21708" y="4937760"/>
            <a:ext cx="3145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Measured by: </a:t>
            </a:r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Qualified enquiries per city, response time, questions answered</a:t>
            </a:r>
            <a:endParaRPr lang="en-US" sz="1400" dirty="0"/>
          </a:p>
        </p:txBody>
      </p:sp>
      <p:sp>
        <p:nvSpPr>
          <p:cNvPr id="15" name="Campaign Stay the Della way"/>
          <p:cNvSpPr/>
          <p:nvPr/>
        </p:nvSpPr>
        <p:spPr>
          <a:xfrm>
            <a:off x="8129016" y="1280160"/>
            <a:ext cx="3511296" cy="4617720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11896" y="1463040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INSTAGRAM CAROUSEL AND FACEBOOK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311896" y="1828800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the Della way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311896" y="2423160"/>
            <a:ext cx="31455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Objective: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Bookings, tickets and township visits, plus reputation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11896" y="3337560"/>
            <a:ext cx="31455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“One weekend, one place: 168 rooms and villas and 50+ adventure activities in Lonavala. Plan yours.”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11896" y="4937760"/>
            <a:ext cx="3145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Measured by: </a:t>
            </a:r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Link clicks, bookings from social, guest content, review sentiment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Proposed concepts with sample captions, for discussion. They are not live Della content.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Community and reputation management</a:t>
            </a:r>
            <a:endParaRPr lang="en-US" sz="3600" dirty="0"/>
          </a:p>
        </p:txBody>
      </p:sp>
      <p:sp>
        <p:nvSpPr>
          <p:cNvPr id="3" name="Workflow card"/>
          <p:cNvSpPr/>
          <p:nvPr/>
        </p:nvSpPr>
        <p:spPr>
          <a:xfrm>
            <a:off x="548640" y="1325880"/>
            <a:ext cx="3749040" cy="4069080"/>
          </a:xfrm>
          <a:prstGeom prst="roundRect">
            <a:avLst>
              <a:gd name="adj" fmla="val 1951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Response workflow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32918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Listen: monitor comments, DMs, tags, reviews and mentions daily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Triage: sort into question, lead, feedback or complaint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Reply: use the playbook, in Della's voice, the same day in working hours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Escalate: hand over with context when it needs sales or leadership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Learn: log the theme and feed it into content and service fixes</a:t>
            </a:r>
            <a:endParaRPr lang="en-US" sz="1400" dirty="0"/>
          </a:p>
        </p:txBody>
      </p:sp>
      <p:sp>
        <p:nvSpPr>
          <p:cNvPr id="6" name="Escalation Level 1"/>
          <p:cNvSpPr/>
          <p:nvPr/>
        </p:nvSpPr>
        <p:spPr>
          <a:xfrm>
            <a:off x="4526280" y="1325880"/>
            <a:ext cx="37490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Severity Level 1"/>
          <p:cNvSpPr/>
          <p:nvPr/>
        </p:nvSpPr>
        <p:spPr>
          <a:xfrm>
            <a:off x="4526280" y="1417320"/>
            <a:ext cx="64008" cy="10972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13990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Level 1</a:t>
            </a:r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   General questions and praise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1874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Who: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Me   </a:t>
            </a:r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When: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Same working day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216712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Reply from the playbook and keep the thread helpful</a:t>
            </a:r>
            <a:endParaRPr lang="en-US" sz="1200" dirty="0"/>
          </a:p>
        </p:txBody>
      </p:sp>
      <p:sp>
        <p:nvSpPr>
          <p:cNvPr id="11" name="Escalation Level 2"/>
          <p:cNvSpPr/>
          <p:nvPr/>
        </p:nvSpPr>
        <p:spPr>
          <a:xfrm>
            <a:off x="4526280" y="2697480"/>
            <a:ext cx="37490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Severity Level 2"/>
          <p:cNvSpPr/>
          <p:nvPr/>
        </p:nvSpPr>
        <p:spPr>
          <a:xfrm>
            <a:off x="4526280" y="2788920"/>
            <a:ext cx="64008" cy="10972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54880" y="27706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Level 2</a:t>
            </a:r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   Price, availability, approvals, bookings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32461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Who: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Me, then sales   </a:t>
            </a:r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When: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Within the working day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353872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Move to WhatsApp or a call and pass to sales with context</a:t>
            </a:r>
            <a:endParaRPr lang="en-US" sz="1200" dirty="0"/>
          </a:p>
        </p:txBody>
      </p:sp>
      <p:sp>
        <p:nvSpPr>
          <p:cNvPr id="16" name="Escalation Level 3"/>
          <p:cNvSpPr/>
          <p:nvPr/>
        </p:nvSpPr>
        <p:spPr>
          <a:xfrm>
            <a:off x="4526280" y="4069080"/>
            <a:ext cx="37490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7" name="Severity Level 3"/>
          <p:cNvSpPr/>
          <p:nvPr/>
        </p:nvSpPr>
        <p:spPr>
          <a:xfrm>
            <a:off x="4526280" y="4160520"/>
            <a:ext cx="64008" cy="10972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54880" y="41422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Level 3</a:t>
            </a:r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   Complaints, safety, legal or media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4617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Who: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Leadership and me   </a:t>
            </a:r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When: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Immediately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754880" y="491032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Reply once, politely, take it offline and log it</a:t>
            </a:r>
            <a:endParaRPr lang="en-US" sz="1200" dirty="0"/>
          </a:p>
        </p:txBody>
      </p:sp>
      <p:sp>
        <p:nvSpPr>
          <p:cNvPr id="21" name="Listening card"/>
          <p:cNvSpPr/>
          <p:nvPr/>
        </p:nvSpPr>
        <p:spPr>
          <a:xfrm>
            <a:off x="8503920" y="1325880"/>
            <a:ext cx="3136392" cy="2331720"/>
          </a:xfrm>
          <a:prstGeom prst="roundRect">
            <a:avLst>
              <a:gd name="adj" fmla="val 3137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86800" y="1417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Social listening themes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0" y="1737360"/>
            <a:ext cx="28346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Price and payment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Location and connectivity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Delivery timelines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Amenities and lifestyle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Trust and approvals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Stay and service experience</a:t>
            </a:r>
            <a:endParaRPr lang="en-US" sz="1200" dirty="0"/>
          </a:p>
        </p:txBody>
      </p:sp>
      <p:sp>
        <p:nvSpPr>
          <p:cNvPr id="24" name="Reputation card"/>
          <p:cNvSpPr/>
          <p:nvPr/>
        </p:nvSpPr>
        <p:spPr>
          <a:xfrm>
            <a:off x="8503920" y="3794760"/>
            <a:ext cx="31363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0" y="3886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Reputation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0" y="420624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Reply to every review, good or bad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Collect guest and owner stories with permission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Track sentiment themes monthly and report them</a:t>
            </a:r>
            <a:endParaRPr lang="en-US" sz="1200" dirty="0"/>
          </a:p>
        </p:txBody>
      </p:sp>
      <p:sp>
        <p:nvSpPr>
          <p:cNvPr id="27" name="ORM strip"/>
          <p:cNvSpPr/>
          <p:nvPr/>
        </p:nvSpPr>
        <p:spPr>
          <a:xfrm>
            <a:off x="548640" y="557784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55778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Goal: protect trust. Questions get answers, leads reach sales with context, and complaints are closed fast and offline.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Analytics, KPIs and optimisation</a:t>
            </a:r>
            <a:endParaRPr lang="en-US" sz="3600" dirty="0"/>
          </a:p>
        </p:txBody>
      </p:sp>
      <p:sp>
        <p:nvSpPr>
          <p:cNvPr id="3" name="Dashboard panel"/>
          <p:cNvSpPr/>
          <p:nvPr/>
        </p:nvSpPr>
        <p:spPr>
          <a:xfrm>
            <a:off x="548640" y="1325880"/>
            <a:ext cx="6400800" cy="4251960"/>
          </a:xfrm>
          <a:prstGeom prst="roundRect">
            <a:avLst>
              <a:gd name="adj" fmla="val 172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4475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Leadership dashboard</a:t>
            </a:r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   The metrics I would show leadership every month</a:t>
            </a:r>
            <a:endParaRPr lang="en-US" sz="1600" dirty="0"/>
          </a:p>
        </p:txBody>
      </p:sp>
      <p:sp>
        <p:nvSpPr>
          <p:cNvPr id="5" name="Metric Reach in target cities"/>
          <p:cNvSpPr/>
          <p:nvPr/>
        </p:nvSpPr>
        <p:spPr>
          <a:xfrm>
            <a:off x="777240" y="1920240"/>
            <a:ext cx="182880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02996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 in target cities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7004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Are the right cities seeing Della?</a:t>
            </a:r>
            <a:endParaRPr lang="en-US" sz="1200" dirty="0"/>
          </a:p>
        </p:txBody>
      </p:sp>
      <p:sp>
        <p:nvSpPr>
          <p:cNvPr id="8" name="Metric Engagement rate"/>
          <p:cNvSpPr/>
          <p:nvPr/>
        </p:nvSpPr>
        <p:spPr>
          <a:xfrm>
            <a:off x="2743200" y="1920240"/>
            <a:ext cx="182880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80360" y="202996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Engagement rate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267004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Is the content resonating?</a:t>
            </a:r>
            <a:endParaRPr lang="en-US" sz="1200" dirty="0"/>
          </a:p>
        </p:txBody>
      </p:sp>
      <p:sp>
        <p:nvSpPr>
          <p:cNvPr id="11" name="Metric Saves and shares"/>
          <p:cNvSpPr/>
          <p:nvPr/>
        </p:nvSpPr>
        <p:spPr>
          <a:xfrm>
            <a:off x="4709160" y="1920240"/>
            <a:ext cx="182880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202996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Saves and shares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67004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Is interest deepening?</a:t>
            </a:r>
            <a:endParaRPr lang="en-US" sz="1200" dirty="0"/>
          </a:p>
        </p:txBody>
      </p:sp>
      <p:sp>
        <p:nvSpPr>
          <p:cNvPr id="14" name="Metric Qualified enquiries"/>
          <p:cNvSpPr/>
          <p:nvPr/>
        </p:nvSpPr>
        <p:spPr>
          <a:xfrm>
            <a:off x="777240" y="3383280"/>
            <a:ext cx="182880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4930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Qualified enquiries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13308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Is social creating demand?</a:t>
            </a:r>
            <a:endParaRPr lang="en-US" sz="1200" dirty="0"/>
          </a:p>
        </p:txBody>
      </p:sp>
      <p:sp>
        <p:nvSpPr>
          <p:cNvPr id="17" name="Metric Cost per qualified enquiry"/>
          <p:cNvSpPr/>
          <p:nvPr/>
        </p:nvSpPr>
        <p:spPr>
          <a:xfrm>
            <a:off x="2743200" y="3383280"/>
            <a:ext cx="182880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880360" y="34930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per qualified enquiry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880360" y="413308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Is effort and spend efficient?</a:t>
            </a:r>
            <a:endParaRPr lang="en-US" sz="1200" dirty="0"/>
          </a:p>
        </p:txBody>
      </p:sp>
      <p:sp>
        <p:nvSpPr>
          <p:cNvPr id="20" name="Metric Visits booked and completed"/>
          <p:cNvSpPr/>
          <p:nvPr/>
        </p:nvSpPr>
        <p:spPr>
          <a:xfrm>
            <a:off x="4709160" y="3383280"/>
            <a:ext cx="182880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34930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Visits booked and completed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413308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Is demand turning into visits?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892040"/>
            <a:ext cx="5989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North star: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Townships, site visits completed  |  Landowner partners, qualified partner enquiries  |  Resorts and Adventure, bookings and tickets from social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78040" y="132588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MEASUREMENT FRAMEWORK</a:t>
            </a:r>
            <a:endParaRPr lang="en-US" sz="1200" dirty="0"/>
          </a:p>
        </p:txBody>
      </p:sp>
      <p:sp>
        <p:nvSpPr>
          <p:cNvPr id="25" name="KPI Visibility"/>
          <p:cNvSpPr/>
          <p:nvPr/>
        </p:nvSpPr>
        <p:spPr>
          <a:xfrm>
            <a:off x="7178040" y="1627632"/>
            <a:ext cx="4462272" cy="932688"/>
          </a:xfrm>
          <a:prstGeom prst="roundRect">
            <a:avLst>
              <a:gd name="adj" fmla="val 7843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60920" y="17007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Visibility</a:t>
            </a:r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   Did we earn attention?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360920" y="20116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Reach in target cities  |  Video hold and views, YouTube included  |  Follower growth</a:t>
            </a:r>
            <a:endParaRPr lang="en-US" sz="1200" dirty="0"/>
          </a:p>
        </p:txBody>
      </p:sp>
      <p:sp>
        <p:nvSpPr>
          <p:cNvPr id="28" name="KPI Consideration"/>
          <p:cNvSpPr/>
          <p:nvPr/>
        </p:nvSpPr>
        <p:spPr>
          <a:xfrm>
            <a:off x="7178040" y="2651760"/>
            <a:ext cx="4462272" cy="932688"/>
          </a:xfrm>
          <a:prstGeom prst="roundRect">
            <a:avLst>
              <a:gd name="adj" fmla="val 7843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60920" y="27249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Consideration</a:t>
            </a:r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   Did interest deepen?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360920" y="303580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Saves and shares  |  Engagement rate  |  Profile visits and link clicks</a:t>
            </a:r>
            <a:endParaRPr lang="en-US" sz="1200" dirty="0"/>
          </a:p>
        </p:txBody>
      </p:sp>
      <p:sp>
        <p:nvSpPr>
          <p:cNvPr id="31" name="KPI Demand and trust"/>
          <p:cNvSpPr/>
          <p:nvPr/>
        </p:nvSpPr>
        <p:spPr>
          <a:xfrm>
            <a:off x="7178040" y="3675888"/>
            <a:ext cx="4462272" cy="932688"/>
          </a:xfrm>
          <a:prstGeom prst="roundRect">
            <a:avLst>
              <a:gd name="adj" fmla="val 7843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60920" y="3749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Demand and trust</a:t>
            </a:r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   Did it move people forward?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60920" y="405993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Qualified enquiries  |  Visits booked and completed  |  Cost per qualified enquiry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475488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OPTIMISATION LOOP</a:t>
            </a:r>
            <a:endParaRPr lang="en-US" sz="1200" dirty="0"/>
          </a:p>
        </p:txBody>
      </p:sp>
      <p:sp>
        <p:nvSpPr>
          <p:cNvPr id="35" name="Loop Measure"/>
          <p:cNvSpPr/>
          <p:nvPr/>
        </p:nvSpPr>
        <p:spPr>
          <a:xfrm>
            <a:off x="7178040" y="5029200"/>
            <a:ext cx="1060704" cy="54864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78040" y="5029200"/>
            <a:ext cx="106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Measure</a:t>
            </a:r>
            <a:endParaRPr lang="en-US" sz="1400" dirty="0"/>
          </a:p>
        </p:txBody>
      </p:sp>
      <p:sp>
        <p:nvSpPr>
          <p:cNvPr id="37" name="Loop Learn"/>
          <p:cNvSpPr/>
          <p:nvPr/>
        </p:nvSpPr>
        <p:spPr>
          <a:xfrm>
            <a:off x="8311896" y="5029200"/>
            <a:ext cx="1060704" cy="54864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11896" y="5029200"/>
            <a:ext cx="106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Learn</a:t>
            </a:r>
            <a:endParaRPr lang="en-US" sz="1400" dirty="0"/>
          </a:p>
        </p:txBody>
      </p:sp>
      <p:sp>
        <p:nvSpPr>
          <p:cNvPr id="39" name="Loop Test"/>
          <p:cNvSpPr/>
          <p:nvPr/>
        </p:nvSpPr>
        <p:spPr>
          <a:xfrm>
            <a:off x="9445752" y="5029200"/>
            <a:ext cx="1060704" cy="54864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45752" y="5029200"/>
            <a:ext cx="106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Test</a:t>
            </a:r>
            <a:endParaRPr lang="en-US" sz="1400" dirty="0"/>
          </a:p>
        </p:txBody>
      </p:sp>
      <p:sp>
        <p:nvSpPr>
          <p:cNvPr id="41" name="Loop Scale"/>
          <p:cNvSpPr/>
          <p:nvPr/>
        </p:nvSpPr>
        <p:spPr>
          <a:xfrm>
            <a:off x="10579608" y="5029200"/>
            <a:ext cx="1060704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579608" y="5029200"/>
            <a:ext cx="106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Scale</a:t>
            </a:r>
            <a:endParaRPr lang="en-US" sz="1400" dirty="0"/>
          </a:p>
        </p:txBody>
      </p:sp>
      <p:sp>
        <p:nvSpPr>
          <p:cNvPr id="43" name="Cadence strip"/>
          <p:cNvSpPr/>
          <p:nvPr/>
        </p:nvSpPr>
        <p:spPr>
          <a:xfrm>
            <a:off x="548640" y="576072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77240" y="57607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Weekly pulse: Every Monday   |   Monthly insights: First week   |   Quarterly reset: Every quarter   |   Targets set from the performance audit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My first 30 days</a:t>
            </a:r>
            <a:endParaRPr lang="en-US" sz="3600" dirty="0"/>
          </a:p>
        </p:txBody>
      </p:sp>
      <p:sp>
        <p:nvSpPr>
          <p:cNvPr id="3" name="Week 1"/>
          <p:cNvSpPr/>
          <p:nvPr/>
        </p:nvSpPr>
        <p:spPr>
          <a:xfrm>
            <a:off x="548640" y="1280160"/>
            <a:ext cx="2670048" cy="169164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2304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WEEK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64208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performance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75688"/>
            <a:ext cx="2304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The channels are live, so I read how each performs: top content, audience, reach, enquiry sources and rivals.</a:t>
            </a:r>
            <a:endParaRPr lang="en-US" sz="1200" dirty="0"/>
          </a:p>
        </p:txBody>
      </p:sp>
      <p:sp>
        <p:nvSpPr>
          <p:cNvPr id="7" name="Week 2"/>
          <p:cNvSpPr/>
          <p:nvPr/>
        </p:nvSpPr>
        <p:spPr>
          <a:xfrm>
            <a:off x="3355848" y="1280160"/>
            <a:ext cx="2670048" cy="169164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38728" y="1389888"/>
            <a:ext cx="2304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WEEK 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538728" y="1664208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the system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538728" y="2075688"/>
            <a:ext cx="2304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Pillars, tone, brief template, approvals, tracked links and scorecard.</a:t>
            </a:r>
            <a:endParaRPr lang="en-US" sz="1200" dirty="0"/>
          </a:p>
        </p:txBody>
      </p:sp>
      <p:sp>
        <p:nvSpPr>
          <p:cNvPr id="11" name="Week 3"/>
          <p:cNvSpPr/>
          <p:nvPr/>
        </p:nvSpPr>
        <p:spPr>
          <a:xfrm>
            <a:off x="6163056" y="1280160"/>
            <a:ext cx="2670048" cy="169164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45936" y="1389888"/>
            <a:ext cx="2304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WEEK 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345936" y="1664208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the rhythm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45936" y="2075688"/>
            <a:ext cx="2304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First shoots, first calendar, daily community handling.</a:t>
            </a:r>
            <a:endParaRPr lang="en-US" sz="1200" dirty="0"/>
          </a:p>
        </p:txBody>
      </p:sp>
      <p:sp>
        <p:nvSpPr>
          <p:cNvPr id="15" name="Week 4"/>
          <p:cNvSpPr/>
          <p:nvPr/>
        </p:nvSpPr>
        <p:spPr>
          <a:xfrm>
            <a:off x="8970264" y="1280160"/>
            <a:ext cx="2670048" cy="169164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53144" y="1389888"/>
            <a:ext cx="2304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WEEK 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53144" y="1664208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 and refine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153144" y="2075688"/>
            <a:ext cx="2304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First monthly insights report with three actions and the next test.</a:t>
            </a:r>
            <a:endParaRPr lang="en-US" sz="1200" dirty="0"/>
          </a:p>
        </p:txBody>
      </p:sp>
      <p:sp>
        <p:nvSpPr>
          <p:cNvPr id="19" name="Deliverables card"/>
          <p:cNvSpPr/>
          <p:nvPr/>
        </p:nvSpPr>
        <p:spPr>
          <a:xfrm>
            <a:off x="548640" y="3108960"/>
            <a:ext cx="704088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200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Expected deliverables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352044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Platform performance audit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30-day content calendar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Creative brief template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0" y="3520440"/>
            <a:ext cx="3383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Tracking and scorecard set-up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Response playbook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First monthly insights report</a:t>
            </a:r>
            <a:endParaRPr lang="en-US" sz="1400" dirty="0"/>
          </a:p>
        </p:txBody>
      </p:sp>
      <p:sp>
        <p:nvSpPr>
          <p:cNvPr id="23" name="After day 30"/>
          <p:cNvSpPr/>
          <p:nvPr/>
        </p:nvSpPr>
        <p:spPr>
          <a:xfrm>
            <a:off x="7818120" y="3108960"/>
            <a:ext cx="3822192" cy="1600200"/>
          </a:xfrm>
          <a:prstGeom prst="roundRect">
            <a:avLst>
              <a:gd name="adj" fmla="val 4571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46720" y="310896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Days 31 to 90: launch the three campaigns, test hooks, formats and cities, then scale what works.</a:t>
            </a:r>
            <a:endParaRPr lang="en-US" sz="1400" dirty="0"/>
          </a:p>
        </p:txBody>
      </p:sp>
      <p:sp>
        <p:nvSpPr>
          <p:cNvPr id="25" name="Closing panel"/>
          <p:cNvSpPr/>
          <p:nvPr/>
        </p:nvSpPr>
        <p:spPr>
          <a:xfrm>
            <a:off x="548640" y="4892040"/>
            <a:ext cx="11091672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49377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bring ORM, social listening, analytics and day-to-day execution in one person, so Della Townships can grow reach and see what it earns.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046720" y="49834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Bharat Bassi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8046720" y="550468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Social Media Manager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lla Future by Design">
  <a:themeElements>
    <a:clrScheme name="Della Future by Design">
      <a:dk1>
        <a:srgbClr val="11120F"/>
      </a:dk1>
      <a:lt1>
        <a:srgbClr val="F5F1E8"/>
      </a:lt1>
      <a:dk2>
        <a:srgbClr val="1B1D18"/>
      </a:dk2>
      <a:lt2>
        <a:srgbClr val="23251E"/>
      </a:lt2>
      <a:accent1>
        <a:srgbClr val="D9BD83"/>
      </a:accent1>
      <a:accent2>
        <a:srgbClr val="A8B39B"/>
      </a:accent2>
      <a:accent3>
        <a:srgbClr val="B5B4A8"/>
      </a:accent3>
      <a:accent4>
        <a:srgbClr val="B8643C"/>
      </a:accent4>
      <a:accent5>
        <a:srgbClr val="7C8870"/>
      </a:accent5>
      <a:accent6>
        <a:srgbClr val="E8D5AA"/>
      </a:accent6>
      <a:hlink>
        <a:srgbClr val="D9BD83"/>
      </a:hlink>
      <a:folHlink>
        <a:srgbClr val="B5B4A8"/>
      </a:folHlink>
    </a:clrScheme>
    <a:fontScheme name="Della Future by Desig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Future, by Design - Social Media Manager application</dc:title>
  <dc:subject>PptxGenJS Presentation</dc:subject>
  <dc:creator>Bharat Bassi</dc:creator>
  <cp:lastModifiedBy>Bharat Bassi</cp:lastModifiedBy>
  <cp:revision>1</cp:revision>
  <dcterms:created xsi:type="dcterms:W3CDTF">2026-10-16T07:04:30Z</dcterms:created>
  <dcterms:modified xsi:type="dcterms:W3CDTF">2026-10-16T07:04:30Z</dcterms:modified>
</cp:coreProperties>
</file>